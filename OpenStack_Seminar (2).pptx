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3" r:id="rId4"/>
    <p:sldId id="259" r:id="rId5"/>
    <p:sldId id="274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601A4A-5DE0-4A95-AC2B-95B1EE2328A9}">
          <p14:sldIdLst>
            <p14:sldId id="256"/>
            <p14:sldId id="257"/>
            <p14:sldId id="273"/>
            <p14:sldId id="259"/>
            <p14:sldId id="274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JAY KARTHICK.P" userId="b751b879c010d83b" providerId="LiveId" clId="{B625B1C3-40A0-4C77-AB8E-4466E8F86F65}"/>
    <pc:docChg chg="delSld modSection">
      <pc:chgData name="VIJAY KARTHICK.P" userId="b751b879c010d83b" providerId="LiveId" clId="{B625B1C3-40A0-4C77-AB8E-4466E8F86F65}" dt="2026-03-30T09:55:06.388" v="1" actId="2696"/>
      <pc:docMkLst>
        <pc:docMk/>
      </pc:docMkLst>
      <pc:sldChg chg="del">
        <pc:chgData name="VIJAY KARTHICK.P" userId="b751b879c010d83b" providerId="LiveId" clId="{B625B1C3-40A0-4C77-AB8E-4466E8F86F65}" dt="2026-03-30T09:54:50.510" v="0" actId="2696"/>
        <pc:sldMkLst>
          <pc:docMk/>
          <pc:sldMk cId="0" sldId="270"/>
        </pc:sldMkLst>
      </pc:sldChg>
      <pc:sldChg chg="del">
        <pc:chgData name="VIJAY KARTHICK.P" userId="b751b879c010d83b" providerId="LiveId" clId="{B625B1C3-40A0-4C77-AB8E-4466E8F86F65}" dt="2026-03-30T09:55:06.388" v="1" actId="2696"/>
        <pc:sldMkLst>
          <pc:docMk/>
          <pc:sldMk cId="0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437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48640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94944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768096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41248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1200" dirty="0">
                <a:solidFill>
                  <a:srgbClr val="FFFFFF"/>
                </a:solidFill>
              </a:rPr>
              <a:t>OPENSTACK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AAAAAA"/>
                </a:solidFill>
              </a:rPr>
              <a:t>Cloud Infrastructure Platform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66666"/>
                </a:solidFill>
              </a:rPr>
              <a:t>Cloud Computing Seminar  •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WHAT IS CLOUD COMPUTING?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55555"/>
                </a:solidFill>
              </a:rPr>
              <a:t>Getting computing resources — servers, storage, networking — over the internet, on demand, paying only for what you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On-Demand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81051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Resources available instantly — no waiting, no hardware procurement.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50876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Pay-As-You-Go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1051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Billed only for what you actually consume. No wasted capacity.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0876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Scalable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81051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Grow or shrink your infrastructure in minutes based on real load.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Accessible Anywhere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" y="331927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All resources are accessed over the internet from any location.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30175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301752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Managed for You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31927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Cloud provider handles hardware, maintenance, and failures.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175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3017520"/>
            <a:ext cx="64008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IaaS / PaaS / SaaS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319272"/>
            <a:ext cx="2468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Infrastructure, Platform, or Software delivered as a service.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IS OPENSTACK?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111"/>
                </a:solidFill>
              </a:rPr>
              <a:t>Open-source software that lets organizations build and manage their own private cloud on their own physical servers.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01168" y="1691640"/>
            <a:ext cx="2788920" cy="228600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691640"/>
            <a:ext cx="278892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IT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" y="2148840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A collection of software tools that together create a full cloud — compute, storage, networking, identity, and dashboard.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145536" y="1691640"/>
            <a:ext cx="2788920" cy="228600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45536" y="1691640"/>
            <a:ext cx="278892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45536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WHO USES 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55264" y="2148840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Banks, telecom companies, research labs, governments — anyone needing a private cloud with full control.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9904" y="1691640"/>
            <a:ext cx="2788920" cy="2286000"/>
          </a:xfrm>
          <a:prstGeom prst="rect">
            <a:avLst/>
          </a:prstGeom>
          <a:solidFill>
            <a:srgbClr val="F9F9F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691640"/>
            <a:ext cx="2788920" cy="411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WHY IT EXISTS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9632" y="2148840"/>
            <a:ext cx="25786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11111"/>
                </a:solidFill>
              </a:rPr>
              <a:t>AWS is expensive with limited control. OpenStack = free, open-source, self-hosted cloud on your own hardware.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4114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11111"/>
                </a:solidFill>
              </a:rPr>
              <a:t>How it works: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01168" y="4462272"/>
            <a:ext cx="1664208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" y="4462272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You own servers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65376" y="4462272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▶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975104" y="4462272"/>
            <a:ext cx="1664208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75104" y="4462272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Install OpenStack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39312" y="4462272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749040" y="4462272"/>
            <a:ext cx="1664208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4462272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Users log 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13248" y="4462272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22976" y="4462272"/>
            <a:ext cx="1664208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22976" y="4462272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Request VM/Storage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87184" y="4462272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11111"/>
                </a:solidFill>
              </a:rPr>
              <a:t>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296912" y="4462272"/>
            <a:ext cx="1664208" cy="4572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96912" y="4462272"/>
            <a:ext cx="1664208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OpenStack manages it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OBJECTIVES &amp; KEY FEATURES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OBJECTIVES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Build Any-Scale Cloud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From 5 servers to 50,000 — same software manages all.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1031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76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Vendor Independence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404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No lock-in. Works with Dell, HP, Lenovo, or any standard hardware.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Interoperability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319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Talks to AWS, Azure, or other clouds via standard APIs.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9319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Open &amp; Free Forever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Governed by OpenStack Foundation, not a single vendor.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KEY FEATURES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1887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2618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Compatibility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1490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AWS-compatible APIs — no rewriting apps when migrating to OpenStack.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1031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21031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176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Security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92040" y="2404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Full control: firewalls, encryption, access control — all on your own hardware.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017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0175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0906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Real-time Visibility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319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Monitor CPU, memory, storage, and network usage per user in real time.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931920"/>
            <a:ext cx="64008" cy="8046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0050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11111"/>
                </a:solidFill>
              </a:rPr>
              <a:t>Live Upgrades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233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Upgrade one component at a time — no full system downtime required.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 CORE COMPONENTS —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64592" y="896112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9875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NOVA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4081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COMPUTE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" y="1682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Creates &amp; manages VMs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36392" y="896112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27832" y="9875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GLANCE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27832" y="14081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IMAGE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27832" y="1682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Stores OS images for VMs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08192" y="896112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99632" y="987552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CINDER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199632" y="140817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BLOCK STORAGE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99632" y="168249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Persistent disk for VMs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64592" y="2286000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37744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SWIFT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56032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OBJECT STORAGE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" y="30723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Stores files via HTTP API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136392" y="2286000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237744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NEUTRON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227832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NETWORKING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27832" y="30723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Virtual networks &amp; IPs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108192" y="2286000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99632" y="2377440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KEYSTONE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99632" y="279806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IDENTITY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99632" y="307238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Login &amp; access control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64592" y="3675888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37673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HORIZON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56032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DASHBOARD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56032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Web UI for all services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136392" y="3675888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27832" y="37673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HEAT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227832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ORCHESTRATION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227832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Automates infrastructure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108192" y="3675888"/>
            <a:ext cx="278892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99632" y="3767328"/>
            <a:ext cx="2606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CEILOMETER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199632" y="41879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99999"/>
                </a:solidFill>
              </a:rPr>
              <a:t>MONITORING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99632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DDDDD"/>
                </a:solidFill>
              </a:rPr>
              <a:t>Usage tracking &amp; billing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NOVA — Compute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EC2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Nova is the compute engine of OpenStack. It creates, manages, and terminates virtual machines (VMs) on demand across physical servers.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requests a VM (OS, size, network)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Nova checks available physical servers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Nova tells the hypervisor (KVM/VMware) to create the 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VM boots from image provided by Glance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VM is assigned to user — ready to use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Supports multiple hypervisors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KVM, VMware, Xen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Schedules VMs across servers based on available resources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Manages VM lifecycle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start, stop, pause, resize, terminate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EC2 (Elastic Compute Cloud)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GLANCE — Image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AMI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Glance is OpenStack's image registry. It stores and delivers VM images — pre-built OS snapshots — to Nova when a VM is being created.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Admin uploads OS image (Ubuntu, CentOS, Windows…)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Glance stores it in a backend (Swift / Ceph)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requests a VM with Ubuntu 22.04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Nova asks Glance: 'give me Ubuntu 22.04 image'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Glance delivers the image → Nova boots the VM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Supports image formats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QCOW2, VMDK, ISO, RAW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Acts as a central catalog — all images in one place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Stores images in Swift, Ceph, or local filesystem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AMI (Amazon Machine Image)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CINDER — Block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EBS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Cinder provides persistent block storage volumes that attach to VMs like a hard disk. Data survives even if the VM is deleted.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requests a 100 GB storage volume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Cinder creates volume from storage backend (LVM / Ceph)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Cinder attaches volume to the specified 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VM sees it as a regular hard disk — reads &amp; writes normally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VM deleted? Volume still exists. Attach to any new VM.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Block storage = fixed-size chunks, directly accessible like HDD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Supports backends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LVM (local), Ceph (distributed), NetApp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Ceph backend spreads data across multiple servers automatically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EBS (Elastic Block Store)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SWIFT — Object Storage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S3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Swift stores large unstructured data — files, images, backups, logs — as objects accessible via HTTP APIs. Not attached to VMs.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App sends HTTP PUT request with file to Swift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Swift stores file as an object with metadata + unique ID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Swift automatically creates 3 replicas on different servers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App retrieves file anytime via HTTP GET using the unique URL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Even if 1 server crashes, 2 replicas still serve the file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Object = File + Metadata + Unique URL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Automatic 3× replication for fault tolerance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Scales to petabytes across thousands of servers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S3 (Simple Storage Service)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NEUTRON — Networking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VPC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Neutron creates and manages virtual networks, subnets, routers, and firewalls entirely in software — connecting all VMs to each other and the internet.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Admin creates a virtual network and subnet (e.g. 192.168.1.0/24)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Nova creates a VM and connects it to the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Neutron assigns IP address (e.g. 192.168.1.10) to the VM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Admin creates a router connecting internal network to internet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Security groups (firewall rules) applied to control access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Software-Defined Networking — no physical switches needed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Security Groups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per-VM firewall rules for in/out traffic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Load Balancer as a Service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distribute traffic across VMs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VPC (Virtual Private Cloud)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KEYSTONE — Identity Service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IAM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Keystone is the security gate of OpenStack. Every request to every component is authenticated and authorized by Keystone first.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sends username &amp; password to Keystone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Keystone verifies credentials, issues a temporary TOKEN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sends token with every request to Nova, Cinder, Neutron…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Each component validates the token with Keystone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Valid token → request processed. Invalid → rejected.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Users, Projects (tenants), Roles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full access control model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Tokens are temporary — expire after a set time for 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Single directory for all OpenStack services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IAM (Identity and Access Management)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HORIZON —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AWS Console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Horizon is OpenStack's web-based GUI. It lets users and admins manage all resources through a browser — no command line needed.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opens browser and logs into Horizon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clicks 'Launch Instance' and selects image, size, network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Horizon sends API request to Nova behind the scenes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Nova creates the VM; Horizon shows status update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User manages volumes, networks, images from the same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Pure frontend — no logic of its own, calls other components' APIs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Role-based views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Admin sees all; users see only their resources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Manage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VMs, volumes, images, networks, users, billing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AWS Management Console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HEAT — Orchestration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CloudFormation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Heat automates the deployment of entire infrastructure from a single YAML template file — eliminating manual, step-by-step setup.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Engineer writes Heat template (YAML) describing full infra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Heat reads template, detects dependencies between resources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Heat creates network (Neutron) → VMs (Nova) → Storage (Cinder)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Resulting collection of resources = a Stack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Traffic spike? Heat auto-scales: adds VMs, removes when traffic drops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Infrastructure as Code — entire infra in one file, version-controlled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Stack = running infrastructure deployed from a template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Auto Scaling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983480" y="3666744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Ceilometer detects high CPU → Heat adds VMs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CloudFormation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CEILOMETER — Telemetry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AAAAA"/>
                </a:solidFill>
              </a:rPr>
              <a:t>AWS: CloudWatch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222"/>
                </a:solidFill>
              </a:rPr>
              <a:t>Ceilometer continuously collects resource usage data from all OpenStack components — enabling monitoring, alarms, and usage-based billing.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81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79222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Agents run on each node, collecting usage every few seconds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7492" y="206654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32257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" y="234086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Data sent to central collector (CPU %, memory, storage, network)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" y="261518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7121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71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3232" y="288950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Stored in database (Gnocchi / MongoDB) per user per project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" y="316382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41985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4198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43814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Alarm triggered if CPU crosses 90% → notifies Heat to scale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" y="3712464"/>
            <a:ext cx="0" cy="109728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968496"/>
            <a:ext cx="292608" cy="29260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968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3986784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Billing system queries Ceilometer for exact usage → invoice 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14813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KEY POINTS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1773936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73936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84708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Measures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2075688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CPU, RAM, disk I/O, network bytes per VM per user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2569464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569464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642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Alarm system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871216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threshold breach triggers Heat auto-scaling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3364992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364992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438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Enables pay-per-use billing on private clouds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1605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4160520"/>
            <a:ext cx="64008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423367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111"/>
                </a:solidFill>
              </a:rPr>
              <a:t>AWS Equivalent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4462272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</a:rPr>
              <a:t>CloudWatch + AWS Cost Explorer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CORE vs OPTIONAL —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CORE (everyone needs these)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15568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" y="1143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Nova — Virtual Machines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1790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17904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5453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Glance — OS Images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920240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20240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19476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Cinder — Block Storage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322576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350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Swift — Object Storage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24912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27523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Neutron — Networking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272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27248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Keystone — Identity &amp; 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29584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529584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" y="35570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Horizon — Web Dashboard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931920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" y="39593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Heat — Orchestration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334256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334256"/>
            <a:ext cx="64008" cy="34747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436168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</a:rPr>
              <a:t>Ceilometer — Monitoring &amp; Billing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804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OPTIONAL (specific use cases)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1115568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1115568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11430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Trove — SaaS companies — automated databases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517904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1517904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154533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Sahara — Research/Finance — big data clusters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1920240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920240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01184" y="194767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Ironic — HPC, trading firms — bare metal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232257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322576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23500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Designate — Large providers — automated DNS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54880" y="2724912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54880" y="2724912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01184" y="275234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Barbican — Banks/Hospitals — key management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312724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54880" y="3127248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01184" y="315468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Zaqar — E-commerce/Telecom — message queue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3529584"/>
            <a:ext cx="4023360" cy="347472"/>
          </a:xfrm>
          <a:prstGeom prst="rect">
            <a:avLst/>
          </a:prstGeom>
          <a:solidFill>
            <a:srgbClr val="EEEEEE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3529584"/>
            <a:ext cx="64008" cy="347472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01184" y="3557016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</a:rPr>
              <a:t>AMQP — Internal component communication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1692</Words>
  <Application>Microsoft Office PowerPoint</Application>
  <PresentationFormat>On-screen Show (16:9)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OpenStack - Cloud Computing</dc:title>
  <dc:subject>PptxGenJS Presentation</dc:subject>
  <dc:creator>PptxGenJS</dc:creator>
  <cp:lastModifiedBy>VIJAY KARTHICK.P</cp:lastModifiedBy>
  <cp:revision>2</cp:revision>
  <dcterms:created xsi:type="dcterms:W3CDTF">2026-03-23T16:16:46Z</dcterms:created>
  <dcterms:modified xsi:type="dcterms:W3CDTF">2026-03-30T09:55:08Z</dcterms:modified>
</cp:coreProperties>
</file>