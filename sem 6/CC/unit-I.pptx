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70" r:id="rId3"/>
    <p:sldId id="271" r:id="rId4"/>
    <p:sldId id="256" r:id="rId5"/>
    <p:sldId id="272" r:id="rId6"/>
    <p:sldId id="273" r:id="rId7"/>
    <p:sldId id="274" r:id="rId8"/>
    <p:sldId id="275" r:id="rId9"/>
    <p:sldId id="277" r:id="rId10"/>
    <p:sldId id="276" r:id="rId11"/>
    <p:sldId id="278" r:id="rId12"/>
    <p:sldId id="279" r:id="rId13"/>
    <p:sldId id="280" r:id="rId14"/>
    <p:sldId id="281" r:id="rId15"/>
    <p:sldId id="282" r:id="rId16"/>
    <p:sldId id="257" r:id="rId17"/>
    <p:sldId id="267" r:id="rId18"/>
    <p:sldId id="268" r:id="rId19"/>
    <p:sldId id="259" r:id="rId20"/>
    <p:sldId id="285" r:id="rId21"/>
    <p:sldId id="260" r:id="rId22"/>
    <p:sldId id="261" r:id="rId23"/>
    <p:sldId id="262" r:id="rId24"/>
    <p:sldId id="263" r:id="rId25"/>
    <p:sldId id="264" r:id="rId26"/>
    <p:sldId id="265" r:id="rId27"/>
    <p:sldId id="286" r:id="rId28"/>
    <p:sldId id="287" r:id="rId29"/>
    <p:sldId id="266" r:id="rId30"/>
    <p:sldId id="283" r:id="rId31"/>
    <p:sldId id="284" r:id="rId32"/>
    <p:sldId id="288" r:id="rId33"/>
    <p:sldId id="289" r:id="rId34"/>
    <p:sldId id="290" r:id="rId35"/>
    <p:sldId id="291" r:id="rId36"/>
    <p:sldId id="292" r:id="rId37"/>
    <p:sldId id="293" r:id="rId38"/>
    <p:sldId id="294" r:id="rId39"/>
    <p:sldId id="296" r:id="rId40"/>
    <p:sldId id="295" r:id="rId41"/>
    <p:sldId id="297" r:id="rId42"/>
    <p:sldId id="298" r:id="rId43"/>
    <p:sldId id="299" r:id="rId44"/>
    <p:sldId id="300" r:id="rId45"/>
    <p:sldId id="304" r:id="rId46"/>
    <p:sldId id="301" r:id="rId47"/>
    <p:sldId id="302" r:id="rId48"/>
    <p:sldId id="305" r:id="rId49"/>
    <p:sldId id="306" r:id="rId50"/>
    <p:sldId id="307" r:id="rId51"/>
    <p:sldId id="308" r:id="rId52"/>
    <p:sldId id="309" r:id="rId53"/>
    <p:sldId id="310" r:id="rId54"/>
    <p:sldId id="317" r:id="rId55"/>
    <p:sldId id="318" r:id="rId56"/>
    <p:sldId id="319" r:id="rId57"/>
    <p:sldId id="320" r:id="rId58"/>
    <p:sldId id="335" r:id="rId59"/>
    <p:sldId id="321" r:id="rId60"/>
    <p:sldId id="322" r:id="rId61"/>
    <p:sldId id="323" r:id="rId62"/>
    <p:sldId id="324" r:id="rId63"/>
    <p:sldId id="325" r:id="rId64"/>
    <p:sldId id="315" r:id="rId65"/>
    <p:sldId id="316" r:id="rId66"/>
    <p:sldId id="326" r:id="rId67"/>
    <p:sldId id="327" r:id="rId68"/>
    <p:sldId id="328" r:id="rId69"/>
    <p:sldId id="329" r:id="rId70"/>
    <p:sldId id="330" r:id="rId71"/>
    <p:sldId id="331" r:id="rId72"/>
    <p:sldId id="332" r:id="rId73"/>
    <p:sldId id="333" r:id="rId74"/>
    <p:sldId id="334"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4"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9A41F-3157-0447-477D-E493583D36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117C082-3E82-C672-11FB-EFE0761D58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BEE9F95-1CBF-D460-0774-5B5E50BE0CEC}"/>
              </a:ext>
            </a:extLst>
          </p:cNvPr>
          <p:cNvSpPr>
            <a:spLocks noGrp="1"/>
          </p:cNvSpPr>
          <p:nvPr>
            <p:ph type="dt" sz="half" idx="10"/>
          </p:nvPr>
        </p:nvSpPr>
        <p:spPr/>
        <p:txBody>
          <a:bodyPr/>
          <a:lstStyle/>
          <a:p>
            <a:fld id="{4AD6FAA5-87D0-48B1-89BD-1628C59BF6D4}" type="datetimeFigureOut">
              <a:rPr lang="en-IN" smtClean="0"/>
              <a:t>24-01-2026</a:t>
            </a:fld>
            <a:endParaRPr lang="en-IN"/>
          </a:p>
        </p:txBody>
      </p:sp>
      <p:sp>
        <p:nvSpPr>
          <p:cNvPr id="5" name="Footer Placeholder 4">
            <a:extLst>
              <a:ext uri="{FF2B5EF4-FFF2-40B4-BE49-F238E27FC236}">
                <a16:creationId xmlns:a16="http://schemas.microsoft.com/office/drawing/2014/main" id="{9667D024-9561-0F6B-07C1-E7B402EE33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B8B899-D30D-E418-2BF5-3D0573E93095}"/>
              </a:ext>
            </a:extLst>
          </p:cNvPr>
          <p:cNvSpPr>
            <a:spLocks noGrp="1"/>
          </p:cNvSpPr>
          <p:nvPr>
            <p:ph type="sldNum" sz="quarter" idx="12"/>
          </p:nvPr>
        </p:nvSpPr>
        <p:spPr/>
        <p:txBody>
          <a:bodyPr/>
          <a:lstStyle/>
          <a:p>
            <a:fld id="{73DB7603-68EC-4CA0-8CF8-539028818834}" type="slidenum">
              <a:rPr lang="en-IN" smtClean="0"/>
              <a:t>‹#›</a:t>
            </a:fld>
            <a:endParaRPr lang="en-IN"/>
          </a:p>
        </p:txBody>
      </p:sp>
    </p:spTree>
    <p:extLst>
      <p:ext uri="{BB962C8B-B14F-4D97-AF65-F5344CB8AC3E}">
        <p14:creationId xmlns:p14="http://schemas.microsoft.com/office/powerpoint/2010/main" val="1272625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F9ABF-947A-FAB1-003E-7C64B16FA6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39440A-ED50-8C61-CA9B-C54023DAD7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A977A7-A71D-C38C-E575-F6C01284FB4B}"/>
              </a:ext>
            </a:extLst>
          </p:cNvPr>
          <p:cNvSpPr>
            <a:spLocks noGrp="1"/>
          </p:cNvSpPr>
          <p:nvPr>
            <p:ph type="dt" sz="half" idx="10"/>
          </p:nvPr>
        </p:nvSpPr>
        <p:spPr/>
        <p:txBody>
          <a:bodyPr/>
          <a:lstStyle/>
          <a:p>
            <a:fld id="{4AD6FAA5-87D0-48B1-89BD-1628C59BF6D4}" type="datetimeFigureOut">
              <a:rPr lang="en-IN" smtClean="0"/>
              <a:t>24-01-2026</a:t>
            </a:fld>
            <a:endParaRPr lang="en-IN"/>
          </a:p>
        </p:txBody>
      </p:sp>
      <p:sp>
        <p:nvSpPr>
          <p:cNvPr id="5" name="Footer Placeholder 4">
            <a:extLst>
              <a:ext uri="{FF2B5EF4-FFF2-40B4-BE49-F238E27FC236}">
                <a16:creationId xmlns:a16="http://schemas.microsoft.com/office/drawing/2014/main" id="{8796E549-30E4-BF5F-1E0A-7DA5C00E46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8EEE1D-474B-B6DC-727B-7825C7827A44}"/>
              </a:ext>
            </a:extLst>
          </p:cNvPr>
          <p:cNvSpPr>
            <a:spLocks noGrp="1"/>
          </p:cNvSpPr>
          <p:nvPr>
            <p:ph type="sldNum" sz="quarter" idx="12"/>
          </p:nvPr>
        </p:nvSpPr>
        <p:spPr/>
        <p:txBody>
          <a:bodyPr/>
          <a:lstStyle/>
          <a:p>
            <a:fld id="{73DB7603-68EC-4CA0-8CF8-539028818834}" type="slidenum">
              <a:rPr lang="en-IN" smtClean="0"/>
              <a:t>‹#›</a:t>
            </a:fld>
            <a:endParaRPr lang="en-IN"/>
          </a:p>
        </p:txBody>
      </p:sp>
    </p:spTree>
    <p:extLst>
      <p:ext uri="{BB962C8B-B14F-4D97-AF65-F5344CB8AC3E}">
        <p14:creationId xmlns:p14="http://schemas.microsoft.com/office/powerpoint/2010/main" val="72089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75692-7569-245D-3B88-36BD60CC49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57DA97-1FA6-FE70-0772-6F5BCF0395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6D96FD-BD3C-6EB3-92A6-7408FDCB5BBF}"/>
              </a:ext>
            </a:extLst>
          </p:cNvPr>
          <p:cNvSpPr>
            <a:spLocks noGrp="1"/>
          </p:cNvSpPr>
          <p:nvPr>
            <p:ph type="dt" sz="half" idx="10"/>
          </p:nvPr>
        </p:nvSpPr>
        <p:spPr/>
        <p:txBody>
          <a:bodyPr/>
          <a:lstStyle/>
          <a:p>
            <a:fld id="{4AD6FAA5-87D0-48B1-89BD-1628C59BF6D4}" type="datetimeFigureOut">
              <a:rPr lang="en-IN" smtClean="0"/>
              <a:t>24-01-2026</a:t>
            </a:fld>
            <a:endParaRPr lang="en-IN"/>
          </a:p>
        </p:txBody>
      </p:sp>
      <p:sp>
        <p:nvSpPr>
          <p:cNvPr id="5" name="Footer Placeholder 4">
            <a:extLst>
              <a:ext uri="{FF2B5EF4-FFF2-40B4-BE49-F238E27FC236}">
                <a16:creationId xmlns:a16="http://schemas.microsoft.com/office/drawing/2014/main" id="{9F654A46-89AD-B926-5BCD-6EFD1130DA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13B8F6-195E-5013-E7AA-7DD471D9FA45}"/>
              </a:ext>
            </a:extLst>
          </p:cNvPr>
          <p:cNvSpPr>
            <a:spLocks noGrp="1"/>
          </p:cNvSpPr>
          <p:nvPr>
            <p:ph type="sldNum" sz="quarter" idx="12"/>
          </p:nvPr>
        </p:nvSpPr>
        <p:spPr/>
        <p:txBody>
          <a:bodyPr/>
          <a:lstStyle/>
          <a:p>
            <a:fld id="{73DB7603-68EC-4CA0-8CF8-539028818834}" type="slidenum">
              <a:rPr lang="en-IN" smtClean="0"/>
              <a:t>‹#›</a:t>
            </a:fld>
            <a:endParaRPr lang="en-IN"/>
          </a:p>
        </p:txBody>
      </p:sp>
    </p:spTree>
    <p:extLst>
      <p:ext uri="{BB962C8B-B14F-4D97-AF65-F5344CB8AC3E}">
        <p14:creationId xmlns:p14="http://schemas.microsoft.com/office/powerpoint/2010/main" val="4270081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93988-09C3-B382-49E1-2EAC6577D0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152D8B-0BDE-C93C-D9B9-262A553782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A96CF2B-A6FA-5807-B781-704C7AB60C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7B8507-ACFB-158C-3D0C-633256481BB5}"/>
              </a:ext>
            </a:extLst>
          </p:cNvPr>
          <p:cNvSpPr>
            <a:spLocks noGrp="1"/>
          </p:cNvSpPr>
          <p:nvPr>
            <p:ph type="dt" sz="half" idx="10"/>
          </p:nvPr>
        </p:nvSpPr>
        <p:spPr/>
        <p:txBody>
          <a:bodyPr/>
          <a:lstStyle/>
          <a:p>
            <a:fld id="{4AD6FAA5-87D0-48B1-89BD-1628C59BF6D4}" type="datetimeFigureOut">
              <a:rPr lang="en-IN" smtClean="0"/>
              <a:t>24-01-2026</a:t>
            </a:fld>
            <a:endParaRPr lang="en-IN"/>
          </a:p>
        </p:txBody>
      </p:sp>
      <p:sp>
        <p:nvSpPr>
          <p:cNvPr id="6" name="Footer Placeholder 5">
            <a:extLst>
              <a:ext uri="{FF2B5EF4-FFF2-40B4-BE49-F238E27FC236}">
                <a16:creationId xmlns:a16="http://schemas.microsoft.com/office/drawing/2014/main" id="{399ED0CD-98E9-CD9A-BF87-F43D95D0A7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1868D6-96E7-294E-F2EF-57EAB777EDD0}"/>
              </a:ext>
            </a:extLst>
          </p:cNvPr>
          <p:cNvSpPr>
            <a:spLocks noGrp="1"/>
          </p:cNvSpPr>
          <p:nvPr>
            <p:ph type="sldNum" sz="quarter" idx="12"/>
          </p:nvPr>
        </p:nvSpPr>
        <p:spPr/>
        <p:txBody>
          <a:bodyPr/>
          <a:lstStyle/>
          <a:p>
            <a:fld id="{73DB7603-68EC-4CA0-8CF8-539028818834}" type="slidenum">
              <a:rPr lang="en-IN" smtClean="0"/>
              <a:t>‹#›</a:t>
            </a:fld>
            <a:endParaRPr lang="en-IN"/>
          </a:p>
        </p:txBody>
      </p:sp>
    </p:spTree>
    <p:extLst>
      <p:ext uri="{BB962C8B-B14F-4D97-AF65-F5344CB8AC3E}">
        <p14:creationId xmlns:p14="http://schemas.microsoft.com/office/powerpoint/2010/main" val="144913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59CB3-DB81-960A-0054-C4C5DAC8B4C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CC6EEA-786E-634E-8D20-677740051C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C254ED-3AA3-346E-AFB9-F2A8A3BB0A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292002-B510-4FA4-6648-76FF6BABB9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8967DC-F29C-BC8B-C1F8-CD95380A2C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42FF6EE-EDCE-997C-E92E-B841394AA603}"/>
              </a:ext>
            </a:extLst>
          </p:cNvPr>
          <p:cNvSpPr>
            <a:spLocks noGrp="1"/>
          </p:cNvSpPr>
          <p:nvPr>
            <p:ph type="dt" sz="half" idx="10"/>
          </p:nvPr>
        </p:nvSpPr>
        <p:spPr/>
        <p:txBody>
          <a:bodyPr/>
          <a:lstStyle/>
          <a:p>
            <a:fld id="{4AD6FAA5-87D0-48B1-89BD-1628C59BF6D4}" type="datetimeFigureOut">
              <a:rPr lang="en-IN" smtClean="0"/>
              <a:t>24-01-2026</a:t>
            </a:fld>
            <a:endParaRPr lang="en-IN"/>
          </a:p>
        </p:txBody>
      </p:sp>
      <p:sp>
        <p:nvSpPr>
          <p:cNvPr id="8" name="Footer Placeholder 7">
            <a:extLst>
              <a:ext uri="{FF2B5EF4-FFF2-40B4-BE49-F238E27FC236}">
                <a16:creationId xmlns:a16="http://schemas.microsoft.com/office/drawing/2014/main" id="{2C8BC314-C25C-D824-4B82-E798DCF32A4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344CF59-0512-1381-AFB8-85C1734A89E6}"/>
              </a:ext>
            </a:extLst>
          </p:cNvPr>
          <p:cNvSpPr>
            <a:spLocks noGrp="1"/>
          </p:cNvSpPr>
          <p:nvPr>
            <p:ph type="sldNum" sz="quarter" idx="12"/>
          </p:nvPr>
        </p:nvSpPr>
        <p:spPr/>
        <p:txBody>
          <a:bodyPr/>
          <a:lstStyle/>
          <a:p>
            <a:fld id="{73DB7603-68EC-4CA0-8CF8-539028818834}" type="slidenum">
              <a:rPr lang="en-IN" smtClean="0"/>
              <a:t>‹#›</a:t>
            </a:fld>
            <a:endParaRPr lang="en-IN"/>
          </a:p>
        </p:txBody>
      </p:sp>
    </p:spTree>
    <p:extLst>
      <p:ext uri="{BB962C8B-B14F-4D97-AF65-F5344CB8AC3E}">
        <p14:creationId xmlns:p14="http://schemas.microsoft.com/office/powerpoint/2010/main" val="205189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BFB08-2354-9F59-D738-7565C8D9F1D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34487E5-13C0-8A3D-5F23-B1636ADACDF6}"/>
              </a:ext>
            </a:extLst>
          </p:cNvPr>
          <p:cNvSpPr>
            <a:spLocks noGrp="1"/>
          </p:cNvSpPr>
          <p:nvPr>
            <p:ph type="dt" sz="half" idx="10"/>
          </p:nvPr>
        </p:nvSpPr>
        <p:spPr/>
        <p:txBody>
          <a:bodyPr/>
          <a:lstStyle/>
          <a:p>
            <a:fld id="{4AD6FAA5-87D0-48B1-89BD-1628C59BF6D4}" type="datetimeFigureOut">
              <a:rPr lang="en-IN" smtClean="0"/>
              <a:t>24-01-2026</a:t>
            </a:fld>
            <a:endParaRPr lang="en-IN"/>
          </a:p>
        </p:txBody>
      </p:sp>
      <p:sp>
        <p:nvSpPr>
          <p:cNvPr id="4" name="Footer Placeholder 3">
            <a:extLst>
              <a:ext uri="{FF2B5EF4-FFF2-40B4-BE49-F238E27FC236}">
                <a16:creationId xmlns:a16="http://schemas.microsoft.com/office/drawing/2014/main" id="{E4EB627E-98AA-CA6B-B829-F1D33152CA7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D739DD-0C73-A28D-298E-5AFF96ECE575}"/>
              </a:ext>
            </a:extLst>
          </p:cNvPr>
          <p:cNvSpPr>
            <a:spLocks noGrp="1"/>
          </p:cNvSpPr>
          <p:nvPr>
            <p:ph type="sldNum" sz="quarter" idx="12"/>
          </p:nvPr>
        </p:nvSpPr>
        <p:spPr/>
        <p:txBody>
          <a:bodyPr/>
          <a:lstStyle/>
          <a:p>
            <a:fld id="{73DB7603-68EC-4CA0-8CF8-539028818834}" type="slidenum">
              <a:rPr lang="en-IN" smtClean="0"/>
              <a:t>‹#›</a:t>
            </a:fld>
            <a:endParaRPr lang="en-IN"/>
          </a:p>
        </p:txBody>
      </p:sp>
    </p:spTree>
    <p:extLst>
      <p:ext uri="{BB962C8B-B14F-4D97-AF65-F5344CB8AC3E}">
        <p14:creationId xmlns:p14="http://schemas.microsoft.com/office/powerpoint/2010/main" val="56865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7FBEBC-B8CE-8E53-34AC-03F85066AB79}"/>
              </a:ext>
            </a:extLst>
          </p:cNvPr>
          <p:cNvSpPr>
            <a:spLocks noGrp="1"/>
          </p:cNvSpPr>
          <p:nvPr>
            <p:ph type="dt" sz="half" idx="10"/>
          </p:nvPr>
        </p:nvSpPr>
        <p:spPr/>
        <p:txBody>
          <a:bodyPr/>
          <a:lstStyle/>
          <a:p>
            <a:fld id="{4AD6FAA5-87D0-48B1-89BD-1628C59BF6D4}" type="datetimeFigureOut">
              <a:rPr lang="en-IN" smtClean="0"/>
              <a:t>24-01-2026</a:t>
            </a:fld>
            <a:endParaRPr lang="en-IN"/>
          </a:p>
        </p:txBody>
      </p:sp>
      <p:sp>
        <p:nvSpPr>
          <p:cNvPr id="3" name="Footer Placeholder 2">
            <a:extLst>
              <a:ext uri="{FF2B5EF4-FFF2-40B4-BE49-F238E27FC236}">
                <a16:creationId xmlns:a16="http://schemas.microsoft.com/office/drawing/2014/main" id="{243E2C5B-6C46-85F2-82A0-8F254BEC8FE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4892703-AC58-B288-CC18-0F7987AFBF7F}"/>
              </a:ext>
            </a:extLst>
          </p:cNvPr>
          <p:cNvSpPr>
            <a:spLocks noGrp="1"/>
          </p:cNvSpPr>
          <p:nvPr>
            <p:ph type="sldNum" sz="quarter" idx="12"/>
          </p:nvPr>
        </p:nvSpPr>
        <p:spPr/>
        <p:txBody>
          <a:bodyPr/>
          <a:lstStyle/>
          <a:p>
            <a:fld id="{73DB7603-68EC-4CA0-8CF8-539028818834}" type="slidenum">
              <a:rPr lang="en-IN" smtClean="0"/>
              <a:t>‹#›</a:t>
            </a:fld>
            <a:endParaRPr lang="en-IN"/>
          </a:p>
        </p:txBody>
      </p:sp>
    </p:spTree>
    <p:extLst>
      <p:ext uri="{BB962C8B-B14F-4D97-AF65-F5344CB8AC3E}">
        <p14:creationId xmlns:p14="http://schemas.microsoft.com/office/powerpoint/2010/main" val="3797180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A38FB-0D4E-49F4-03C0-BC309C28F6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9759A7C-5B0C-2083-67AE-4BC2391D57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E7D5EEE-3B01-6E96-90B0-B659D0FCCA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372EE8-3EB7-2396-0114-549E6200D551}"/>
              </a:ext>
            </a:extLst>
          </p:cNvPr>
          <p:cNvSpPr>
            <a:spLocks noGrp="1"/>
          </p:cNvSpPr>
          <p:nvPr>
            <p:ph type="dt" sz="half" idx="10"/>
          </p:nvPr>
        </p:nvSpPr>
        <p:spPr/>
        <p:txBody>
          <a:bodyPr/>
          <a:lstStyle/>
          <a:p>
            <a:fld id="{4AD6FAA5-87D0-48B1-89BD-1628C59BF6D4}" type="datetimeFigureOut">
              <a:rPr lang="en-IN" smtClean="0"/>
              <a:t>24-01-2026</a:t>
            </a:fld>
            <a:endParaRPr lang="en-IN"/>
          </a:p>
        </p:txBody>
      </p:sp>
      <p:sp>
        <p:nvSpPr>
          <p:cNvPr id="6" name="Footer Placeholder 5">
            <a:extLst>
              <a:ext uri="{FF2B5EF4-FFF2-40B4-BE49-F238E27FC236}">
                <a16:creationId xmlns:a16="http://schemas.microsoft.com/office/drawing/2014/main" id="{118EFCF6-6897-16E9-316E-787E990394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C4BE7A-EAF6-4E19-9029-DF27EC80609D}"/>
              </a:ext>
            </a:extLst>
          </p:cNvPr>
          <p:cNvSpPr>
            <a:spLocks noGrp="1"/>
          </p:cNvSpPr>
          <p:nvPr>
            <p:ph type="sldNum" sz="quarter" idx="12"/>
          </p:nvPr>
        </p:nvSpPr>
        <p:spPr/>
        <p:txBody>
          <a:bodyPr/>
          <a:lstStyle/>
          <a:p>
            <a:fld id="{73DB7603-68EC-4CA0-8CF8-539028818834}" type="slidenum">
              <a:rPr lang="en-IN" smtClean="0"/>
              <a:t>‹#›</a:t>
            </a:fld>
            <a:endParaRPr lang="en-IN"/>
          </a:p>
        </p:txBody>
      </p:sp>
    </p:spTree>
    <p:extLst>
      <p:ext uri="{BB962C8B-B14F-4D97-AF65-F5344CB8AC3E}">
        <p14:creationId xmlns:p14="http://schemas.microsoft.com/office/powerpoint/2010/main" val="1662723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17E42-6E20-8AAA-30AF-93D5DCBC04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CC0F6B-851E-CC6C-438D-20AB6BBC89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09ADDB0-92BB-CFD3-C0F8-922747EDCA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4DCB90-131D-DA0E-8146-BA8C5EAA1A46}"/>
              </a:ext>
            </a:extLst>
          </p:cNvPr>
          <p:cNvSpPr>
            <a:spLocks noGrp="1"/>
          </p:cNvSpPr>
          <p:nvPr>
            <p:ph type="dt" sz="half" idx="10"/>
          </p:nvPr>
        </p:nvSpPr>
        <p:spPr/>
        <p:txBody>
          <a:bodyPr/>
          <a:lstStyle/>
          <a:p>
            <a:fld id="{4AD6FAA5-87D0-48B1-89BD-1628C59BF6D4}" type="datetimeFigureOut">
              <a:rPr lang="en-IN" smtClean="0"/>
              <a:t>24-01-2026</a:t>
            </a:fld>
            <a:endParaRPr lang="en-IN"/>
          </a:p>
        </p:txBody>
      </p:sp>
      <p:sp>
        <p:nvSpPr>
          <p:cNvPr id="6" name="Footer Placeholder 5">
            <a:extLst>
              <a:ext uri="{FF2B5EF4-FFF2-40B4-BE49-F238E27FC236}">
                <a16:creationId xmlns:a16="http://schemas.microsoft.com/office/drawing/2014/main" id="{1CC7DB71-6F6C-B455-BAFA-EF175DD3E0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6E18EF-CFA4-BF66-754E-A7D0F57168FF}"/>
              </a:ext>
            </a:extLst>
          </p:cNvPr>
          <p:cNvSpPr>
            <a:spLocks noGrp="1"/>
          </p:cNvSpPr>
          <p:nvPr>
            <p:ph type="sldNum" sz="quarter" idx="12"/>
          </p:nvPr>
        </p:nvSpPr>
        <p:spPr/>
        <p:txBody>
          <a:bodyPr/>
          <a:lstStyle/>
          <a:p>
            <a:fld id="{73DB7603-68EC-4CA0-8CF8-539028818834}" type="slidenum">
              <a:rPr lang="en-IN" smtClean="0"/>
              <a:t>‹#›</a:t>
            </a:fld>
            <a:endParaRPr lang="en-IN"/>
          </a:p>
        </p:txBody>
      </p:sp>
    </p:spTree>
    <p:extLst>
      <p:ext uri="{BB962C8B-B14F-4D97-AF65-F5344CB8AC3E}">
        <p14:creationId xmlns:p14="http://schemas.microsoft.com/office/powerpoint/2010/main" val="1736447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07689-69B7-9916-5673-89ED52235E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F58642-F9D0-1C1E-EB81-F08B7F8FFE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A359CB-BD5B-5F2A-91EE-045B2FCD93B4}"/>
              </a:ext>
            </a:extLst>
          </p:cNvPr>
          <p:cNvSpPr>
            <a:spLocks noGrp="1"/>
          </p:cNvSpPr>
          <p:nvPr>
            <p:ph type="dt" sz="half" idx="10"/>
          </p:nvPr>
        </p:nvSpPr>
        <p:spPr/>
        <p:txBody>
          <a:bodyPr/>
          <a:lstStyle/>
          <a:p>
            <a:fld id="{4AD6FAA5-87D0-48B1-89BD-1628C59BF6D4}" type="datetimeFigureOut">
              <a:rPr lang="en-IN" smtClean="0"/>
              <a:t>24-01-2026</a:t>
            </a:fld>
            <a:endParaRPr lang="en-IN"/>
          </a:p>
        </p:txBody>
      </p:sp>
      <p:sp>
        <p:nvSpPr>
          <p:cNvPr id="5" name="Footer Placeholder 4">
            <a:extLst>
              <a:ext uri="{FF2B5EF4-FFF2-40B4-BE49-F238E27FC236}">
                <a16:creationId xmlns:a16="http://schemas.microsoft.com/office/drawing/2014/main" id="{79F94D6F-CDC9-AD40-384C-8661C58495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42D818-BBC6-C8FB-F79F-6DEF2B1FB474}"/>
              </a:ext>
            </a:extLst>
          </p:cNvPr>
          <p:cNvSpPr>
            <a:spLocks noGrp="1"/>
          </p:cNvSpPr>
          <p:nvPr>
            <p:ph type="sldNum" sz="quarter" idx="12"/>
          </p:nvPr>
        </p:nvSpPr>
        <p:spPr/>
        <p:txBody>
          <a:bodyPr/>
          <a:lstStyle/>
          <a:p>
            <a:fld id="{73DB7603-68EC-4CA0-8CF8-539028818834}" type="slidenum">
              <a:rPr lang="en-IN" smtClean="0"/>
              <a:t>‹#›</a:t>
            </a:fld>
            <a:endParaRPr lang="en-IN"/>
          </a:p>
        </p:txBody>
      </p:sp>
    </p:spTree>
    <p:extLst>
      <p:ext uri="{BB962C8B-B14F-4D97-AF65-F5344CB8AC3E}">
        <p14:creationId xmlns:p14="http://schemas.microsoft.com/office/powerpoint/2010/main" val="2432175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6EDC4-9D45-D57B-50DE-6ACEB4C548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EB13EB-B609-6511-173A-F4D859310F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F1843-5690-A1C1-B0A4-1726F2A5CC4D}"/>
              </a:ext>
            </a:extLst>
          </p:cNvPr>
          <p:cNvSpPr>
            <a:spLocks noGrp="1"/>
          </p:cNvSpPr>
          <p:nvPr>
            <p:ph type="dt" sz="half" idx="10"/>
          </p:nvPr>
        </p:nvSpPr>
        <p:spPr/>
        <p:txBody>
          <a:bodyPr/>
          <a:lstStyle/>
          <a:p>
            <a:fld id="{4AD6FAA5-87D0-48B1-89BD-1628C59BF6D4}" type="datetimeFigureOut">
              <a:rPr lang="en-IN" smtClean="0"/>
              <a:t>24-01-2026</a:t>
            </a:fld>
            <a:endParaRPr lang="en-IN"/>
          </a:p>
        </p:txBody>
      </p:sp>
      <p:sp>
        <p:nvSpPr>
          <p:cNvPr id="5" name="Footer Placeholder 4">
            <a:extLst>
              <a:ext uri="{FF2B5EF4-FFF2-40B4-BE49-F238E27FC236}">
                <a16:creationId xmlns:a16="http://schemas.microsoft.com/office/drawing/2014/main" id="{8C11FAD0-1B10-AF9E-9D58-2284492F28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897CAD-1857-E88A-8232-F89177EAAFD1}"/>
              </a:ext>
            </a:extLst>
          </p:cNvPr>
          <p:cNvSpPr>
            <a:spLocks noGrp="1"/>
          </p:cNvSpPr>
          <p:nvPr>
            <p:ph type="sldNum" sz="quarter" idx="12"/>
          </p:nvPr>
        </p:nvSpPr>
        <p:spPr/>
        <p:txBody>
          <a:bodyPr/>
          <a:lstStyle/>
          <a:p>
            <a:fld id="{73DB7603-68EC-4CA0-8CF8-539028818834}" type="slidenum">
              <a:rPr lang="en-IN" smtClean="0"/>
              <a:t>‹#›</a:t>
            </a:fld>
            <a:endParaRPr lang="en-IN"/>
          </a:p>
        </p:txBody>
      </p:sp>
    </p:spTree>
    <p:extLst>
      <p:ext uri="{BB962C8B-B14F-4D97-AF65-F5344CB8AC3E}">
        <p14:creationId xmlns:p14="http://schemas.microsoft.com/office/powerpoint/2010/main" val="2252749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227896-1F7E-47BE-3467-E1542A46A1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3CC46A-603F-2056-6EC6-B969425C4E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36F277-F4C0-4A2C-E60A-48A3C9B107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D6FAA5-87D0-48B1-89BD-1628C59BF6D4}" type="datetimeFigureOut">
              <a:rPr lang="en-IN" smtClean="0"/>
              <a:t>24-01-2026</a:t>
            </a:fld>
            <a:endParaRPr lang="en-IN"/>
          </a:p>
        </p:txBody>
      </p:sp>
      <p:sp>
        <p:nvSpPr>
          <p:cNvPr id="5" name="Footer Placeholder 4">
            <a:extLst>
              <a:ext uri="{FF2B5EF4-FFF2-40B4-BE49-F238E27FC236}">
                <a16:creationId xmlns:a16="http://schemas.microsoft.com/office/drawing/2014/main" id="{87F17C54-69E1-D178-EE73-91355F3F40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47D497D-4984-0B25-26B0-6FBE62CD0E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B7603-68EC-4CA0-8CF8-539028818834}" type="slidenum">
              <a:rPr lang="en-IN" smtClean="0"/>
              <a:t>‹#›</a:t>
            </a:fld>
            <a:endParaRPr lang="en-IN"/>
          </a:p>
        </p:txBody>
      </p:sp>
    </p:spTree>
    <p:extLst>
      <p:ext uri="{BB962C8B-B14F-4D97-AF65-F5344CB8AC3E}">
        <p14:creationId xmlns:p14="http://schemas.microsoft.com/office/powerpoint/2010/main" val="562312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google.com/search?q=pay-as-you-go&amp;oq=what+is+cloud+computing+&amp;gs_lcrp=EgZjaHJvbWUqBwgAEAAYjwIyBwgAEAAYjwIyDQgBEAAYkQIYgAQYigUyBwgCEAAYgAQyBwgDEAAYgAQyBwgEEAAYgAQyBwgFEAAYgAQyBwgGEAAYgAQyBwgHEAAYgAQyBwgIEAAYgAQyBwgJEAAYgATSAQk2NjYxajBqMTWoAgywAgHxBVDcwo1irZKr&amp;sourceid=chrome&amp;ie=UTF-8&amp;ved=2ahUKEwj3tPOG_JaSAxXbSGcHHSPrADMQgK4QegYIAQgAEAY"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computersciencejunction.in/2020/07/05/software-engineering-tutorial/"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computersciencejunction.in/2017/11/05/computer-networks-tutorials-html/"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geeksforgeeks.org/difference-between-public-cloud-and-private-cloud/" TargetMode="External"/><Relationship Id="rId2" Type="http://schemas.openxmlformats.org/officeDocument/2006/relationships/hyperlink" Target="https://www.geeksforgeeks.org/types-of-cloud/" TargetMode="External"/><Relationship Id="rId1" Type="http://schemas.openxmlformats.org/officeDocument/2006/relationships/slideLayout" Target="../slideLayouts/slideLayout2.xml"/><Relationship Id="rId5" Type="http://schemas.openxmlformats.org/officeDocument/2006/relationships/hyperlink" Target="https://www.geeksforgeeks.org/overview-of-multi-cloud/" TargetMode="External"/><Relationship Id="rId4" Type="http://schemas.openxmlformats.org/officeDocument/2006/relationships/hyperlink" Target="https://www.geeksforgeeks.org/public-cloud-vs-private-cloud-vs-hybrid-cloud/" TargetMode="External"/></Relationships>
</file>

<file path=ppt/slides/_rels/slide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geeksforgeeks.org/difference-between-public-cloud-and-private-cloud/"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hyperlink" Target="https://www.geeksforgeeks.org/service-oriented-architecture/"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59AB8-A1C5-431D-AAA7-3890FF6531FF}"/>
              </a:ext>
            </a:extLst>
          </p:cNvPr>
          <p:cNvSpPr>
            <a:spLocks noGrp="1"/>
          </p:cNvSpPr>
          <p:nvPr>
            <p:ph type="title"/>
          </p:nvPr>
        </p:nvSpPr>
        <p:spPr/>
        <p:txBody>
          <a:bodyPr/>
          <a:lstStyle/>
          <a:p>
            <a:pPr algn="ctr"/>
            <a:r>
              <a:rPr lang="en-US" dirty="0"/>
              <a:t>UNIT 1</a:t>
            </a:r>
          </a:p>
        </p:txBody>
      </p:sp>
      <p:sp>
        <p:nvSpPr>
          <p:cNvPr id="3" name="Content Placeholder 2">
            <a:extLst>
              <a:ext uri="{FF2B5EF4-FFF2-40B4-BE49-F238E27FC236}">
                <a16:creationId xmlns:a16="http://schemas.microsoft.com/office/drawing/2014/main" id="{E79D4C49-6290-4AD5-A0B3-F4F9CD15B83D}"/>
              </a:ext>
            </a:extLst>
          </p:cNvPr>
          <p:cNvSpPr>
            <a:spLocks noGrp="1"/>
          </p:cNvSpPr>
          <p:nvPr>
            <p:ph idx="1"/>
          </p:nvPr>
        </p:nvSpPr>
        <p:spPr/>
        <p:txBody>
          <a:bodyPr/>
          <a:lstStyle/>
          <a:p>
            <a:r>
              <a:rPr lang="en-US" dirty="0"/>
              <a:t>Cloud computing delivers on-demand computing services—like servers, storage, databases, software, analytics, and AI—over the internet, allowing users to access resources from remote data centers instead of owning physical hardware, often with </a:t>
            </a:r>
            <a:r>
              <a:rPr lang="en-US" dirty="0">
                <a:hlinkClick r:id="rId2"/>
              </a:rPr>
              <a:t>pay-as-you-go</a:t>
            </a:r>
            <a:r>
              <a:rPr lang="en-US" dirty="0"/>
              <a:t> pricing, offering flexibility, scalability, and cost efficiency.</a:t>
            </a:r>
          </a:p>
          <a:p>
            <a:r>
              <a:rPr lang="en-US" dirty="0"/>
              <a:t> It enables access to powerful IT infrastructure and tools instantly, making it ideal for businesses of all sizes to innovate and grow without heavy upfront investments. </a:t>
            </a:r>
          </a:p>
        </p:txBody>
      </p:sp>
    </p:spTree>
    <p:extLst>
      <p:ext uri="{BB962C8B-B14F-4D97-AF65-F5344CB8AC3E}">
        <p14:creationId xmlns:p14="http://schemas.microsoft.com/office/powerpoint/2010/main" val="2901336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Evolution of Cloud Computing">
            <a:extLst>
              <a:ext uri="{FF2B5EF4-FFF2-40B4-BE49-F238E27FC236}">
                <a16:creationId xmlns:a16="http://schemas.microsoft.com/office/drawing/2014/main" id="{A51EDA60-8875-468A-A741-09183F200435}"/>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998806" y="872197"/>
            <a:ext cx="10227212" cy="5985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1331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413CBC-F321-4C88-BB58-AA2D141F491A}"/>
              </a:ext>
            </a:extLst>
          </p:cNvPr>
          <p:cNvSpPr>
            <a:spLocks noGrp="1"/>
          </p:cNvSpPr>
          <p:nvPr>
            <p:ph type="title"/>
          </p:nvPr>
        </p:nvSpPr>
        <p:spPr>
          <a:xfrm>
            <a:off x="0" y="365125"/>
            <a:ext cx="11901268" cy="1325563"/>
          </a:xfrm>
        </p:spPr>
        <p:txBody>
          <a:bodyPr>
            <a:normAutofit/>
          </a:bodyPr>
          <a:lstStyle/>
          <a:p>
            <a:pPr algn="ctr"/>
            <a:r>
              <a:rPr lang="en-US" b="1" dirty="0"/>
              <a:t>System Models for Distributed and Cloud Computing </a:t>
            </a:r>
          </a:p>
        </p:txBody>
      </p:sp>
      <p:sp>
        <p:nvSpPr>
          <p:cNvPr id="5" name="Content Placeholder 4">
            <a:extLst>
              <a:ext uri="{FF2B5EF4-FFF2-40B4-BE49-F238E27FC236}">
                <a16:creationId xmlns:a16="http://schemas.microsoft.com/office/drawing/2014/main" id="{C3E7245D-4954-4E04-AA0C-348BC4C0FC2A}"/>
              </a:ext>
            </a:extLst>
          </p:cNvPr>
          <p:cNvSpPr>
            <a:spLocks noGrp="1"/>
          </p:cNvSpPr>
          <p:nvPr>
            <p:ph idx="1"/>
          </p:nvPr>
        </p:nvSpPr>
        <p:spPr/>
        <p:txBody>
          <a:bodyPr/>
          <a:lstStyle/>
          <a:p>
            <a:pPr marL="0" indent="0">
              <a:buNone/>
            </a:pPr>
            <a:r>
              <a:rPr lang="en-US" b="1" dirty="0"/>
              <a:t>1. Introduction to System Models</a:t>
            </a:r>
          </a:p>
          <a:p>
            <a:r>
              <a:rPr lang="en-US" dirty="0"/>
              <a:t>A </a:t>
            </a:r>
            <a:r>
              <a:rPr lang="en-US" b="1" dirty="0"/>
              <a:t>system model</a:t>
            </a:r>
            <a:r>
              <a:rPr lang="en-US" dirty="0"/>
              <a:t> defines how a distributed or cloud system is structured, how resources are organized, how nodes communicate, and how users see the system. According to </a:t>
            </a:r>
            <a:r>
              <a:rPr lang="en-US" b="1" dirty="0"/>
              <a:t>Kai Hwang</a:t>
            </a:r>
            <a:r>
              <a:rPr lang="en-US" dirty="0"/>
              <a:t>, system models help in:</a:t>
            </a:r>
          </a:p>
          <a:p>
            <a:r>
              <a:rPr lang="en-US" dirty="0"/>
              <a:t>Understanding distributed resource sharing</a:t>
            </a:r>
          </a:p>
          <a:p>
            <a:r>
              <a:rPr lang="en-US" dirty="0"/>
              <a:t>Designing scalable architectures</a:t>
            </a:r>
          </a:p>
          <a:p>
            <a:r>
              <a:rPr lang="en-US" dirty="0"/>
              <a:t>Managing computation, storage, and networking</a:t>
            </a:r>
          </a:p>
          <a:p>
            <a:r>
              <a:rPr lang="en-US" dirty="0"/>
              <a:t>Handling virtualization and cloud service delivery</a:t>
            </a:r>
          </a:p>
          <a:p>
            <a:endParaRPr lang="en-US" dirty="0"/>
          </a:p>
        </p:txBody>
      </p:sp>
    </p:spTree>
    <p:extLst>
      <p:ext uri="{BB962C8B-B14F-4D97-AF65-F5344CB8AC3E}">
        <p14:creationId xmlns:p14="http://schemas.microsoft.com/office/powerpoint/2010/main" val="2688517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22DE1-7D84-9912-4568-880B8D0C0C01}"/>
              </a:ext>
            </a:extLst>
          </p:cNvPr>
          <p:cNvSpPr>
            <a:spLocks noGrp="1"/>
          </p:cNvSpPr>
          <p:nvPr>
            <p:ph type="title"/>
          </p:nvPr>
        </p:nvSpPr>
        <p:spPr>
          <a:xfrm>
            <a:off x="838200" y="365125"/>
            <a:ext cx="10515600" cy="746223"/>
          </a:xfrm>
        </p:spPr>
        <p:txBody>
          <a:bodyPr>
            <a:normAutofit fontScale="90000"/>
          </a:bodyPr>
          <a:lstStyle/>
          <a:p>
            <a:r>
              <a:rPr lang="en-US" sz="4000" b="1" dirty="0">
                <a:solidFill>
                  <a:srgbClr val="000000"/>
                </a:solidFill>
                <a:effectLst/>
                <a:latin typeface="Times New Roman" panose="02020603050405020304" pitchFamily="18" charset="0"/>
                <a:ea typeface="Times New Roman" panose="02020603050405020304" pitchFamily="18" charset="0"/>
              </a:rPr>
              <a:t>System Model Classification</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4" name="Content Placeholder 3">
            <a:extLst>
              <a:ext uri="{FF2B5EF4-FFF2-40B4-BE49-F238E27FC236}">
                <a16:creationId xmlns:a16="http://schemas.microsoft.com/office/drawing/2014/main" id="{6373DE65-BBF4-4A48-ACB0-B4B39E68398B}"/>
              </a:ext>
            </a:extLst>
          </p:cNvPr>
          <p:cNvSpPr>
            <a:spLocks noGrp="1"/>
          </p:cNvSpPr>
          <p:nvPr>
            <p:ph idx="1"/>
          </p:nvPr>
        </p:nvSpPr>
        <p:spPr>
          <a:xfrm>
            <a:off x="838200" y="1294228"/>
            <a:ext cx="10515600" cy="5444197"/>
          </a:xfrm>
        </p:spPr>
        <p:txBody>
          <a:bodyPr>
            <a:normAutofit/>
          </a:bodyPr>
          <a:lstStyle/>
          <a:p>
            <a:pPr marL="0" indent="0">
              <a:buNone/>
            </a:pPr>
            <a:r>
              <a:rPr lang="en-US" dirty="0"/>
              <a:t>System models are grouped into:</a:t>
            </a:r>
          </a:p>
          <a:p>
            <a:pPr marL="514350" indent="-514350">
              <a:buFont typeface="+mj-lt"/>
              <a:buAutoNum type="arabicPeriod"/>
            </a:pPr>
            <a:r>
              <a:rPr lang="en-US" b="1" dirty="0"/>
              <a:t>Computing Models</a:t>
            </a:r>
            <a:endParaRPr lang="en-US" dirty="0"/>
          </a:p>
          <a:p>
            <a:pPr marL="514350" indent="-514350">
              <a:buFont typeface="+mj-lt"/>
              <a:buAutoNum type="arabicPeriod"/>
            </a:pPr>
            <a:r>
              <a:rPr lang="en-US" b="1" dirty="0"/>
              <a:t>Memory/Storage Models</a:t>
            </a:r>
            <a:endParaRPr lang="en-US" dirty="0"/>
          </a:p>
          <a:p>
            <a:pPr marL="514350" indent="-514350">
              <a:buFont typeface="+mj-lt"/>
              <a:buAutoNum type="arabicPeriod"/>
            </a:pPr>
            <a:r>
              <a:rPr lang="en-US" b="1" dirty="0"/>
              <a:t>Communication Models</a:t>
            </a:r>
            <a:endParaRPr lang="en-US" dirty="0"/>
          </a:p>
          <a:p>
            <a:pPr marL="514350" indent="-514350">
              <a:buFont typeface="+mj-lt"/>
              <a:buAutoNum type="arabicPeriod"/>
            </a:pPr>
            <a:r>
              <a:rPr lang="en-US" b="1" dirty="0"/>
              <a:t>Process Models-(Synchronous model and Asynchronous model)</a:t>
            </a:r>
            <a:endParaRPr lang="en-US" dirty="0"/>
          </a:p>
          <a:p>
            <a:pPr marL="514350" indent="-514350">
              <a:buFont typeface="+mj-lt"/>
              <a:buAutoNum type="arabicPeriod"/>
            </a:pPr>
            <a:r>
              <a:rPr lang="en-US" b="1" dirty="0"/>
              <a:t>Virtualization Models</a:t>
            </a:r>
            <a:endParaRPr lang="en-US" dirty="0"/>
          </a:p>
          <a:p>
            <a:pPr marL="514350" indent="-514350">
              <a:buFont typeface="+mj-lt"/>
              <a:buAutoNum type="arabicPeriod"/>
            </a:pPr>
            <a:r>
              <a:rPr lang="en-US" b="1" dirty="0"/>
              <a:t>Cloud Service Models</a:t>
            </a:r>
            <a:endParaRPr lang="en-US" dirty="0"/>
          </a:p>
          <a:p>
            <a:pPr marL="514350" indent="-514350">
              <a:buFont typeface="+mj-lt"/>
              <a:buAutoNum type="arabicPeriod"/>
            </a:pPr>
            <a:r>
              <a:rPr lang="en-US" b="1" dirty="0"/>
              <a:t>Deployment Models</a:t>
            </a:r>
            <a:endParaRPr lang="en-US" dirty="0"/>
          </a:p>
          <a:p>
            <a:pPr marL="0" indent="0">
              <a:buNone/>
            </a:pPr>
            <a:endParaRPr lang="en-US" dirty="0"/>
          </a:p>
        </p:txBody>
      </p:sp>
    </p:spTree>
    <p:extLst>
      <p:ext uri="{BB962C8B-B14F-4D97-AF65-F5344CB8AC3E}">
        <p14:creationId xmlns:p14="http://schemas.microsoft.com/office/powerpoint/2010/main" val="400169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67954-6D8D-4989-9764-7D86905EFD1E}"/>
              </a:ext>
            </a:extLst>
          </p:cNvPr>
          <p:cNvSpPr>
            <a:spLocks noGrp="1"/>
          </p:cNvSpPr>
          <p:nvPr>
            <p:ph type="title"/>
          </p:nvPr>
        </p:nvSpPr>
        <p:spPr>
          <a:xfrm>
            <a:off x="838200" y="365125"/>
            <a:ext cx="10515600" cy="718087"/>
          </a:xfrm>
        </p:spPr>
        <p:txBody>
          <a:bodyPr>
            <a:normAutofit fontScale="90000"/>
          </a:bodyPr>
          <a:lstStyle/>
          <a:p>
            <a:r>
              <a:rPr lang="en-US" sz="2800" b="1" dirty="0"/>
              <a:t>Parallel Computing Model</a:t>
            </a:r>
            <a:br>
              <a:rPr lang="en-US" sz="2800" b="1" dirty="0"/>
            </a:br>
            <a:endParaRPr lang="en-US" sz="2700" dirty="0"/>
          </a:p>
        </p:txBody>
      </p:sp>
      <p:sp>
        <p:nvSpPr>
          <p:cNvPr id="3" name="Content Placeholder 2">
            <a:extLst>
              <a:ext uri="{FF2B5EF4-FFF2-40B4-BE49-F238E27FC236}">
                <a16:creationId xmlns:a16="http://schemas.microsoft.com/office/drawing/2014/main" id="{63F63BF2-E624-45D1-9D84-309C2F6E5939}"/>
              </a:ext>
            </a:extLst>
          </p:cNvPr>
          <p:cNvSpPr>
            <a:spLocks noGrp="1"/>
          </p:cNvSpPr>
          <p:nvPr>
            <p:ph idx="1"/>
          </p:nvPr>
        </p:nvSpPr>
        <p:spPr>
          <a:xfrm>
            <a:off x="838200" y="829994"/>
            <a:ext cx="10515600" cy="6028006"/>
          </a:xfrm>
        </p:spPr>
        <p:txBody>
          <a:bodyPr>
            <a:normAutofit/>
          </a:bodyPr>
          <a:lstStyle/>
          <a:p>
            <a:r>
              <a:rPr lang="en-US" dirty="0"/>
              <a:t>Multiple processors execute tasks </a:t>
            </a:r>
            <a:r>
              <a:rPr lang="en-US" b="1" dirty="0"/>
              <a:t>simultaneously</a:t>
            </a:r>
            <a:r>
              <a:rPr lang="en-US" dirty="0"/>
              <a:t>.</a:t>
            </a:r>
          </a:p>
          <a:p>
            <a:r>
              <a:rPr lang="en-US" dirty="0"/>
              <a:t>Goals: </a:t>
            </a:r>
            <a:r>
              <a:rPr lang="en-US" b="1" dirty="0"/>
              <a:t>Speedup</a:t>
            </a:r>
            <a:r>
              <a:rPr lang="en-US" dirty="0"/>
              <a:t>, </a:t>
            </a:r>
            <a:r>
              <a:rPr lang="en-US" b="1" dirty="0"/>
              <a:t>High performance</a:t>
            </a:r>
            <a:r>
              <a:rPr lang="en-US" dirty="0"/>
              <a:t>, </a:t>
            </a:r>
            <a:r>
              <a:rPr lang="en-US" b="1" dirty="0"/>
              <a:t>Throughput</a:t>
            </a:r>
            <a:r>
              <a:rPr lang="en-US" dirty="0"/>
              <a:t>.</a:t>
            </a:r>
          </a:p>
          <a:p>
            <a:r>
              <a:rPr lang="en-US" dirty="0"/>
              <a:t>Used in HPC(High Performance computing) and scientific applications.</a:t>
            </a:r>
          </a:p>
          <a:p>
            <a:r>
              <a:rPr lang="en-US" dirty="0"/>
              <a:t>Based on:</a:t>
            </a:r>
          </a:p>
          <a:p>
            <a:pPr lvl="1"/>
            <a:r>
              <a:rPr lang="en-US" b="1" dirty="0"/>
              <a:t>Shared Memory Systems</a:t>
            </a:r>
            <a:endParaRPr lang="en-US" dirty="0"/>
          </a:p>
          <a:p>
            <a:pPr lvl="1"/>
            <a:r>
              <a:rPr lang="en-US" b="1" dirty="0"/>
              <a:t>Distributed Memory Systems</a:t>
            </a:r>
            <a:endParaRPr lang="en-US" dirty="0"/>
          </a:p>
          <a:p>
            <a:pPr lvl="1"/>
            <a:r>
              <a:rPr lang="en-US" b="1" dirty="0"/>
              <a:t>Hybrid Systems</a:t>
            </a:r>
            <a:endParaRPr lang="en-US" dirty="0"/>
          </a:p>
          <a:p>
            <a:r>
              <a:rPr lang="en-US" b="1" dirty="0"/>
              <a:t>Examples:</a:t>
            </a:r>
          </a:p>
          <a:p>
            <a:r>
              <a:rPr lang="en-US" dirty="0"/>
              <a:t>Supercomputers (Cray, IBM </a:t>
            </a:r>
            <a:r>
              <a:rPr lang="en-US" dirty="0" err="1"/>
              <a:t>BlueGene</a:t>
            </a:r>
            <a:r>
              <a:rPr lang="en-US" dirty="0"/>
              <a:t>)</a:t>
            </a:r>
          </a:p>
          <a:p>
            <a:r>
              <a:rPr lang="en-US" dirty="0"/>
              <a:t>GPUs (parallel cores)</a:t>
            </a:r>
          </a:p>
          <a:p>
            <a:endParaRPr lang="en-US" dirty="0"/>
          </a:p>
        </p:txBody>
      </p:sp>
    </p:spTree>
    <p:extLst>
      <p:ext uri="{BB962C8B-B14F-4D97-AF65-F5344CB8AC3E}">
        <p14:creationId xmlns:p14="http://schemas.microsoft.com/office/powerpoint/2010/main" val="1037904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DF9DB-0BAE-4479-ADF6-3144BF64D40B}"/>
              </a:ext>
            </a:extLst>
          </p:cNvPr>
          <p:cNvSpPr>
            <a:spLocks noGrp="1"/>
          </p:cNvSpPr>
          <p:nvPr>
            <p:ph type="title"/>
          </p:nvPr>
        </p:nvSpPr>
        <p:spPr>
          <a:xfrm>
            <a:off x="838200" y="365126"/>
            <a:ext cx="10515600" cy="943170"/>
          </a:xfrm>
        </p:spPr>
        <p:txBody>
          <a:bodyPr>
            <a:normAutofit/>
          </a:bodyPr>
          <a:lstStyle/>
          <a:p>
            <a:r>
              <a:rPr lang="en-US" sz="2400" b="1" dirty="0"/>
              <a:t>Distributed Computing Model</a:t>
            </a:r>
            <a:br>
              <a:rPr lang="en-US" sz="2400" b="1" dirty="0"/>
            </a:br>
            <a:endParaRPr lang="en-US"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88BF489-31B4-4AF7-8D2B-253EDCFCC18D}"/>
              </a:ext>
            </a:extLst>
          </p:cNvPr>
          <p:cNvSpPr>
            <a:spLocks noGrp="1"/>
          </p:cNvSpPr>
          <p:nvPr>
            <p:ph idx="1"/>
          </p:nvPr>
        </p:nvSpPr>
        <p:spPr>
          <a:xfrm>
            <a:off x="838200" y="1308296"/>
            <a:ext cx="10515600" cy="4868667"/>
          </a:xfrm>
        </p:spPr>
        <p:txBody>
          <a:bodyPr>
            <a:normAutofit fontScale="85000" lnSpcReduction="20000"/>
          </a:bodyPr>
          <a:lstStyle/>
          <a:p>
            <a:r>
              <a:rPr lang="en-US" dirty="0"/>
              <a:t>Here, computation is done on </a:t>
            </a:r>
            <a:r>
              <a:rPr lang="en-US" b="1" dirty="0"/>
              <a:t>autonomous networked computers</a:t>
            </a:r>
            <a:r>
              <a:rPr lang="en-US" dirty="0"/>
              <a:t>, cooperating to solve problems.</a:t>
            </a:r>
          </a:p>
          <a:p>
            <a:r>
              <a:rPr lang="en-US" b="1" dirty="0"/>
              <a:t>Key characteristics :</a:t>
            </a:r>
          </a:p>
          <a:p>
            <a:r>
              <a:rPr lang="en-US" dirty="0"/>
              <a:t>Heterogeneity</a:t>
            </a:r>
          </a:p>
          <a:p>
            <a:r>
              <a:rPr lang="en-US" dirty="0"/>
              <a:t>Independent operating systems</a:t>
            </a:r>
          </a:p>
          <a:p>
            <a:r>
              <a:rPr lang="en-US" dirty="0"/>
              <a:t>Geographical distribution</a:t>
            </a:r>
          </a:p>
          <a:p>
            <a:r>
              <a:rPr lang="en-US" dirty="0"/>
              <a:t>No shared clock or memory</a:t>
            </a:r>
          </a:p>
          <a:p>
            <a:r>
              <a:rPr lang="en-US" dirty="0"/>
              <a:t>Scalability and openness</a:t>
            </a:r>
          </a:p>
          <a:p>
            <a:r>
              <a:rPr lang="en-US" b="1" dirty="0"/>
              <a:t>Examples:</a:t>
            </a:r>
          </a:p>
          <a:p>
            <a:r>
              <a:rPr lang="en-US" dirty="0"/>
              <a:t>Internet applications</a:t>
            </a:r>
          </a:p>
          <a:p>
            <a:r>
              <a:rPr lang="en-US" dirty="0"/>
              <a:t>Distributed databases</a:t>
            </a:r>
          </a:p>
          <a:p>
            <a:r>
              <a:rPr lang="en-US" dirty="0"/>
              <a:t>Microservices-based systems</a:t>
            </a:r>
          </a:p>
          <a:p>
            <a:endParaRPr lang="en-US" dirty="0"/>
          </a:p>
        </p:txBody>
      </p:sp>
    </p:spTree>
    <p:extLst>
      <p:ext uri="{BB962C8B-B14F-4D97-AF65-F5344CB8AC3E}">
        <p14:creationId xmlns:p14="http://schemas.microsoft.com/office/powerpoint/2010/main" val="770950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FC338-C9C9-4B8F-94F0-3CA3241D56B4}"/>
              </a:ext>
            </a:extLst>
          </p:cNvPr>
          <p:cNvSpPr>
            <a:spLocks noGrp="1"/>
          </p:cNvSpPr>
          <p:nvPr>
            <p:ph type="title"/>
          </p:nvPr>
        </p:nvSpPr>
        <p:spPr>
          <a:xfrm>
            <a:off x="838200" y="-253217"/>
            <a:ext cx="10515600" cy="900332"/>
          </a:xfrm>
        </p:spPr>
        <p:txBody>
          <a:bodyPr>
            <a:normAutofit fontScale="90000"/>
          </a:bodyPr>
          <a:lstStyle/>
          <a:p>
            <a:br>
              <a:rPr lang="en-US" sz="2700" b="1" dirty="0"/>
            </a:br>
            <a:br>
              <a:rPr lang="en-US" sz="2700" b="1" dirty="0"/>
            </a:br>
            <a:r>
              <a:rPr lang="en-US" sz="2700" b="1" dirty="0"/>
              <a:t>Cluster Computing Model</a:t>
            </a:r>
            <a:br>
              <a:rPr lang="en-US" b="1" dirty="0"/>
            </a:br>
            <a:endParaRPr lang="en-US" dirty="0"/>
          </a:p>
        </p:txBody>
      </p:sp>
      <p:sp>
        <p:nvSpPr>
          <p:cNvPr id="3" name="Content Placeholder 2">
            <a:extLst>
              <a:ext uri="{FF2B5EF4-FFF2-40B4-BE49-F238E27FC236}">
                <a16:creationId xmlns:a16="http://schemas.microsoft.com/office/drawing/2014/main" id="{2987F484-D74E-4527-B4FF-A35E6D1B5C6B}"/>
              </a:ext>
            </a:extLst>
          </p:cNvPr>
          <p:cNvSpPr>
            <a:spLocks noGrp="1"/>
          </p:cNvSpPr>
          <p:nvPr>
            <p:ph idx="1"/>
          </p:nvPr>
        </p:nvSpPr>
        <p:spPr>
          <a:xfrm>
            <a:off x="838200" y="647114"/>
            <a:ext cx="10515600" cy="5529849"/>
          </a:xfrm>
        </p:spPr>
        <p:txBody>
          <a:bodyPr>
            <a:normAutofit fontScale="92500" lnSpcReduction="10000"/>
          </a:bodyPr>
          <a:lstStyle/>
          <a:p>
            <a:r>
              <a:rPr lang="en-US" dirty="0"/>
              <a:t>A cluster is a </a:t>
            </a:r>
            <a:r>
              <a:rPr lang="en-US" b="1" dirty="0"/>
              <a:t>tightly coupled</a:t>
            </a:r>
            <a:r>
              <a:rPr lang="en-US" dirty="0"/>
              <a:t> collection of computers working as a single system.</a:t>
            </a:r>
          </a:p>
          <a:p>
            <a:r>
              <a:rPr lang="en-US" b="1" dirty="0"/>
              <a:t>Features:</a:t>
            </a:r>
          </a:p>
          <a:p>
            <a:r>
              <a:rPr lang="en-US" dirty="0"/>
              <a:t>High-speed LAN</a:t>
            </a:r>
          </a:p>
          <a:p>
            <a:r>
              <a:rPr lang="en-US" dirty="0"/>
              <a:t>Single System Image (SSI)</a:t>
            </a:r>
          </a:p>
          <a:p>
            <a:r>
              <a:rPr lang="en-US" dirty="0"/>
              <a:t>Load balancing</a:t>
            </a:r>
          </a:p>
          <a:p>
            <a:r>
              <a:rPr lang="en-US" dirty="0"/>
              <a:t>High availability</a:t>
            </a:r>
          </a:p>
          <a:p>
            <a:r>
              <a:rPr lang="en-US" dirty="0"/>
              <a:t>Parallel execution</a:t>
            </a:r>
          </a:p>
          <a:p>
            <a:r>
              <a:rPr lang="en-US" b="1" dirty="0"/>
              <a:t>Use Cases:</a:t>
            </a:r>
          </a:p>
          <a:p>
            <a:r>
              <a:rPr lang="en-US" dirty="0"/>
              <a:t>HPC clusters</a:t>
            </a:r>
          </a:p>
          <a:p>
            <a:r>
              <a:rPr lang="en-US" dirty="0"/>
              <a:t>Campus server clusters</a:t>
            </a:r>
          </a:p>
          <a:p>
            <a:r>
              <a:rPr lang="en-US" dirty="0"/>
              <a:t>Cloud back-end clusters</a:t>
            </a:r>
          </a:p>
          <a:p>
            <a:endParaRPr lang="en-US" dirty="0"/>
          </a:p>
        </p:txBody>
      </p:sp>
    </p:spTree>
    <p:extLst>
      <p:ext uri="{BB962C8B-B14F-4D97-AF65-F5344CB8AC3E}">
        <p14:creationId xmlns:p14="http://schemas.microsoft.com/office/powerpoint/2010/main" val="2100083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09D81-3525-4B7C-9E40-86375E5B3618}"/>
              </a:ext>
            </a:extLst>
          </p:cNvPr>
          <p:cNvSpPr>
            <a:spLocks noGrp="1"/>
          </p:cNvSpPr>
          <p:nvPr>
            <p:ph type="title"/>
          </p:nvPr>
        </p:nvSpPr>
        <p:spPr>
          <a:xfrm>
            <a:off x="562708" y="365125"/>
            <a:ext cx="10791092" cy="732155"/>
          </a:xfrm>
        </p:spPr>
        <p:txBody>
          <a:bodyPr>
            <a:normAutofit fontScale="90000"/>
          </a:bodyPr>
          <a:lstStyle/>
          <a:p>
            <a:br>
              <a:rPr lang="en-US" b="1" dirty="0"/>
            </a:br>
            <a:r>
              <a:rPr lang="en-US" sz="3100" b="1" dirty="0"/>
              <a:t> Grid Computing Model</a:t>
            </a:r>
            <a:br>
              <a:rPr lang="en-US" b="1" dirty="0"/>
            </a:br>
            <a:endParaRPr lang="en-US" dirty="0"/>
          </a:p>
        </p:txBody>
      </p:sp>
      <p:sp>
        <p:nvSpPr>
          <p:cNvPr id="3" name="Content Placeholder 2">
            <a:extLst>
              <a:ext uri="{FF2B5EF4-FFF2-40B4-BE49-F238E27FC236}">
                <a16:creationId xmlns:a16="http://schemas.microsoft.com/office/drawing/2014/main" id="{CD98534A-5CEE-4F05-9326-5AE43037BE1D}"/>
              </a:ext>
            </a:extLst>
          </p:cNvPr>
          <p:cNvSpPr>
            <a:spLocks noGrp="1"/>
          </p:cNvSpPr>
          <p:nvPr>
            <p:ph idx="1"/>
          </p:nvPr>
        </p:nvSpPr>
        <p:spPr>
          <a:xfrm>
            <a:off x="154745" y="998806"/>
            <a:ext cx="11199055" cy="5859194"/>
          </a:xfrm>
        </p:spPr>
        <p:txBody>
          <a:bodyPr>
            <a:normAutofit/>
          </a:bodyPr>
          <a:lstStyle/>
          <a:p>
            <a:r>
              <a:rPr lang="en-US" dirty="0"/>
              <a:t>Grids are </a:t>
            </a:r>
            <a:r>
              <a:rPr lang="en-US" b="1" dirty="0"/>
              <a:t>loosely coupled</a:t>
            </a:r>
            <a:r>
              <a:rPr lang="en-US" dirty="0"/>
              <a:t>, geographically distributed systems that share resources across </a:t>
            </a:r>
            <a:r>
              <a:rPr lang="en-US" b="1" dirty="0"/>
              <a:t>multiple administrative domains</a:t>
            </a:r>
            <a:r>
              <a:rPr lang="en-US" dirty="0"/>
              <a:t>.</a:t>
            </a:r>
          </a:p>
          <a:p>
            <a:r>
              <a:rPr lang="en-US" b="1" dirty="0"/>
              <a:t>Key features:</a:t>
            </a:r>
          </a:p>
          <a:p>
            <a:r>
              <a:rPr lang="en-US" dirty="0"/>
              <a:t>Large-scale resource federation</a:t>
            </a:r>
          </a:p>
          <a:p>
            <a:r>
              <a:rPr lang="en-US" dirty="0"/>
              <a:t>Virtual organizations</a:t>
            </a:r>
          </a:p>
          <a:p>
            <a:r>
              <a:rPr lang="en-US" dirty="0"/>
              <a:t>High-throughput computing</a:t>
            </a:r>
          </a:p>
          <a:p>
            <a:r>
              <a:rPr lang="en-US" dirty="0"/>
              <a:t>Task scheduling and resource allocation</a:t>
            </a:r>
          </a:p>
          <a:p>
            <a:r>
              <a:rPr lang="en-US" b="1" dirty="0"/>
              <a:t>Examples:</a:t>
            </a:r>
          </a:p>
          <a:p>
            <a:r>
              <a:rPr lang="en-US" dirty="0"/>
              <a:t>NASA Earth Observing System</a:t>
            </a:r>
          </a:p>
          <a:p>
            <a:r>
              <a:rPr lang="en-US" dirty="0"/>
              <a:t>CERN LHC Grid</a:t>
            </a:r>
          </a:p>
          <a:p>
            <a:endParaRPr lang="en-US" dirty="0"/>
          </a:p>
        </p:txBody>
      </p:sp>
    </p:spTree>
    <p:extLst>
      <p:ext uri="{BB962C8B-B14F-4D97-AF65-F5344CB8AC3E}">
        <p14:creationId xmlns:p14="http://schemas.microsoft.com/office/powerpoint/2010/main" val="2580125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6DE20-A6D3-403C-A2B1-A7C2BA232C27}"/>
              </a:ext>
            </a:extLst>
          </p:cNvPr>
          <p:cNvSpPr>
            <a:spLocks noGrp="1"/>
          </p:cNvSpPr>
          <p:nvPr>
            <p:ph type="title"/>
          </p:nvPr>
        </p:nvSpPr>
        <p:spPr>
          <a:xfrm>
            <a:off x="838200" y="365125"/>
            <a:ext cx="10515600" cy="746223"/>
          </a:xfrm>
        </p:spPr>
        <p:txBody>
          <a:bodyPr>
            <a:normAutofit fontScale="90000"/>
          </a:bodyPr>
          <a:lstStyle/>
          <a:p>
            <a:br>
              <a:rPr lang="en-US" sz="2700" dirty="0"/>
            </a:br>
            <a:br>
              <a:rPr lang="en-US" sz="2700" dirty="0"/>
            </a:br>
            <a:r>
              <a:rPr lang="en-US" sz="2700" dirty="0"/>
              <a:t>Architectural (Physical) Models Defines the </a:t>
            </a:r>
            <a:r>
              <a:rPr lang="en-US" sz="2700" b="1" dirty="0"/>
              <a:t>physical organization</a:t>
            </a:r>
            <a:r>
              <a:rPr lang="en-US" sz="2700" dirty="0"/>
              <a:t> of hardware and servers</a:t>
            </a:r>
            <a:r>
              <a:rPr lang="en-US" dirty="0"/>
              <a:t>.</a:t>
            </a:r>
            <a:br>
              <a:rPr lang="en-US" dirty="0"/>
            </a:br>
            <a:endParaRPr lang="en-US" dirty="0"/>
          </a:p>
        </p:txBody>
      </p:sp>
      <p:sp>
        <p:nvSpPr>
          <p:cNvPr id="3" name="Content Placeholder 2">
            <a:extLst>
              <a:ext uri="{FF2B5EF4-FFF2-40B4-BE49-F238E27FC236}">
                <a16:creationId xmlns:a16="http://schemas.microsoft.com/office/drawing/2014/main" id="{5C56A7FB-6812-446B-92D5-21392AB5843C}"/>
              </a:ext>
            </a:extLst>
          </p:cNvPr>
          <p:cNvSpPr>
            <a:spLocks noGrp="1"/>
          </p:cNvSpPr>
          <p:nvPr>
            <p:ph idx="1"/>
          </p:nvPr>
        </p:nvSpPr>
        <p:spPr>
          <a:xfrm>
            <a:off x="838200" y="1448972"/>
            <a:ext cx="10515600" cy="4727991"/>
          </a:xfrm>
        </p:spPr>
        <p:txBody>
          <a:bodyPr>
            <a:normAutofit lnSpcReduction="10000"/>
          </a:bodyPr>
          <a:lstStyle/>
          <a:p>
            <a:r>
              <a:rPr lang="en-US" b="1" dirty="0"/>
              <a:t>Peer-to-Peer (P2P) Model</a:t>
            </a:r>
          </a:p>
          <a:p>
            <a:r>
              <a:rPr lang="en-US" dirty="0"/>
              <a:t>In P2P systems, every node is equally powerful and functions as both </a:t>
            </a:r>
            <a:r>
              <a:rPr lang="en-US" b="1" dirty="0"/>
              <a:t>client and server</a:t>
            </a:r>
            <a:r>
              <a:rPr lang="en-US" dirty="0"/>
              <a:t>.</a:t>
            </a:r>
          </a:p>
          <a:p>
            <a:r>
              <a:rPr lang="en-US" b="1" dirty="0"/>
              <a:t>Features:</a:t>
            </a:r>
          </a:p>
          <a:p>
            <a:r>
              <a:rPr lang="en-US" dirty="0"/>
              <a:t>Decentralized control</a:t>
            </a:r>
          </a:p>
          <a:p>
            <a:r>
              <a:rPr lang="en-US" dirty="0"/>
              <a:t>Self-scalability</a:t>
            </a:r>
          </a:p>
          <a:p>
            <a:r>
              <a:rPr lang="en-US" dirty="0"/>
              <a:t>Fault tolerant</a:t>
            </a:r>
          </a:p>
          <a:p>
            <a:r>
              <a:rPr lang="en-US" b="1" dirty="0"/>
              <a:t>Examples:</a:t>
            </a:r>
          </a:p>
          <a:p>
            <a:r>
              <a:rPr lang="en-US" dirty="0"/>
              <a:t>BitTorrent</a:t>
            </a:r>
          </a:p>
          <a:p>
            <a:r>
              <a:rPr lang="en-US" dirty="0"/>
              <a:t>Blockchain networks</a:t>
            </a:r>
          </a:p>
          <a:p>
            <a:endParaRPr lang="en-US" dirty="0"/>
          </a:p>
        </p:txBody>
      </p:sp>
    </p:spTree>
    <p:extLst>
      <p:ext uri="{BB962C8B-B14F-4D97-AF65-F5344CB8AC3E}">
        <p14:creationId xmlns:p14="http://schemas.microsoft.com/office/powerpoint/2010/main" val="2544130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8B237-1234-4D24-B745-3731F549B4CD}"/>
              </a:ext>
            </a:extLst>
          </p:cNvPr>
          <p:cNvSpPr>
            <a:spLocks noGrp="1"/>
          </p:cNvSpPr>
          <p:nvPr>
            <p:ph type="title"/>
          </p:nvPr>
        </p:nvSpPr>
        <p:spPr>
          <a:xfrm>
            <a:off x="838200" y="365126"/>
            <a:ext cx="10515600" cy="872832"/>
          </a:xfrm>
        </p:spPr>
        <p:txBody>
          <a:bodyPr>
            <a:normAutofit fontScale="90000"/>
          </a:bodyPr>
          <a:lstStyle/>
          <a:p>
            <a:br>
              <a:rPr lang="en-US" sz="3100" dirty="0"/>
            </a:br>
            <a:r>
              <a:rPr lang="en-US" sz="3200" b="1" dirty="0"/>
              <a:t>Client–Server Architecture model</a:t>
            </a:r>
            <a:br>
              <a:rPr lang="en-US" sz="3200" b="1" dirty="0"/>
            </a:br>
            <a:endParaRPr lang="en-US" dirty="0"/>
          </a:p>
        </p:txBody>
      </p:sp>
      <p:sp>
        <p:nvSpPr>
          <p:cNvPr id="3" name="Content Placeholder 2">
            <a:extLst>
              <a:ext uri="{FF2B5EF4-FFF2-40B4-BE49-F238E27FC236}">
                <a16:creationId xmlns:a16="http://schemas.microsoft.com/office/drawing/2014/main" id="{7F171CBE-700A-4534-B44D-BD16A1B2E6D6}"/>
              </a:ext>
            </a:extLst>
          </p:cNvPr>
          <p:cNvSpPr>
            <a:spLocks noGrp="1"/>
          </p:cNvSpPr>
          <p:nvPr>
            <p:ph idx="1"/>
          </p:nvPr>
        </p:nvSpPr>
        <p:spPr>
          <a:xfrm>
            <a:off x="838200" y="1237958"/>
            <a:ext cx="10515600" cy="4939005"/>
          </a:xfrm>
        </p:spPr>
        <p:txBody>
          <a:bodyPr/>
          <a:lstStyle/>
          <a:p>
            <a:r>
              <a:rPr lang="en-US" dirty="0"/>
              <a:t>Clients send requests.</a:t>
            </a:r>
          </a:p>
          <a:p>
            <a:r>
              <a:rPr lang="en-US" dirty="0"/>
              <a:t>Servers process and respond.</a:t>
            </a:r>
          </a:p>
          <a:p>
            <a:r>
              <a:rPr lang="en-US" dirty="0"/>
              <a:t>Server types:</a:t>
            </a:r>
          </a:p>
          <a:p>
            <a:pPr lvl="1"/>
            <a:r>
              <a:rPr lang="en-US" dirty="0"/>
              <a:t>File servers</a:t>
            </a:r>
          </a:p>
          <a:p>
            <a:pPr lvl="1"/>
            <a:r>
              <a:rPr lang="en-US" dirty="0"/>
              <a:t>Web servers</a:t>
            </a:r>
          </a:p>
          <a:p>
            <a:pPr lvl="1"/>
            <a:r>
              <a:rPr lang="en-US" dirty="0"/>
              <a:t>Application servers</a:t>
            </a:r>
          </a:p>
          <a:p>
            <a:r>
              <a:rPr lang="en-US" b="1" dirty="0"/>
              <a:t>Example:</a:t>
            </a:r>
          </a:p>
          <a:p>
            <a:r>
              <a:rPr lang="en-US" dirty="0"/>
              <a:t>Database server + multiple clients</a:t>
            </a:r>
          </a:p>
          <a:p>
            <a:endParaRPr lang="en-US" dirty="0"/>
          </a:p>
        </p:txBody>
      </p:sp>
    </p:spTree>
    <p:extLst>
      <p:ext uri="{BB962C8B-B14F-4D97-AF65-F5344CB8AC3E}">
        <p14:creationId xmlns:p14="http://schemas.microsoft.com/office/powerpoint/2010/main" val="3410059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CD0CC-91A1-43CE-B4D4-C8FC76BDC211}"/>
              </a:ext>
            </a:extLst>
          </p:cNvPr>
          <p:cNvSpPr>
            <a:spLocks noGrp="1"/>
          </p:cNvSpPr>
          <p:nvPr>
            <p:ph type="title"/>
          </p:nvPr>
        </p:nvSpPr>
        <p:spPr/>
        <p:txBody>
          <a:bodyPr/>
          <a:lstStyle/>
          <a:p>
            <a:r>
              <a:rPr lang="en-US" b="1" dirty="0"/>
              <a:t>Multi-tier Architecture</a:t>
            </a:r>
            <a:br>
              <a:rPr lang="en-US" b="1" dirty="0"/>
            </a:br>
            <a:endParaRPr lang="en-US" dirty="0"/>
          </a:p>
        </p:txBody>
      </p:sp>
      <p:sp>
        <p:nvSpPr>
          <p:cNvPr id="3" name="Content Placeholder 2">
            <a:extLst>
              <a:ext uri="{FF2B5EF4-FFF2-40B4-BE49-F238E27FC236}">
                <a16:creationId xmlns:a16="http://schemas.microsoft.com/office/drawing/2014/main" id="{5734B425-BA57-421B-BE91-CEF2213F8C2D}"/>
              </a:ext>
            </a:extLst>
          </p:cNvPr>
          <p:cNvSpPr>
            <a:spLocks noGrp="1"/>
          </p:cNvSpPr>
          <p:nvPr>
            <p:ph idx="1"/>
          </p:nvPr>
        </p:nvSpPr>
        <p:spPr/>
        <p:txBody>
          <a:bodyPr>
            <a:normAutofit lnSpcReduction="10000"/>
          </a:bodyPr>
          <a:lstStyle/>
          <a:p>
            <a:r>
              <a:rPr lang="en-US" dirty="0"/>
              <a:t>Systems are divided into layers:</a:t>
            </a:r>
          </a:p>
          <a:p>
            <a:r>
              <a:rPr lang="en-US" b="1" dirty="0"/>
              <a:t>3 layers include:</a:t>
            </a:r>
          </a:p>
          <a:p>
            <a:r>
              <a:rPr lang="en-US" b="1" dirty="0"/>
              <a:t>Presentation layer</a:t>
            </a:r>
            <a:r>
              <a:rPr lang="en-US" dirty="0"/>
              <a:t> (UI)</a:t>
            </a:r>
          </a:p>
          <a:p>
            <a:r>
              <a:rPr lang="en-US" b="1" dirty="0"/>
              <a:t>Application layer</a:t>
            </a:r>
            <a:r>
              <a:rPr lang="en-US" dirty="0"/>
              <a:t> (business logic)</a:t>
            </a:r>
          </a:p>
          <a:p>
            <a:r>
              <a:rPr lang="en-US" b="1" dirty="0"/>
              <a:t>Database layer</a:t>
            </a:r>
            <a:r>
              <a:rPr lang="en-US" dirty="0"/>
              <a:t> (storage)</a:t>
            </a:r>
          </a:p>
          <a:p>
            <a:r>
              <a:rPr lang="en-US" b="1" dirty="0"/>
              <a:t>Advantages:</a:t>
            </a:r>
          </a:p>
          <a:p>
            <a:r>
              <a:rPr lang="en-US" dirty="0"/>
              <a:t>Clear separation of concerns</a:t>
            </a:r>
          </a:p>
          <a:p>
            <a:r>
              <a:rPr lang="en-US" dirty="0"/>
              <a:t>Easy scalability</a:t>
            </a:r>
          </a:p>
          <a:p>
            <a:r>
              <a:rPr lang="en-US" dirty="0"/>
              <a:t>Better security</a:t>
            </a:r>
          </a:p>
          <a:p>
            <a:endParaRPr lang="en-US" dirty="0"/>
          </a:p>
        </p:txBody>
      </p:sp>
    </p:spTree>
    <p:extLst>
      <p:ext uri="{BB962C8B-B14F-4D97-AF65-F5344CB8AC3E}">
        <p14:creationId xmlns:p14="http://schemas.microsoft.com/office/powerpoint/2010/main" val="2486925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29C01-2898-4C98-B716-ACD4A37C4378}"/>
              </a:ext>
            </a:extLst>
          </p:cNvPr>
          <p:cNvSpPr>
            <a:spLocks noGrp="1"/>
          </p:cNvSpPr>
          <p:nvPr>
            <p:ph type="title"/>
          </p:nvPr>
        </p:nvSpPr>
        <p:spPr>
          <a:xfrm>
            <a:off x="838200" y="239152"/>
            <a:ext cx="10515600" cy="1195754"/>
          </a:xfrm>
        </p:spPr>
        <p:txBody>
          <a:bodyPr>
            <a:normAutofit fontScale="90000"/>
          </a:bodyPr>
          <a:lstStyle/>
          <a:p>
            <a:br>
              <a:rPr lang="en-US" dirty="0"/>
            </a:br>
            <a:br>
              <a:rPr lang="en-US" dirty="0"/>
            </a:br>
            <a:r>
              <a:rPr lang="en-US" dirty="0"/>
              <a:t>Communication Models-Defines how distributed nodes communicate.</a:t>
            </a:r>
            <a:br>
              <a:rPr lang="en-US" dirty="0"/>
            </a:br>
            <a:br>
              <a:rPr lang="en-US" dirty="0"/>
            </a:br>
            <a:endParaRPr lang="en-US" dirty="0"/>
          </a:p>
        </p:txBody>
      </p:sp>
      <p:sp>
        <p:nvSpPr>
          <p:cNvPr id="3" name="Content Placeholder 2">
            <a:extLst>
              <a:ext uri="{FF2B5EF4-FFF2-40B4-BE49-F238E27FC236}">
                <a16:creationId xmlns:a16="http://schemas.microsoft.com/office/drawing/2014/main" id="{9B35B2AC-09D8-4D01-B31E-925E060998DB}"/>
              </a:ext>
            </a:extLst>
          </p:cNvPr>
          <p:cNvSpPr>
            <a:spLocks noGrp="1"/>
          </p:cNvSpPr>
          <p:nvPr>
            <p:ph idx="1"/>
          </p:nvPr>
        </p:nvSpPr>
        <p:spPr/>
        <p:txBody>
          <a:bodyPr/>
          <a:lstStyle/>
          <a:p>
            <a:r>
              <a:rPr lang="en-US" dirty="0"/>
              <a:t>Message Passing Model</a:t>
            </a:r>
          </a:p>
          <a:p>
            <a:r>
              <a:rPr lang="en-US" dirty="0"/>
              <a:t>Remote Procedure Call (RPC) Model</a:t>
            </a:r>
          </a:p>
          <a:p>
            <a:r>
              <a:rPr lang="en-US" dirty="0"/>
              <a:t>Remote Method Invocation (RMI)</a:t>
            </a:r>
          </a:p>
          <a:p>
            <a:r>
              <a:rPr lang="en-US" dirty="0"/>
              <a:t>Publish–Subscribe Model</a:t>
            </a:r>
          </a:p>
        </p:txBody>
      </p:sp>
    </p:spTree>
    <p:extLst>
      <p:ext uri="{BB962C8B-B14F-4D97-AF65-F5344CB8AC3E}">
        <p14:creationId xmlns:p14="http://schemas.microsoft.com/office/powerpoint/2010/main" val="2201282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C7F83-37F1-4759-952B-687A18003079}"/>
              </a:ext>
            </a:extLst>
          </p:cNvPr>
          <p:cNvSpPr>
            <a:spLocks noGrp="1"/>
          </p:cNvSpPr>
          <p:nvPr>
            <p:ph type="title"/>
          </p:nvPr>
        </p:nvSpPr>
        <p:spPr>
          <a:xfrm>
            <a:off x="838200" y="365126"/>
            <a:ext cx="10515600" cy="872832"/>
          </a:xfrm>
        </p:spPr>
        <p:txBody>
          <a:bodyPr/>
          <a:lstStyle/>
          <a:p>
            <a:r>
              <a:rPr lang="en-US" dirty="0"/>
              <a:t>INTERNET CLOUDS</a:t>
            </a:r>
          </a:p>
        </p:txBody>
      </p:sp>
      <p:pic>
        <p:nvPicPr>
          <p:cNvPr id="4" name="Content Placeholder 3">
            <a:extLst>
              <a:ext uri="{FF2B5EF4-FFF2-40B4-BE49-F238E27FC236}">
                <a16:creationId xmlns:a16="http://schemas.microsoft.com/office/drawing/2014/main" id="{160E1604-D8C7-4B1C-875F-EB83E682414F}"/>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62709" y="1237958"/>
            <a:ext cx="10086534" cy="5373857"/>
          </a:xfrm>
          <a:prstGeom prst="rect">
            <a:avLst/>
          </a:prstGeom>
          <a:noFill/>
          <a:ln>
            <a:noFill/>
          </a:ln>
        </p:spPr>
      </p:pic>
    </p:spTree>
    <p:extLst>
      <p:ext uri="{BB962C8B-B14F-4D97-AF65-F5344CB8AC3E}">
        <p14:creationId xmlns:p14="http://schemas.microsoft.com/office/powerpoint/2010/main" val="3326972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59CA0-3235-41BC-AAFF-892E71D42137}"/>
              </a:ext>
            </a:extLst>
          </p:cNvPr>
          <p:cNvSpPr>
            <a:spLocks noGrp="1"/>
          </p:cNvSpPr>
          <p:nvPr>
            <p:ph type="title"/>
          </p:nvPr>
        </p:nvSpPr>
        <p:spPr>
          <a:xfrm>
            <a:off x="838200" y="365127"/>
            <a:ext cx="10515600" cy="352326"/>
          </a:xfrm>
        </p:spPr>
        <p:txBody>
          <a:bodyPr>
            <a:normAutofit fontScale="90000"/>
          </a:bodyPr>
          <a:lstStyle/>
          <a:p>
            <a:r>
              <a:rPr lang="en-US" dirty="0"/>
              <a:t>CLOUD SERVICE MODELS</a:t>
            </a:r>
          </a:p>
        </p:txBody>
      </p:sp>
      <p:sp>
        <p:nvSpPr>
          <p:cNvPr id="3" name="Content Placeholder 2">
            <a:extLst>
              <a:ext uri="{FF2B5EF4-FFF2-40B4-BE49-F238E27FC236}">
                <a16:creationId xmlns:a16="http://schemas.microsoft.com/office/drawing/2014/main" id="{FB1889C5-6F4A-404E-9306-AA6BD637A7FC}"/>
              </a:ext>
            </a:extLst>
          </p:cNvPr>
          <p:cNvSpPr>
            <a:spLocks noGrp="1"/>
          </p:cNvSpPr>
          <p:nvPr>
            <p:ph idx="1"/>
          </p:nvPr>
        </p:nvSpPr>
        <p:spPr>
          <a:xfrm>
            <a:off x="422032" y="998806"/>
            <a:ext cx="11605845" cy="5494067"/>
          </a:xfrm>
        </p:spPr>
        <p:txBody>
          <a:bodyPr>
            <a:normAutofit lnSpcReduction="10000"/>
          </a:bodyPr>
          <a:lstStyle/>
          <a:p>
            <a:pPr marL="0" indent="0">
              <a:buNone/>
            </a:pPr>
            <a:r>
              <a:rPr lang="en-US" dirty="0"/>
              <a:t>Infrastructure as a Service(</a:t>
            </a:r>
            <a:r>
              <a:rPr lang="en-US" dirty="0" err="1"/>
              <a:t>Iaas</a:t>
            </a:r>
            <a:r>
              <a:rPr lang="en-US" dirty="0"/>
              <a:t>)</a:t>
            </a:r>
          </a:p>
          <a:p>
            <a:pPr marL="0" indent="0">
              <a:buNone/>
            </a:pPr>
            <a:r>
              <a:rPr lang="en-US" dirty="0"/>
              <a:t>This model puts together infrastructures demanded by users—namely </a:t>
            </a:r>
            <a:r>
              <a:rPr lang="en-US" dirty="0">
                <a:solidFill>
                  <a:srgbClr val="FF0000"/>
                </a:solidFill>
              </a:rPr>
              <a:t>servers, storage, networks, and the data center fabric</a:t>
            </a:r>
            <a:r>
              <a:rPr lang="en-US" dirty="0"/>
              <a:t>. The user can deploy and run on multiple VMs running guest OSes on specific applications. The user does not manage or control the underlying cloud infrastructure, but can specify when to request and release the needed resources.</a:t>
            </a:r>
          </a:p>
          <a:p>
            <a:pPr marL="0" indent="0">
              <a:buNone/>
            </a:pPr>
            <a:r>
              <a:rPr lang="en-US" dirty="0"/>
              <a:t>Software as a Service(</a:t>
            </a:r>
            <a:r>
              <a:rPr lang="en-US" dirty="0" err="1"/>
              <a:t>Saas</a:t>
            </a:r>
            <a:r>
              <a:rPr lang="en-US" dirty="0"/>
              <a:t>)</a:t>
            </a:r>
          </a:p>
          <a:p>
            <a:pPr marL="0" indent="0">
              <a:buNone/>
            </a:pPr>
            <a:r>
              <a:rPr lang="en-US" dirty="0"/>
              <a:t>This refers to browser-initiated application software over thousands of paid cloud customers. The SaaS model applies to business processes, industry applications, consumer relationship management (CRM), enterprise resources planning (ERP), human resources (HR), and collaborative applications. On the customer side, there is no upfront investment in servers or software licensing. On the provider side, costs are rather low, compared with conventional hosting of user applications.</a:t>
            </a:r>
          </a:p>
          <a:p>
            <a:pPr marL="0" indent="0">
              <a:buNone/>
            </a:pPr>
            <a:endParaRPr lang="en-US" dirty="0"/>
          </a:p>
        </p:txBody>
      </p:sp>
    </p:spTree>
    <p:extLst>
      <p:ext uri="{BB962C8B-B14F-4D97-AF65-F5344CB8AC3E}">
        <p14:creationId xmlns:p14="http://schemas.microsoft.com/office/powerpoint/2010/main" val="2054832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8C94A-9625-439E-8D77-ACD0776537CC}"/>
              </a:ext>
            </a:extLst>
          </p:cNvPr>
          <p:cNvSpPr>
            <a:spLocks noGrp="1"/>
          </p:cNvSpPr>
          <p:nvPr>
            <p:ph type="title"/>
          </p:nvPr>
        </p:nvSpPr>
        <p:spPr/>
        <p:txBody>
          <a:bodyPr/>
          <a:lstStyle/>
          <a:p>
            <a:r>
              <a:rPr lang="en-US" dirty="0"/>
              <a:t>Cloud Service Models</a:t>
            </a:r>
          </a:p>
        </p:txBody>
      </p:sp>
      <p:sp>
        <p:nvSpPr>
          <p:cNvPr id="3" name="Content Placeholder 2">
            <a:extLst>
              <a:ext uri="{FF2B5EF4-FFF2-40B4-BE49-F238E27FC236}">
                <a16:creationId xmlns:a16="http://schemas.microsoft.com/office/drawing/2014/main" id="{0CFEFF6D-A781-4E55-B684-DBE294DCD80B}"/>
              </a:ext>
            </a:extLst>
          </p:cNvPr>
          <p:cNvSpPr>
            <a:spLocks noGrp="1"/>
          </p:cNvSpPr>
          <p:nvPr>
            <p:ph idx="1"/>
          </p:nvPr>
        </p:nvSpPr>
        <p:spPr>
          <a:xfrm>
            <a:off x="838200" y="1350498"/>
            <a:ext cx="10515600" cy="5359791"/>
          </a:xfrm>
        </p:spPr>
        <p:txBody>
          <a:bodyPr/>
          <a:lstStyle/>
          <a:p>
            <a:pPr marL="0" indent="0">
              <a:buNone/>
            </a:pPr>
            <a:r>
              <a:rPr lang="en-US" dirty="0"/>
              <a:t> Platform as Service(</a:t>
            </a:r>
            <a:r>
              <a:rPr lang="en-US" dirty="0" err="1"/>
              <a:t>Paas</a:t>
            </a:r>
            <a:r>
              <a:rPr lang="en-US" dirty="0"/>
              <a:t>)</a:t>
            </a:r>
          </a:p>
          <a:p>
            <a:r>
              <a:rPr lang="en-US" dirty="0"/>
              <a:t>This model enables the user to deploy user-built applications onto a virtualized cloud platform. PaaS includes </a:t>
            </a:r>
            <a:r>
              <a:rPr lang="en-US" dirty="0">
                <a:solidFill>
                  <a:srgbClr val="FF0000"/>
                </a:solidFill>
              </a:rPr>
              <a:t>middleware, databases, development tools, and some runtime support such as Web 2.0 and Java</a:t>
            </a:r>
            <a:r>
              <a:rPr lang="en-US" dirty="0"/>
              <a:t>. The platform includes both hardware and software integrated with specific programming interfaces. The provider supplies the API and software tools (e.g., Java, Python, Web 2.0, .NET). The user is freed from managing the cloud infrastructure.</a:t>
            </a:r>
          </a:p>
          <a:p>
            <a:endParaRPr lang="en-US" dirty="0"/>
          </a:p>
        </p:txBody>
      </p:sp>
    </p:spTree>
    <p:extLst>
      <p:ext uri="{BB962C8B-B14F-4D97-AF65-F5344CB8AC3E}">
        <p14:creationId xmlns:p14="http://schemas.microsoft.com/office/powerpoint/2010/main" val="3012403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012D1-5638-195D-E2A3-747884847028}"/>
              </a:ext>
            </a:extLst>
          </p:cNvPr>
          <p:cNvSpPr>
            <a:spLocks noGrp="1"/>
          </p:cNvSpPr>
          <p:nvPr>
            <p:ph type="title"/>
          </p:nvPr>
        </p:nvSpPr>
        <p:spPr>
          <a:xfrm>
            <a:off x="838200" y="492369"/>
            <a:ext cx="10515600" cy="717453"/>
          </a:xfrm>
        </p:spPr>
        <p:txBody>
          <a:bodyPr>
            <a:normAutofit fontScale="90000"/>
          </a:bodyPr>
          <a:lstStyle/>
          <a:p>
            <a:pPr marL="342900" fontAlgn="base"/>
            <a:br>
              <a:rPr lang="en-US" sz="4400" dirty="0">
                <a:solidFill>
                  <a:srgbClr val="000000"/>
                </a:solidFill>
                <a:effectLst/>
                <a:latin typeface="Times New Roman" panose="02020603050405020304" pitchFamily="18" charset="0"/>
                <a:ea typeface="Times New Roman" panose="02020603050405020304" pitchFamily="18" charset="0"/>
              </a:rPr>
            </a:br>
            <a:br>
              <a:rPr lang="en-US" sz="4400" dirty="0">
                <a:solidFill>
                  <a:srgbClr val="000000"/>
                </a:solidFill>
                <a:effectLst/>
                <a:latin typeface="Times New Roman" panose="02020603050405020304" pitchFamily="18" charset="0"/>
                <a:ea typeface="Times New Roman" panose="02020603050405020304" pitchFamily="18" charset="0"/>
              </a:rPr>
            </a:br>
            <a:br>
              <a:rPr lang="en-US" sz="4400" dirty="0">
                <a:solidFill>
                  <a:srgbClr val="000000"/>
                </a:solidFill>
                <a:effectLst/>
                <a:latin typeface="Times New Roman" panose="02020603050405020304" pitchFamily="18" charset="0"/>
                <a:ea typeface="Times New Roman" panose="02020603050405020304" pitchFamily="18" charset="0"/>
              </a:rPr>
            </a:br>
            <a:r>
              <a:rPr lang="en-US" sz="4400" dirty="0">
                <a:solidFill>
                  <a:srgbClr val="000000"/>
                </a:solidFill>
                <a:effectLst/>
                <a:latin typeface="Times New Roman" panose="02020603050405020304" pitchFamily="18" charset="0"/>
                <a:ea typeface="Times New Roman" panose="02020603050405020304" pitchFamily="18" charset="0"/>
              </a:rPr>
              <a:t>NIST Cloud Computing Architecture</a:t>
            </a:r>
            <a:br>
              <a:rPr lang="en-US" sz="4400" dirty="0">
                <a:solidFill>
                  <a:srgbClr val="000000"/>
                </a:solidFill>
                <a:effectLst/>
                <a:latin typeface="Times New Roman" panose="02020603050405020304" pitchFamily="18" charset="0"/>
                <a:ea typeface="Times New Roman" panose="02020603050405020304" pitchFamily="18" charset="0"/>
              </a:rPr>
            </a:br>
            <a:br>
              <a:rPr lang="en-US" sz="4400" dirty="0">
                <a:solidFill>
                  <a:srgbClr val="000000"/>
                </a:solidFill>
                <a:effectLst/>
                <a:latin typeface="Times New Roman" panose="02020603050405020304" pitchFamily="18" charset="0"/>
                <a:ea typeface="Times New Roman" panose="02020603050405020304" pitchFamily="18" charset="0"/>
              </a:rPr>
            </a:br>
            <a:r>
              <a:rPr lang="en-US" sz="4000" dirty="0">
                <a:solidFill>
                  <a:srgbClr val="000000"/>
                </a:solidFill>
                <a:effectLst/>
                <a:latin typeface="Times New Roman" panose="02020603050405020304" pitchFamily="18" charset="0"/>
                <a:ea typeface="Times New Roman" panose="02020603050405020304" pitchFamily="18" charset="0"/>
              </a:rPr>
              <a:t>There are five major actors in NIST cloud computing reference architecture, These actors are listed below</a:t>
            </a:r>
            <a:br>
              <a:rPr lang="en-IN" sz="4000" dirty="0">
                <a:effectLst/>
                <a:latin typeface="Times New Roman" panose="02020603050405020304" pitchFamily="18" charset="0"/>
                <a:ea typeface="Times New Roman" panose="02020603050405020304" pitchFamily="18" charset="0"/>
              </a:rPr>
            </a:br>
            <a:endParaRPr lang="en-IN" sz="4000" dirty="0"/>
          </a:p>
        </p:txBody>
      </p:sp>
      <p:sp>
        <p:nvSpPr>
          <p:cNvPr id="3" name="Content Placeholder 2">
            <a:extLst>
              <a:ext uri="{FF2B5EF4-FFF2-40B4-BE49-F238E27FC236}">
                <a16:creationId xmlns:a16="http://schemas.microsoft.com/office/drawing/2014/main" id="{A648C147-F4DA-BF09-1359-A5E88798A0D6}"/>
              </a:ext>
            </a:extLst>
          </p:cNvPr>
          <p:cNvSpPr>
            <a:spLocks noGrp="1"/>
          </p:cNvSpPr>
          <p:nvPr>
            <p:ph idx="1"/>
          </p:nvPr>
        </p:nvSpPr>
        <p:spPr>
          <a:xfrm>
            <a:off x="838200" y="2124221"/>
            <a:ext cx="10515600" cy="4052741"/>
          </a:xfrm>
        </p:spPr>
        <p:txBody>
          <a:bodyPr/>
          <a:lstStyle/>
          <a:p>
            <a:pPr marL="342900" fontAlgn="base"/>
            <a:endParaRPr lang="en-IN" sz="1800" dirty="0">
              <a:effectLst/>
              <a:latin typeface="Times New Roman" panose="02020603050405020304" pitchFamily="18" charset="0"/>
              <a:ea typeface="Times New Roman" panose="02020603050405020304" pitchFamily="18" charset="0"/>
            </a:endParaRPr>
          </a:p>
          <a:p>
            <a:pPr marL="342900" lvl="0" indent="-342900" fontAlgn="base">
              <a:buSzPts val="1000"/>
              <a:buFont typeface="Symbol" panose="05050102010706020507" pitchFamily="18" charset="2"/>
              <a:buChar char=""/>
              <a:tabLst>
                <a:tab pos="457200" algn="l"/>
              </a:tabLst>
            </a:pPr>
            <a:r>
              <a:rPr lang="en-US" sz="4000" dirty="0">
                <a:solidFill>
                  <a:srgbClr val="000000"/>
                </a:solidFill>
                <a:effectLst/>
                <a:latin typeface="Times New Roman" panose="02020603050405020304" pitchFamily="18" charset="0"/>
                <a:ea typeface="Times New Roman" panose="02020603050405020304" pitchFamily="18" charset="0"/>
              </a:rPr>
              <a:t>Cloud Consumer.</a:t>
            </a:r>
            <a:endParaRPr lang="en-IN" sz="4000" dirty="0">
              <a:effectLst/>
              <a:latin typeface="Times New Roman" panose="02020603050405020304" pitchFamily="18" charset="0"/>
              <a:ea typeface="Times New Roman" panose="02020603050405020304" pitchFamily="18" charset="0"/>
            </a:endParaRPr>
          </a:p>
          <a:p>
            <a:pPr marL="342900" lvl="0" indent="-342900" fontAlgn="base">
              <a:buSzPts val="1000"/>
              <a:buFont typeface="Symbol" panose="05050102010706020507" pitchFamily="18" charset="2"/>
              <a:buChar char=""/>
              <a:tabLst>
                <a:tab pos="457200" algn="l"/>
              </a:tabLst>
            </a:pPr>
            <a:r>
              <a:rPr lang="en-US" sz="4000" dirty="0">
                <a:solidFill>
                  <a:srgbClr val="000000"/>
                </a:solidFill>
                <a:effectLst/>
                <a:latin typeface="Times New Roman" panose="02020603050405020304" pitchFamily="18" charset="0"/>
                <a:ea typeface="Times New Roman" panose="02020603050405020304" pitchFamily="18" charset="0"/>
              </a:rPr>
              <a:t>Cloud Provider.</a:t>
            </a:r>
            <a:endParaRPr lang="en-IN" sz="4000" dirty="0">
              <a:effectLst/>
              <a:latin typeface="Times New Roman" panose="02020603050405020304" pitchFamily="18" charset="0"/>
              <a:ea typeface="Times New Roman" panose="02020603050405020304" pitchFamily="18" charset="0"/>
            </a:endParaRPr>
          </a:p>
          <a:p>
            <a:pPr marL="342900" lvl="0" indent="-342900" fontAlgn="base">
              <a:buSzPts val="1000"/>
              <a:buFont typeface="Symbol" panose="05050102010706020507" pitchFamily="18" charset="2"/>
              <a:buChar char=""/>
              <a:tabLst>
                <a:tab pos="457200" algn="l"/>
              </a:tabLst>
            </a:pPr>
            <a:r>
              <a:rPr lang="en-US" sz="4000" dirty="0">
                <a:solidFill>
                  <a:srgbClr val="000000"/>
                </a:solidFill>
                <a:effectLst/>
                <a:latin typeface="Times New Roman" panose="02020603050405020304" pitchFamily="18" charset="0"/>
                <a:ea typeface="Times New Roman" panose="02020603050405020304" pitchFamily="18" charset="0"/>
              </a:rPr>
              <a:t>Cloud Carrier.</a:t>
            </a:r>
            <a:endParaRPr lang="en-IN" sz="4000" dirty="0">
              <a:effectLst/>
              <a:latin typeface="Times New Roman" panose="02020603050405020304" pitchFamily="18" charset="0"/>
              <a:ea typeface="Times New Roman" panose="02020603050405020304" pitchFamily="18" charset="0"/>
            </a:endParaRPr>
          </a:p>
          <a:p>
            <a:pPr marL="342900" lvl="0" indent="-342900" fontAlgn="base">
              <a:buSzPts val="1000"/>
              <a:buFont typeface="Symbol" panose="05050102010706020507" pitchFamily="18" charset="2"/>
              <a:buChar char=""/>
              <a:tabLst>
                <a:tab pos="457200" algn="l"/>
              </a:tabLst>
            </a:pPr>
            <a:r>
              <a:rPr lang="en-US" sz="4000" dirty="0">
                <a:solidFill>
                  <a:srgbClr val="000000"/>
                </a:solidFill>
                <a:effectLst/>
                <a:latin typeface="Times New Roman" panose="02020603050405020304" pitchFamily="18" charset="0"/>
                <a:ea typeface="Times New Roman" panose="02020603050405020304" pitchFamily="18" charset="0"/>
              </a:rPr>
              <a:t>Cloud Auditor.</a:t>
            </a:r>
            <a:endParaRPr lang="en-IN" sz="4000" dirty="0">
              <a:effectLst/>
              <a:latin typeface="Times New Roman" panose="02020603050405020304" pitchFamily="18" charset="0"/>
              <a:ea typeface="Times New Roman" panose="02020603050405020304" pitchFamily="18" charset="0"/>
            </a:endParaRPr>
          </a:p>
          <a:p>
            <a:pPr marL="342900" lvl="0" indent="-342900" fontAlgn="base">
              <a:buSzPts val="1000"/>
              <a:buFont typeface="Symbol" panose="05050102010706020507" pitchFamily="18" charset="2"/>
              <a:buChar char=""/>
              <a:tabLst>
                <a:tab pos="457200" algn="l"/>
              </a:tabLst>
            </a:pPr>
            <a:r>
              <a:rPr lang="en-US" sz="4000" dirty="0">
                <a:solidFill>
                  <a:srgbClr val="000000"/>
                </a:solidFill>
                <a:effectLst/>
                <a:latin typeface="Times New Roman" panose="02020603050405020304" pitchFamily="18" charset="0"/>
                <a:ea typeface="Times New Roman" panose="02020603050405020304" pitchFamily="18" charset="0"/>
              </a:rPr>
              <a:t>Cloud Broker.</a:t>
            </a:r>
            <a:endParaRPr lang="en-IN" sz="40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2227718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6A934-C43D-473C-95E7-E162249269D8}"/>
              </a:ext>
            </a:extLst>
          </p:cNvPr>
          <p:cNvSpPr>
            <a:spLocks noGrp="1"/>
          </p:cNvSpPr>
          <p:nvPr>
            <p:ph type="title" idx="4294967295"/>
          </p:nvPr>
        </p:nvSpPr>
        <p:spPr>
          <a:xfrm>
            <a:off x="-1" y="365126"/>
            <a:ext cx="11282289" cy="689952"/>
          </a:xfrm>
        </p:spPr>
        <p:txBody>
          <a:bodyPr>
            <a:normAutofit/>
          </a:bodyPr>
          <a:lstStyle/>
          <a:p>
            <a:pPr algn="ctr"/>
            <a:r>
              <a:rPr lang="en-US" sz="2800" b="1" dirty="0">
                <a:solidFill>
                  <a:srgbClr val="000000"/>
                </a:solidFill>
                <a:latin typeface="Times New Roman" panose="02020603050405020304" pitchFamily="18" charset="0"/>
                <a:ea typeface="Times New Roman" panose="02020603050405020304" pitchFamily="18" charset="0"/>
              </a:rPr>
              <a:t>NIST CLOUD COMPUTING REFERENCE ARCHITECTURE</a:t>
            </a:r>
            <a:endParaRPr lang="en-US" sz="2800" dirty="0"/>
          </a:p>
        </p:txBody>
      </p:sp>
      <p:pic>
        <p:nvPicPr>
          <p:cNvPr id="1028" name="Picture 4" descr="Cloud Stakeholders as per NIST - GeeksforGeeks">
            <a:extLst>
              <a:ext uri="{FF2B5EF4-FFF2-40B4-BE49-F238E27FC236}">
                <a16:creationId xmlns:a16="http://schemas.microsoft.com/office/drawing/2014/main" id="{E440A377-E22B-400F-824C-27A9EBB1F1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015" y="1336430"/>
            <a:ext cx="11662117" cy="5416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3662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Generated image">
            <a:extLst>
              <a:ext uri="{FF2B5EF4-FFF2-40B4-BE49-F238E27FC236}">
                <a16:creationId xmlns:a16="http://schemas.microsoft.com/office/drawing/2014/main" id="{39F20854-1E48-4C85-A74A-F2E9EFF289D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A9EDF002-85C0-4477-8DE0-6993FF3FF578}"/>
              </a:ext>
            </a:extLst>
          </p:cNvPr>
          <p:cNvPicPr>
            <a:picLocks noChangeAspect="1"/>
          </p:cNvPicPr>
          <p:nvPr/>
        </p:nvPicPr>
        <p:blipFill>
          <a:blip r:embed="rId2"/>
          <a:stretch>
            <a:fillRect/>
          </a:stretch>
        </p:blipFill>
        <p:spPr>
          <a:xfrm>
            <a:off x="154745" y="956603"/>
            <a:ext cx="11690252" cy="6858000"/>
          </a:xfrm>
          <a:prstGeom prst="rect">
            <a:avLst/>
          </a:prstGeom>
        </p:spPr>
      </p:pic>
    </p:spTree>
    <p:extLst>
      <p:ext uri="{BB962C8B-B14F-4D97-AF65-F5344CB8AC3E}">
        <p14:creationId xmlns:p14="http://schemas.microsoft.com/office/powerpoint/2010/main" val="1789120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C304-A013-6CD9-1BBD-DB8376CCD9E6}"/>
              </a:ext>
            </a:extLst>
          </p:cNvPr>
          <p:cNvSpPr>
            <a:spLocks noGrp="1"/>
          </p:cNvSpPr>
          <p:nvPr>
            <p:ph type="title"/>
          </p:nvPr>
        </p:nvSpPr>
        <p:spPr/>
        <p:txBody>
          <a:bodyPr/>
          <a:lstStyle/>
          <a:p>
            <a:pPr algn="ctr"/>
            <a:r>
              <a:rPr lang="en-US" dirty="0"/>
              <a:t>Cloud consumer</a:t>
            </a:r>
            <a:endParaRPr lang="en-IN" dirty="0"/>
          </a:p>
        </p:txBody>
      </p:sp>
      <p:sp>
        <p:nvSpPr>
          <p:cNvPr id="3" name="Content Placeholder 2">
            <a:extLst>
              <a:ext uri="{FF2B5EF4-FFF2-40B4-BE49-F238E27FC236}">
                <a16:creationId xmlns:a16="http://schemas.microsoft.com/office/drawing/2014/main" id="{DC9D63E6-3C34-E3DA-6894-5C9C3509D007}"/>
              </a:ext>
            </a:extLst>
          </p:cNvPr>
          <p:cNvSpPr>
            <a:spLocks noGrp="1"/>
          </p:cNvSpPr>
          <p:nvPr>
            <p:ph idx="1"/>
          </p:nvPr>
        </p:nvSpPr>
        <p:spPr/>
        <p:txBody>
          <a:bodyPr>
            <a:normAutofit fontScale="92500"/>
          </a:bodyPr>
          <a:lstStyle/>
          <a:p>
            <a:pPr marL="342900" lvl="0" indent="-342900" algn="just" fontAlgn="base">
              <a:buSzPts val="1000"/>
              <a:buFont typeface="Symbol" panose="05050102010706020507" pitchFamily="18" charset="2"/>
              <a:buChar char=""/>
              <a:tabLst>
                <a:tab pos="457200" algn="l"/>
              </a:tabLst>
            </a:pPr>
            <a:r>
              <a:rPr lang="en-US" dirty="0">
                <a:solidFill>
                  <a:srgbClr val="000000"/>
                </a:solidFill>
                <a:effectLst/>
                <a:latin typeface="Times New Roman" panose="02020603050405020304" pitchFamily="18" charset="0"/>
                <a:ea typeface="Times New Roman" panose="02020603050405020304" pitchFamily="18" charset="0"/>
              </a:rPr>
              <a:t>Cloud consumer is the main participants of cloud computing environment.</a:t>
            </a:r>
            <a:endParaRPr lang="en-IN" dirty="0">
              <a:effectLst/>
              <a:latin typeface="Times New Roman" panose="02020603050405020304" pitchFamily="18" charset="0"/>
              <a:ea typeface="Times New Roman" panose="02020603050405020304" pitchFamily="18" charset="0"/>
            </a:endParaRPr>
          </a:p>
          <a:p>
            <a:pPr marL="342900" lvl="0" indent="-342900" algn="just" fontAlgn="base">
              <a:buSzPts val="1000"/>
              <a:buFont typeface="Symbol" panose="05050102010706020507" pitchFamily="18" charset="2"/>
              <a:buChar char=""/>
              <a:tabLst>
                <a:tab pos="457200" algn="l"/>
              </a:tabLst>
            </a:pPr>
            <a:r>
              <a:rPr lang="en-US" dirty="0">
                <a:solidFill>
                  <a:srgbClr val="000000"/>
                </a:solidFill>
                <a:effectLst/>
                <a:latin typeface="Times New Roman" panose="02020603050405020304" pitchFamily="18" charset="0"/>
                <a:ea typeface="Times New Roman" panose="02020603050405020304" pitchFamily="18" charset="0"/>
              </a:rPr>
              <a:t> A cloud consumer is a person or organization that uses the cloud services such as SaaS, PaaS and IaaS.</a:t>
            </a:r>
            <a:endParaRPr lang="en-IN" dirty="0">
              <a:effectLst/>
              <a:latin typeface="Times New Roman" panose="02020603050405020304" pitchFamily="18" charset="0"/>
              <a:ea typeface="Times New Roman" panose="02020603050405020304" pitchFamily="18" charset="0"/>
            </a:endParaRPr>
          </a:p>
          <a:p>
            <a:pPr marL="342900" lvl="0" indent="-342900" algn="just" fontAlgn="base">
              <a:buSzPts val="1000"/>
              <a:buFont typeface="Symbol" panose="05050102010706020507" pitchFamily="18" charset="2"/>
              <a:buChar char=""/>
              <a:tabLst>
                <a:tab pos="457200" algn="l"/>
              </a:tabLst>
            </a:pPr>
            <a:r>
              <a:rPr lang="en-US" dirty="0">
                <a:solidFill>
                  <a:srgbClr val="000000"/>
                </a:solidFill>
                <a:effectLst/>
                <a:latin typeface="Times New Roman" panose="02020603050405020304" pitchFamily="18" charset="0"/>
                <a:ea typeface="Times New Roman" panose="02020603050405020304" pitchFamily="18" charset="0"/>
              </a:rPr>
              <a:t>A cloud consumer browses the service catalog provided by a cloud provider, cloud consumer requests the appropriate service.</a:t>
            </a:r>
            <a:endParaRPr lang="en-IN" dirty="0">
              <a:effectLst/>
              <a:latin typeface="Times New Roman" panose="02020603050405020304" pitchFamily="18" charset="0"/>
              <a:ea typeface="Times New Roman" panose="02020603050405020304" pitchFamily="18" charset="0"/>
            </a:endParaRPr>
          </a:p>
          <a:p>
            <a:pPr marL="342900" lvl="0" indent="-342900" algn="just" fontAlgn="base">
              <a:buSzPts val="1000"/>
              <a:buFont typeface="Symbol" panose="05050102010706020507" pitchFamily="18" charset="2"/>
              <a:buChar char=""/>
              <a:tabLst>
                <a:tab pos="457200" algn="l"/>
              </a:tabLst>
            </a:pPr>
            <a:r>
              <a:rPr lang="en-US" dirty="0">
                <a:solidFill>
                  <a:srgbClr val="000000"/>
                </a:solidFill>
                <a:effectLst/>
                <a:latin typeface="Times New Roman" panose="02020603050405020304" pitchFamily="18" charset="0"/>
                <a:ea typeface="Times New Roman" panose="02020603050405020304" pitchFamily="18" charset="0"/>
              </a:rPr>
              <a:t>Cloud provider sets up cloud environment for the service and make a contracts with the cloud consumer for the use of the service.</a:t>
            </a:r>
            <a:endParaRPr lang="en-IN" dirty="0">
              <a:effectLst/>
              <a:latin typeface="Times New Roman" panose="02020603050405020304" pitchFamily="18" charset="0"/>
              <a:ea typeface="Times New Roman" panose="02020603050405020304" pitchFamily="18" charset="0"/>
            </a:endParaRPr>
          </a:p>
          <a:p>
            <a:pPr marL="342900" lvl="0" indent="-342900" algn="just" fontAlgn="base">
              <a:buSzPts val="1000"/>
              <a:buFont typeface="Symbol" panose="05050102010706020507" pitchFamily="18" charset="2"/>
              <a:buChar char=""/>
              <a:tabLst>
                <a:tab pos="457200" algn="l"/>
              </a:tabLst>
            </a:pPr>
            <a:r>
              <a:rPr lang="en-US" dirty="0">
                <a:solidFill>
                  <a:srgbClr val="000000"/>
                </a:solidFill>
                <a:effectLst/>
                <a:latin typeface="Times New Roman" panose="02020603050405020304" pitchFamily="18" charset="0"/>
                <a:ea typeface="Times New Roman" panose="02020603050405020304" pitchFamily="18" charset="0"/>
              </a:rPr>
              <a:t>Cloud consumers need cloud </a:t>
            </a:r>
            <a:r>
              <a:rPr lang="en-US" b="1" dirty="0">
                <a:solidFill>
                  <a:srgbClr val="000000"/>
                </a:solidFill>
                <a:effectLst/>
                <a:latin typeface="Times New Roman" panose="02020603050405020304" pitchFamily="18" charset="0"/>
                <a:ea typeface="Times New Roman" panose="02020603050405020304" pitchFamily="18" charset="0"/>
              </a:rPr>
              <a:t>Service Level Agreement(SLA</a:t>
            </a:r>
            <a:r>
              <a:rPr lang="en-US" dirty="0">
                <a:solidFill>
                  <a:srgbClr val="000000"/>
                </a:solidFill>
                <a:effectLst/>
                <a:latin typeface="Times New Roman" panose="02020603050405020304" pitchFamily="18" charset="0"/>
                <a:ea typeface="Times New Roman" panose="02020603050405020304" pitchFamily="18" charset="0"/>
              </a:rPr>
              <a:t>).</a:t>
            </a:r>
            <a:endParaRPr lang="en-IN" dirty="0">
              <a:effectLst/>
              <a:latin typeface="Times New Roman" panose="02020603050405020304" pitchFamily="18" charset="0"/>
              <a:ea typeface="Times New Roman" panose="02020603050405020304" pitchFamily="18" charset="0"/>
            </a:endParaRPr>
          </a:p>
          <a:p>
            <a:pPr marL="114300" indent="0" algn="just" fontAlgn="base">
              <a:buNone/>
            </a:pPr>
            <a:r>
              <a:rPr lang="en-US" dirty="0">
                <a:solidFill>
                  <a:srgbClr val="000000"/>
                </a:solidFill>
                <a:effectLst/>
                <a:latin typeface="Times New Roman" panose="02020603050405020304" pitchFamily="18" charset="0"/>
                <a:ea typeface="Times New Roman" panose="02020603050405020304" pitchFamily="18" charset="0"/>
              </a:rPr>
              <a:t> </a:t>
            </a:r>
            <a:endParaRPr lang="en-IN" dirty="0">
              <a:effectLst/>
              <a:latin typeface="Times New Roman" panose="02020603050405020304" pitchFamily="18" charset="0"/>
              <a:ea typeface="Times New Roman" panose="02020603050405020304" pitchFamily="18" charset="0"/>
            </a:endParaRPr>
          </a:p>
          <a:p>
            <a:pPr marL="114300" indent="0" algn="just" fontAlgn="base">
              <a:buNone/>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1273574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63248-6AA4-42EA-A87D-6D93F071B009}"/>
              </a:ext>
            </a:extLst>
          </p:cNvPr>
          <p:cNvSpPr>
            <a:spLocks noGrp="1"/>
          </p:cNvSpPr>
          <p:nvPr>
            <p:ph type="title"/>
          </p:nvPr>
        </p:nvSpPr>
        <p:spPr/>
        <p:txBody>
          <a:bodyPr/>
          <a:lstStyle/>
          <a:p>
            <a:r>
              <a:rPr lang="en-US" dirty="0"/>
              <a:t>Service Level Agreements</a:t>
            </a:r>
          </a:p>
        </p:txBody>
      </p:sp>
      <p:sp>
        <p:nvSpPr>
          <p:cNvPr id="3" name="Content Placeholder 2">
            <a:extLst>
              <a:ext uri="{FF2B5EF4-FFF2-40B4-BE49-F238E27FC236}">
                <a16:creationId xmlns:a16="http://schemas.microsoft.com/office/drawing/2014/main" id="{691A6BD5-10D4-47C8-8CE7-7156FEEFCA91}"/>
              </a:ext>
            </a:extLst>
          </p:cNvPr>
          <p:cNvSpPr>
            <a:spLocks noGrp="1"/>
          </p:cNvSpPr>
          <p:nvPr>
            <p:ph idx="1"/>
          </p:nvPr>
        </p:nvSpPr>
        <p:spPr/>
        <p:txBody>
          <a:bodyPr/>
          <a:lstStyle/>
          <a:p>
            <a:pPr fontAlgn="base"/>
            <a:r>
              <a:rPr lang="en-US" dirty="0"/>
              <a:t>Service Level Agreements usually specify </a:t>
            </a:r>
            <a:r>
              <a:rPr lang="en-US" b="1" dirty="0"/>
              <a:t>some parameters</a:t>
            </a:r>
            <a:r>
              <a:rPr lang="en-US" dirty="0"/>
              <a:t> which are mentioned below:</a:t>
            </a:r>
          </a:p>
          <a:p>
            <a:pPr fontAlgn="base"/>
            <a:r>
              <a:rPr lang="en-US" dirty="0"/>
              <a:t>Availability of the Service (uptime)</a:t>
            </a:r>
          </a:p>
          <a:p>
            <a:pPr fontAlgn="base"/>
            <a:r>
              <a:rPr lang="en-US" dirty="0"/>
              <a:t>Latency or the response time</a:t>
            </a:r>
          </a:p>
          <a:p>
            <a:pPr fontAlgn="base"/>
            <a:r>
              <a:rPr lang="en-US" dirty="0"/>
              <a:t>Service components reliability</a:t>
            </a:r>
          </a:p>
          <a:p>
            <a:pPr fontAlgn="base"/>
            <a:r>
              <a:rPr lang="en-US" dirty="0"/>
              <a:t>Each party accountability</a:t>
            </a:r>
          </a:p>
          <a:p>
            <a:pPr fontAlgn="base"/>
            <a:r>
              <a:rPr lang="en-US" dirty="0"/>
              <a:t>Warranties</a:t>
            </a:r>
          </a:p>
          <a:p>
            <a:endParaRPr lang="en-US" dirty="0"/>
          </a:p>
        </p:txBody>
      </p:sp>
    </p:spTree>
    <p:extLst>
      <p:ext uri="{BB962C8B-B14F-4D97-AF65-F5344CB8AC3E}">
        <p14:creationId xmlns:p14="http://schemas.microsoft.com/office/powerpoint/2010/main" val="4181455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D860B-E90F-8F30-665F-DBB656A4F4DC}"/>
              </a:ext>
            </a:extLst>
          </p:cNvPr>
          <p:cNvSpPr>
            <a:spLocks noGrp="1"/>
          </p:cNvSpPr>
          <p:nvPr>
            <p:ph type="title"/>
          </p:nvPr>
        </p:nvSpPr>
        <p:spPr/>
        <p:txBody>
          <a:bodyPr/>
          <a:lstStyle/>
          <a:p>
            <a:pPr algn="ctr"/>
            <a:r>
              <a:rPr lang="en-US" dirty="0"/>
              <a:t>Cloud consumer</a:t>
            </a:r>
            <a:endParaRPr lang="en-IN" dirty="0"/>
          </a:p>
        </p:txBody>
      </p:sp>
      <p:sp>
        <p:nvSpPr>
          <p:cNvPr id="3" name="Content Placeholder 2">
            <a:extLst>
              <a:ext uri="{FF2B5EF4-FFF2-40B4-BE49-F238E27FC236}">
                <a16:creationId xmlns:a16="http://schemas.microsoft.com/office/drawing/2014/main" id="{34D010E3-B66F-6003-5F82-639752A3C56C}"/>
              </a:ext>
            </a:extLst>
          </p:cNvPr>
          <p:cNvSpPr>
            <a:spLocks noGrp="1"/>
          </p:cNvSpPr>
          <p:nvPr>
            <p:ph idx="1"/>
          </p:nvPr>
        </p:nvSpPr>
        <p:spPr/>
        <p:txBody>
          <a:bodyPr>
            <a:normAutofit lnSpcReduction="10000"/>
          </a:bodyPr>
          <a:lstStyle/>
          <a:p>
            <a:pPr marL="342900" algn="just" fontAlgn="base"/>
            <a:r>
              <a:rPr lang="en-US" sz="2800" dirty="0">
                <a:solidFill>
                  <a:srgbClr val="000000"/>
                </a:solidFill>
                <a:effectLst/>
                <a:latin typeface="Times New Roman" panose="02020603050405020304" pitchFamily="18" charset="0"/>
                <a:ea typeface="Times New Roman" panose="02020603050405020304" pitchFamily="18" charset="0"/>
              </a:rPr>
              <a:t>SLA act as a agreement for technical performance requirements provided by a cloud provider.</a:t>
            </a:r>
            <a:endParaRPr lang="en-IN" sz="2800" dirty="0">
              <a:effectLst/>
              <a:latin typeface="Times New Roman" panose="02020603050405020304" pitchFamily="18" charset="0"/>
              <a:ea typeface="Times New Roman" panose="02020603050405020304" pitchFamily="18" charset="0"/>
            </a:endParaRPr>
          </a:p>
          <a:p>
            <a:pPr marL="342900" algn="just" fontAlgn="base"/>
            <a:r>
              <a:rPr lang="en-US" sz="2800" dirty="0">
                <a:solidFill>
                  <a:srgbClr val="000000"/>
                </a:solidFill>
                <a:effectLst/>
                <a:latin typeface="Times New Roman" panose="02020603050405020304" pitchFamily="18" charset="0"/>
                <a:ea typeface="Times New Roman" panose="02020603050405020304" pitchFamily="18" charset="0"/>
              </a:rPr>
              <a:t>Some terms and conditions regarding the quality of service, security, remedies for performance failures are mentioned in the SLA.</a:t>
            </a:r>
            <a:endParaRPr lang="en-IN" sz="2800" dirty="0">
              <a:effectLst/>
              <a:latin typeface="Times New Roman" panose="02020603050405020304" pitchFamily="18" charset="0"/>
              <a:ea typeface="Times New Roman" panose="02020603050405020304" pitchFamily="18" charset="0"/>
            </a:endParaRPr>
          </a:p>
          <a:p>
            <a:pPr marL="342900" algn="just" fontAlgn="base"/>
            <a:r>
              <a:rPr lang="en-US" sz="2800" b="1" u="none" strike="noStrike" dirty="0">
                <a:solidFill>
                  <a:srgbClr val="000000"/>
                </a:solidFill>
                <a:effectLst/>
                <a:latin typeface="Times New Roman" panose="02020603050405020304" pitchFamily="18" charset="0"/>
                <a:ea typeface="Times New Roman" panose="02020603050405020304" pitchFamily="18" charset="0"/>
                <a:hlinkClick r:id="rId2"/>
              </a:rPr>
              <a:t>Software</a:t>
            </a:r>
            <a:r>
              <a:rPr lang="en-US" sz="2800" dirty="0">
                <a:solidFill>
                  <a:srgbClr val="000000"/>
                </a:solidFill>
                <a:effectLst/>
                <a:latin typeface="Times New Roman" panose="02020603050405020304" pitchFamily="18" charset="0"/>
                <a:ea typeface="Times New Roman" panose="02020603050405020304" pitchFamily="18" charset="0"/>
              </a:rPr>
              <a:t> as a service applications in the cloud are made accessible via a network to the SaaS consumers.</a:t>
            </a:r>
            <a:endParaRPr lang="en-IN" sz="2800" dirty="0">
              <a:effectLst/>
              <a:latin typeface="Times New Roman" panose="02020603050405020304" pitchFamily="18" charset="0"/>
              <a:ea typeface="Times New Roman" panose="02020603050405020304" pitchFamily="18" charset="0"/>
            </a:endParaRPr>
          </a:p>
          <a:p>
            <a:pPr marL="342900" algn="just" fontAlgn="base"/>
            <a:r>
              <a:rPr lang="en-US" sz="2800" dirty="0">
                <a:solidFill>
                  <a:srgbClr val="000000"/>
                </a:solidFill>
                <a:effectLst/>
                <a:latin typeface="Times New Roman" panose="02020603050405020304" pitchFamily="18" charset="0"/>
                <a:ea typeface="Times New Roman" panose="02020603050405020304" pitchFamily="18" charset="0"/>
              </a:rPr>
              <a:t>The consumers of SaaS may be a organizations that gives their employee with access to software applications, end users who directly use software applications, or it may be software application administrators who is responsible for configure applications on the software for the customers.</a:t>
            </a:r>
            <a:endParaRPr lang="en-IN" sz="28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29875326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3B318-C124-8189-FFDC-F2037F9E9F38}"/>
              </a:ext>
            </a:extLst>
          </p:cNvPr>
          <p:cNvSpPr>
            <a:spLocks noGrp="1"/>
          </p:cNvSpPr>
          <p:nvPr>
            <p:ph type="title"/>
          </p:nvPr>
        </p:nvSpPr>
        <p:spPr/>
        <p:txBody>
          <a:bodyPr/>
          <a:lstStyle/>
          <a:p>
            <a:pPr algn="ctr"/>
            <a:r>
              <a:rPr lang="en-US" sz="4400" b="1" dirty="0">
                <a:solidFill>
                  <a:srgbClr val="000000"/>
                </a:solidFill>
                <a:effectLst/>
                <a:latin typeface="Times New Roman" panose="02020603050405020304" pitchFamily="18" charset="0"/>
                <a:ea typeface="Tahoma" panose="020B0604030504040204" pitchFamily="34" charset="0"/>
              </a:rPr>
              <a:t>Cloud Provider</a:t>
            </a:r>
            <a:br>
              <a:rPr lang="en-IN" sz="4400" b="1" dirty="0">
                <a:effectLst/>
                <a:latin typeface="Tahoma" panose="020B0604030504040204" pitchFamily="34" charset="0"/>
                <a:ea typeface="Tahoma" panose="020B0604030504040204" pitchFamily="34" charset="0"/>
              </a:rPr>
            </a:br>
            <a:endParaRPr lang="en-IN" dirty="0"/>
          </a:p>
        </p:txBody>
      </p:sp>
      <p:sp>
        <p:nvSpPr>
          <p:cNvPr id="3" name="Content Placeholder 2">
            <a:extLst>
              <a:ext uri="{FF2B5EF4-FFF2-40B4-BE49-F238E27FC236}">
                <a16:creationId xmlns:a16="http://schemas.microsoft.com/office/drawing/2014/main" id="{D511887F-090C-3648-8DAD-5836E75BB0E8}"/>
              </a:ext>
            </a:extLst>
          </p:cNvPr>
          <p:cNvSpPr>
            <a:spLocks noGrp="1"/>
          </p:cNvSpPr>
          <p:nvPr>
            <p:ph idx="1"/>
          </p:nvPr>
        </p:nvSpPr>
        <p:spPr>
          <a:xfrm>
            <a:off x="838200" y="1151467"/>
            <a:ext cx="10515600" cy="5025496"/>
          </a:xfrm>
        </p:spPr>
        <p:txBody>
          <a:bodyPr>
            <a:normAutofit lnSpcReduction="10000"/>
          </a:bodyPr>
          <a:lstStyle/>
          <a:p>
            <a:pPr marL="342900" lvl="0" indent="-342900" algn="just" fontAlgn="base">
              <a:buSzPts val="1000"/>
              <a:buFont typeface="Symbol" panose="05050102010706020507" pitchFamily="18" charset="2"/>
              <a:buChar char=""/>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rPr>
              <a:t>A cloud provider is responsible for making a service available to the cloud consumer. Cloud provider may be a person , team or an organization.</a:t>
            </a:r>
            <a:endParaRPr lang="en-IN" sz="2400" dirty="0">
              <a:effectLst/>
              <a:latin typeface="Times New Roman" panose="02020603050405020304" pitchFamily="18" charset="0"/>
              <a:ea typeface="Times New Roman" panose="02020603050405020304" pitchFamily="18" charset="0"/>
            </a:endParaRPr>
          </a:p>
          <a:p>
            <a:pPr marL="342900" lvl="0" indent="-342900" algn="just" fontAlgn="base">
              <a:buSzPts val="1000"/>
              <a:buFont typeface="Symbol" panose="05050102010706020507" pitchFamily="18" charset="2"/>
              <a:buChar char=""/>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rPr>
              <a:t>A Cloud Provider maintain and manages the different cloud computing services for the consumer and makes arrangement to deliver the cloud services to the Cloud Consumers suing network access or internet.</a:t>
            </a:r>
            <a:endParaRPr lang="en-IN" sz="2400" dirty="0">
              <a:effectLst/>
              <a:latin typeface="Times New Roman" panose="02020603050405020304" pitchFamily="18" charset="0"/>
              <a:ea typeface="Times New Roman" panose="02020603050405020304" pitchFamily="18" charset="0"/>
            </a:endParaRPr>
          </a:p>
          <a:p>
            <a:pPr marL="342900" algn="just" fontAlgn="base"/>
            <a:r>
              <a:rPr lang="en-US" sz="2400" dirty="0">
                <a:solidFill>
                  <a:srgbClr val="000000"/>
                </a:solidFill>
                <a:effectLst/>
                <a:latin typeface="Times New Roman" panose="02020603050405020304" pitchFamily="18" charset="0"/>
                <a:ea typeface="Times New Roman" panose="02020603050405020304" pitchFamily="18" charset="0"/>
              </a:rPr>
              <a:t>In context to </a:t>
            </a:r>
            <a:r>
              <a:rPr lang="en-US" sz="2400" b="1" dirty="0">
                <a:solidFill>
                  <a:srgbClr val="000000"/>
                </a:solidFill>
                <a:effectLst/>
                <a:latin typeface="Times New Roman" panose="02020603050405020304" pitchFamily="18" charset="0"/>
                <a:ea typeface="Times New Roman" panose="02020603050405020304" pitchFamily="18" charset="0"/>
              </a:rPr>
              <a:t>Software as a Service</a:t>
            </a:r>
            <a:r>
              <a:rPr lang="en-US" sz="2400" dirty="0">
                <a:solidFill>
                  <a:srgbClr val="000000"/>
                </a:solidFill>
                <a:effectLst/>
                <a:latin typeface="Times New Roman" panose="02020603050405020304" pitchFamily="18" charset="0"/>
                <a:ea typeface="Times New Roman" panose="02020603050405020304" pitchFamily="18" charset="0"/>
              </a:rPr>
              <a:t> Cloud provider is responsible for deploys, configuring, maintaining and updating the operation of the software applications on a cloud infrastructure so that the services are provisioned as per the required levels by the cloud consumers.</a:t>
            </a:r>
            <a:endParaRPr lang="en-IN" sz="2400" dirty="0">
              <a:effectLst/>
              <a:latin typeface="Times New Roman" panose="02020603050405020304" pitchFamily="18" charset="0"/>
              <a:ea typeface="Times New Roman" panose="02020603050405020304" pitchFamily="18" charset="0"/>
            </a:endParaRPr>
          </a:p>
          <a:p>
            <a:pPr marL="342900" algn="just" fontAlgn="base"/>
            <a:r>
              <a:rPr lang="en-US" sz="2400" dirty="0">
                <a:solidFill>
                  <a:srgbClr val="000000"/>
                </a:solidFill>
                <a:effectLst/>
                <a:latin typeface="Times New Roman" panose="02020603050405020304" pitchFamily="18" charset="0"/>
                <a:ea typeface="Times New Roman" panose="02020603050405020304" pitchFamily="18" charset="0"/>
              </a:rPr>
              <a:t>The major responsibilities  of cloud provider in context to software as a service are to manage , control the applications and overall  infrastructure.</a:t>
            </a:r>
            <a:endParaRPr lang="en-IN" sz="2400" dirty="0">
              <a:effectLst/>
              <a:latin typeface="Times New Roman" panose="02020603050405020304" pitchFamily="18" charset="0"/>
              <a:ea typeface="Times New Roman" panose="02020603050405020304" pitchFamily="18" charset="0"/>
            </a:endParaRPr>
          </a:p>
          <a:p>
            <a:pPr marL="342900" algn="just" fontAlgn="base"/>
            <a:r>
              <a:rPr lang="en-US" sz="2400" dirty="0">
                <a:solidFill>
                  <a:srgbClr val="000000"/>
                </a:solidFill>
                <a:effectLst/>
                <a:latin typeface="Times New Roman" panose="02020603050405020304" pitchFamily="18" charset="0"/>
                <a:ea typeface="Times New Roman" panose="02020603050405020304" pitchFamily="18" charset="0"/>
              </a:rPr>
              <a:t>In context to </a:t>
            </a:r>
            <a:r>
              <a:rPr lang="en-US" sz="2400" b="1" dirty="0">
                <a:solidFill>
                  <a:srgbClr val="000000"/>
                </a:solidFill>
                <a:effectLst/>
                <a:latin typeface="Times New Roman" panose="02020603050405020304" pitchFamily="18" charset="0"/>
                <a:ea typeface="Times New Roman" panose="02020603050405020304" pitchFamily="18" charset="0"/>
              </a:rPr>
              <a:t>Platform as a Service</a:t>
            </a:r>
            <a:r>
              <a:rPr lang="en-US" sz="2400" dirty="0">
                <a:solidFill>
                  <a:srgbClr val="000000"/>
                </a:solidFill>
                <a:effectLst/>
                <a:latin typeface="Times New Roman" panose="02020603050405020304" pitchFamily="18" charset="0"/>
                <a:ea typeface="Times New Roman" panose="02020603050405020304" pitchFamily="18" charset="0"/>
              </a:rPr>
              <a:t>, the Cloud Provider manages the computing infrastructure for the platform and runs the cloud software that provides the components of the platform. These components may be software execution stack, databases and some other components that act as middleware.</a:t>
            </a:r>
            <a:endParaRPr lang="en-IN" sz="24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3401313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1F4AD-EA14-B8A6-AA3E-0E82E6A07B8D}"/>
              </a:ext>
            </a:extLst>
          </p:cNvPr>
          <p:cNvSpPr>
            <a:spLocks noGrp="1"/>
          </p:cNvSpPr>
          <p:nvPr>
            <p:ph type="title"/>
          </p:nvPr>
        </p:nvSpPr>
        <p:spPr>
          <a:xfrm>
            <a:off x="838200" y="365125"/>
            <a:ext cx="10515600" cy="1384653"/>
          </a:xfrm>
        </p:spPr>
        <p:txBody>
          <a:bodyPr/>
          <a:lstStyle/>
          <a:p>
            <a:pPr algn="ctr"/>
            <a:r>
              <a:rPr lang="en-US" b="1" dirty="0">
                <a:solidFill>
                  <a:srgbClr val="000000"/>
                </a:solidFill>
                <a:latin typeface="Times New Roman" panose="02020603050405020304" pitchFamily="18" charset="0"/>
                <a:ea typeface="Tahoma" panose="020B0604030504040204" pitchFamily="34" charset="0"/>
              </a:rPr>
              <a:t>3. Cloud Auditor</a:t>
            </a:r>
            <a:br>
              <a:rPr lang="en-IN" sz="1800" b="1" dirty="0">
                <a:effectLst/>
                <a:latin typeface="Tahoma" panose="020B0604030504040204" pitchFamily="34" charset="0"/>
                <a:ea typeface="Tahoma" panose="020B0604030504040204" pitchFamily="34" charset="0"/>
              </a:rPr>
            </a:br>
            <a:endParaRPr lang="en-IN" dirty="0"/>
          </a:p>
        </p:txBody>
      </p:sp>
      <p:sp>
        <p:nvSpPr>
          <p:cNvPr id="3" name="Content Placeholder 2">
            <a:extLst>
              <a:ext uri="{FF2B5EF4-FFF2-40B4-BE49-F238E27FC236}">
                <a16:creationId xmlns:a16="http://schemas.microsoft.com/office/drawing/2014/main" id="{5F6ADCA1-EDED-1891-3386-527B8756C5C2}"/>
              </a:ext>
            </a:extLst>
          </p:cNvPr>
          <p:cNvSpPr>
            <a:spLocks noGrp="1"/>
          </p:cNvSpPr>
          <p:nvPr>
            <p:ph idx="1"/>
          </p:nvPr>
        </p:nvSpPr>
        <p:spPr>
          <a:xfrm>
            <a:off x="838200" y="1061156"/>
            <a:ext cx="10515600" cy="5115807"/>
          </a:xfrm>
        </p:spPr>
        <p:txBody>
          <a:bodyPr/>
          <a:lstStyle/>
          <a:p>
            <a:pPr marL="34290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A cloud auditor is a dedicated team of technically skilled person that can perform an independent examination or review of cloud service controls with the intent to express </a:t>
            </a:r>
            <a:r>
              <a:rPr lang="en-US" sz="2400" dirty="0">
                <a:solidFill>
                  <a:srgbClr val="FF0000"/>
                </a:solidFill>
                <a:latin typeface="Times New Roman" panose="02020603050405020304" pitchFamily="18" charset="0"/>
              </a:rPr>
              <a:t>strength and weakness </a:t>
            </a:r>
            <a:r>
              <a:rPr lang="en-US" sz="2400" dirty="0">
                <a:solidFill>
                  <a:srgbClr val="000000"/>
                </a:solidFill>
                <a:latin typeface="Times New Roman" panose="02020603050405020304" pitchFamily="18" charset="0"/>
              </a:rPr>
              <a:t>of the process and </a:t>
            </a:r>
            <a:r>
              <a:rPr lang="en-US" sz="2400" dirty="0">
                <a:solidFill>
                  <a:srgbClr val="FF0000"/>
                </a:solidFill>
                <a:latin typeface="Times New Roman" panose="02020603050405020304" pitchFamily="18" charset="0"/>
              </a:rPr>
              <a:t>some suggestion or improvement.</a:t>
            </a:r>
            <a:endParaRPr lang="en-IN" sz="2400" dirty="0">
              <a:solidFill>
                <a:srgbClr val="FF0000"/>
              </a:solidFill>
              <a:latin typeface="Times New Roman" panose="02020603050405020304" pitchFamily="18" charset="0"/>
            </a:endParaRPr>
          </a:p>
          <a:p>
            <a:pPr marL="34290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Audits are performed to verify the standards of services after checking the evidence.</a:t>
            </a:r>
            <a:endParaRPr lang="en-IN" sz="2400" dirty="0">
              <a:solidFill>
                <a:srgbClr val="000000"/>
              </a:solidFill>
              <a:latin typeface="Times New Roman" panose="02020603050405020304" pitchFamily="18" charset="0"/>
            </a:endParaRPr>
          </a:p>
          <a:p>
            <a:pPr marL="342900" indent="-342900" algn="just" fontAlgn="base">
              <a:buSzPts val="1000"/>
              <a:buFont typeface="Symbol" panose="05050102010706020507" pitchFamily="18" charset="2"/>
              <a:buChar char=""/>
              <a:tabLst>
                <a:tab pos="457200" algn="l"/>
              </a:tabLst>
            </a:pPr>
            <a:r>
              <a:rPr lang="en-US" sz="2400" dirty="0">
                <a:solidFill>
                  <a:srgbClr val="FF0000"/>
                </a:solidFill>
                <a:latin typeface="Times New Roman" panose="02020603050405020304" pitchFamily="18" charset="0"/>
              </a:rPr>
              <a:t>Major role of a cloud auditor is to evaluate the services provided by a cloud provider against the parameters such as security controls, privacy impact and performance etc.</a:t>
            </a:r>
            <a:endParaRPr lang="en-IN" sz="2400" dirty="0">
              <a:solidFill>
                <a:srgbClr val="FF0000"/>
              </a:solidFill>
              <a:latin typeface="Times New Roman" panose="02020603050405020304" pitchFamily="18" charset="0"/>
            </a:endParaRPr>
          </a:p>
          <a:p>
            <a:pPr marL="34290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To perform the audit of security a cloud auditor do the assessment of the security controls in the information system to determine the extent to which the controls are implemented accurately and  operating as per expectation and producing the desired outcome with respect to the security requirements for the system.</a:t>
            </a:r>
            <a:endParaRPr lang="en-IN"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089014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9E6E7-1FC3-8CFE-CC94-E00BA098D2D4}"/>
              </a:ext>
            </a:extLst>
          </p:cNvPr>
          <p:cNvSpPr>
            <a:spLocks noGrp="1"/>
          </p:cNvSpPr>
          <p:nvPr>
            <p:ph type="title"/>
          </p:nvPr>
        </p:nvSpPr>
        <p:spPr>
          <a:xfrm>
            <a:off x="838200" y="365126"/>
            <a:ext cx="10515600" cy="763764"/>
          </a:xfrm>
        </p:spPr>
        <p:txBody>
          <a:bodyPr>
            <a:normAutofit fontScale="90000"/>
          </a:bodyPr>
          <a:lstStyle/>
          <a:p>
            <a:pPr algn="ctr"/>
            <a:r>
              <a:rPr lang="en-US" b="1" dirty="0">
                <a:solidFill>
                  <a:srgbClr val="000000"/>
                </a:solidFill>
                <a:latin typeface="Times New Roman" panose="02020603050405020304" pitchFamily="18" charset="0"/>
                <a:ea typeface="Tahoma" panose="020B0604030504040204" pitchFamily="34" charset="0"/>
              </a:rPr>
              <a:t>4. Cloud Broker</a:t>
            </a:r>
            <a:br>
              <a:rPr lang="en-IN" sz="1800" b="1" dirty="0">
                <a:effectLst/>
                <a:latin typeface="Tahoma" panose="020B0604030504040204" pitchFamily="34" charset="0"/>
                <a:ea typeface="Tahoma" panose="020B0604030504040204" pitchFamily="34" charset="0"/>
              </a:rPr>
            </a:br>
            <a:endParaRPr lang="en-IN" dirty="0"/>
          </a:p>
        </p:txBody>
      </p:sp>
      <p:sp>
        <p:nvSpPr>
          <p:cNvPr id="3" name="Content Placeholder 2">
            <a:extLst>
              <a:ext uri="{FF2B5EF4-FFF2-40B4-BE49-F238E27FC236}">
                <a16:creationId xmlns:a16="http://schemas.microsoft.com/office/drawing/2014/main" id="{12D722F7-60CD-9D50-1AC1-DB36888D35DB}"/>
              </a:ext>
            </a:extLst>
          </p:cNvPr>
          <p:cNvSpPr>
            <a:spLocks noGrp="1"/>
          </p:cNvSpPr>
          <p:nvPr>
            <p:ph idx="1"/>
          </p:nvPr>
        </p:nvSpPr>
        <p:spPr>
          <a:xfrm>
            <a:off x="838200" y="903111"/>
            <a:ext cx="10515600" cy="5273852"/>
          </a:xfrm>
        </p:spPr>
        <p:txBody>
          <a:bodyPr>
            <a:normAutofit/>
          </a:bodyPr>
          <a:lstStyle/>
          <a:p>
            <a:pPr marL="34290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Some time services </a:t>
            </a:r>
            <a:r>
              <a:rPr lang="en-US" sz="2400" dirty="0">
                <a:solidFill>
                  <a:srgbClr val="FF0000"/>
                </a:solidFill>
                <a:latin typeface="Times New Roman" panose="02020603050405020304" pitchFamily="18" charset="0"/>
              </a:rPr>
              <a:t>integrations</a:t>
            </a:r>
            <a:r>
              <a:rPr lang="en-US" sz="2400" dirty="0">
                <a:solidFill>
                  <a:srgbClr val="000000"/>
                </a:solidFill>
                <a:latin typeface="Times New Roman" panose="02020603050405020304" pitchFamily="18" charset="0"/>
              </a:rPr>
              <a:t> becomes more complex due to which it becomes difficult for the cloud consumer to manage the cloud service.</a:t>
            </a:r>
            <a:endParaRPr lang="en-IN" sz="2400" dirty="0">
              <a:solidFill>
                <a:srgbClr val="000000"/>
              </a:solidFill>
              <a:latin typeface="Times New Roman" panose="02020603050405020304" pitchFamily="18" charset="0"/>
            </a:endParaRPr>
          </a:p>
          <a:p>
            <a:pPr marL="34290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In such situation cloud consumer request cloud services from cloud broker. Cloud Broker acts as </a:t>
            </a:r>
            <a:r>
              <a:rPr lang="en-US" sz="2400" dirty="0">
                <a:solidFill>
                  <a:srgbClr val="FF0000"/>
                </a:solidFill>
                <a:latin typeface="Times New Roman" panose="02020603050405020304" pitchFamily="18" charset="0"/>
              </a:rPr>
              <a:t>mediator </a:t>
            </a:r>
            <a:r>
              <a:rPr lang="en-US" sz="2400" dirty="0">
                <a:solidFill>
                  <a:srgbClr val="000000"/>
                </a:solidFill>
                <a:latin typeface="Times New Roman" panose="02020603050405020304" pitchFamily="18" charset="0"/>
              </a:rPr>
              <a:t>between consumer and provider.</a:t>
            </a:r>
            <a:endParaRPr lang="en-IN" sz="2400" dirty="0">
              <a:solidFill>
                <a:srgbClr val="000000"/>
              </a:solidFill>
              <a:latin typeface="Times New Roman" panose="02020603050405020304" pitchFamily="18" charset="0"/>
            </a:endParaRPr>
          </a:p>
          <a:p>
            <a:pPr marL="342900" lvl="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A cloud broker manages the delivery of cloud services, their performance and use.</a:t>
            </a:r>
            <a:endParaRPr lang="en-IN" sz="2400" dirty="0">
              <a:solidFill>
                <a:srgbClr val="000000"/>
              </a:solidFill>
              <a:latin typeface="Times New Roman" panose="02020603050405020304" pitchFamily="18" charset="0"/>
            </a:endParaRPr>
          </a:p>
          <a:p>
            <a:pPr marL="342900" lvl="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A cloud broker </a:t>
            </a:r>
            <a:r>
              <a:rPr lang="en-US" sz="2400" dirty="0">
                <a:solidFill>
                  <a:srgbClr val="FF0000"/>
                </a:solidFill>
                <a:latin typeface="Times New Roman" panose="02020603050405020304" pitchFamily="18" charset="0"/>
              </a:rPr>
              <a:t>negotiates</a:t>
            </a:r>
            <a:r>
              <a:rPr lang="en-US" sz="2400" dirty="0">
                <a:solidFill>
                  <a:srgbClr val="000000"/>
                </a:solidFill>
                <a:latin typeface="Times New Roman" panose="02020603050405020304" pitchFamily="18" charset="0"/>
              </a:rPr>
              <a:t> relationships between cloud providers and cloud consumers.</a:t>
            </a:r>
            <a:endParaRPr lang="en-IN" sz="2400" dirty="0">
              <a:solidFill>
                <a:srgbClr val="000000"/>
              </a:solidFill>
              <a:latin typeface="Times New Roman" panose="02020603050405020304" pitchFamily="18" charset="0"/>
            </a:endParaRPr>
          </a:p>
          <a:p>
            <a:pPr marL="342900" lvl="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In general, a cloud broker involves in three types of activities which are as follow</a:t>
            </a:r>
            <a:endParaRPr lang="en-IN" sz="2400" dirty="0">
              <a:solidFill>
                <a:srgbClr val="000000"/>
              </a:solidFill>
              <a:latin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848811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9B267F-BCDD-54F4-6A60-5A70BC6945A1}"/>
              </a:ext>
            </a:extLst>
          </p:cNvPr>
          <p:cNvSpPr>
            <a:spLocks noGrp="1"/>
          </p:cNvSpPr>
          <p:nvPr>
            <p:ph idx="1"/>
          </p:nvPr>
        </p:nvSpPr>
        <p:spPr>
          <a:xfrm>
            <a:off x="838200" y="372533"/>
            <a:ext cx="10515600" cy="5804430"/>
          </a:xfrm>
        </p:spPr>
        <p:txBody>
          <a:bodyPr>
            <a:normAutofit/>
          </a:bodyPr>
          <a:lstStyle/>
          <a:p>
            <a:pPr marL="0" indent="0" algn="just" fontAlgn="base">
              <a:buSzPts val="1000"/>
              <a:buNone/>
              <a:tabLst>
                <a:tab pos="457200" algn="l"/>
              </a:tabLst>
            </a:pPr>
            <a:r>
              <a:rPr lang="en-US" sz="2400" b="1" dirty="0">
                <a:solidFill>
                  <a:srgbClr val="000000"/>
                </a:solidFill>
                <a:latin typeface="Times New Roman" panose="02020603050405020304" pitchFamily="18" charset="0"/>
              </a:rPr>
              <a:t>Service Intermediation</a:t>
            </a:r>
          </a:p>
          <a:p>
            <a:pPr marL="0" indent="0" algn="just" fontAlgn="base">
              <a:buSzPts val="1000"/>
              <a:buNone/>
              <a:tabLst>
                <a:tab pos="457200" algn="l"/>
              </a:tabLst>
            </a:pPr>
            <a:endParaRPr lang="en-IN" sz="2400" b="1" dirty="0">
              <a:solidFill>
                <a:srgbClr val="000000"/>
              </a:solidFill>
              <a:latin typeface="Times New Roman" panose="02020603050405020304" pitchFamily="18" charset="0"/>
            </a:endParaRPr>
          </a:p>
          <a:p>
            <a:pPr marL="34290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A cloud broker may enhance a given service by improving some specific capability and providing value-added services to cloud consumers.</a:t>
            </a:r>
            <a:endParaRPr lang="en-IN" sz="2400" dirty="0">
              <a:solidFill>
                <a:srgbClr val="000000"/>
              </a:solidFill>
              <a:latin typeface="Times New Roman" panose="02020603050405020304" pitchFamily="18" charset="0"/>
            </a:endParaRPr>
          </a:p>
          <a:p>
            <a:pPr marL="34290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The improvement may be related to managing the access to cloud services, identity management, performance reporting, enhanced security, etc.</a:t>
            </a:r>
            <a:endParaRPr lang="en-IN" sz="2400" dirty="0">
              <a:solidFill>
                <a:srgbClr val="000000"/>
              </a:solidFill>
              <a:latin typeface="Times New Roman" panose="02020603050405020304" pitchFamily="18" charset="0"/>
            </a:endParaRPr>
          </a:p>
          <a:p>
            <a:pPr marL="0" indent="0" algn="just" fontAlgn="base">
              <a:buSzPts val="1000"/>
              <a:buNone/>
              <a:tabLst>
                <a:tab pos="457200" algn="l"/>
              </a:tabLst>
            </a:pPr>
            <a:endParaRPr lang="en-US" sz="2400" b="1" dirty="0">
              <a:solidFill>
                <a:srgbClr val="000000"/>
              </a:solidFill>
              <a:latin typeface="Times New Roman" panose="02020603050405020304" pitchFamily="18" charset="0"/>
            </a:endParaRPr>
          </a:p>
          <a:p>
            <a:pPr marL="0" indent="0" algn="just" fontAlgn="base">
              <a:buSzPts val="1000"/>
              <a:buNone/>
              <a:tabLst>
                <a:tab pos="457200" algn="l"/>
              </a:tabLst>
            </a:pPr>
            <a:r>
              <a:rPr lang="en-US" sz="2400" b="1" dirty="0">
                <a:solidFill>
                  <a:srgbClr val="000000"/>
                </a:solidFill>
                <a:latin typeface="Times New Roman" panose="02020603050405020304" pitchFamily="18" charset="0"/>
              </a:rPr>
              <a:t>Service Aggregation</a:t>
            </a:r>
            <a:endParaRPr lang="en-IN" sz="2400" b="1" dirty="0">
              <a:solidFill>
                <a:srgbClr val="000000"/>
              </a:solidFill>
              <a:latin typeface="Times New Roman" panose="02020603050405020304" pitchFamily="18" charset="0"/>
            </a:endParaRPr>
          </a:p>
          <a:p>
            <a:pPr marL="34290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Services aggregation can be seem as </a:t>
            </a:r>
            <a:r>
              <a:rPr lang="en-US" sz="2400" dirty="0">
                <a:solidFill>
                  <a:srgbClr val="FF0000"/>
                </a:solidFill>
                <a:latin typeface="Times New Roman" panose="02020603050405020304" pitchFamily="18" charset="0"/>
              </a:rPr>
              <a:t>combining and integrating multiple services</a:t>
            </a:r>
            <a:r>
              <a:rPr lang="en-US" sz="2400" dirty="0">
                <a:solidFill>
                  <a:srgbClr val="000000"/>
                </a:solidFill>
                <a:latin typeface="Times New Roman" panose="02020603050405020304" pitchFamily="18" charset="0"/>
              </a:rPr>
              <a:t> into one or some more new services.</a:t>
            </a:r>
            <a:endParaRPr lang="en-IN" sz="2400" dirty="0">
              <a:solidFill>
                <a:srgbClr val="000000"/>
              </a:solidFill>
              <a:latin typeface="Times New Roman" panose="02020603050405020304" pitchFamily="18" charset="0"/>
            </a:endParaRPr>
          </a:p>
          <a:p>
            <a:pPr marL="34290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The broker ensures the </a:t>
            </a:r>
            <a:r>
              <a:rPr lang="en-US" sz="2400" dirty="0">
                <a:solidFill>
                  <a:srgbClr val="FF0000"/>
                </a:solidFill>
                <a:latin typeface="Times New Roman" panose="02020603050405020304" pitchFamily="18" charset="0"/>
              </a:rPr>
              <a:t>data movement </a:t>
            </a:r>
            <a:r>
              <a:rPr lang="en-US" sz="2400" dirty="0">
                <a:solidFill>
                  <a:srgbClr val="000000"/>
                </a:solidFill>
                <a:latin typeface="Times New Roman" panose="02020603050405020304" pitchFamily="18" charset="0"/>
              </a:rPr>
              <a:t>between the cloud consumer and multiple cloud providers in secure manner.</a:t>
            </a:r>
            <a:endParaRPr lang="en-IN" sz="2400" dirty="0">
              <a:solidFill>
                <a:srgbClr val="000000"/>
              </a:solidFill>
              <a:latin typeface="Times New Roman" panose="02020603050405020304" pitchFamily="18" charset="0"/>
            </a:endParaRPr>
          </a:p>
          <a:p>
            <a:pPr marL="34290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A cloud broker also provides the </a:t>
            </a:r>
            <a:r>
              <a:rPr lang="en-US" sz="2400" dirty="0">
                <a:solidFill>
                  <a:srgbClr val="FF0000"/>
                </a:solidFill>
                <a:latin typeface="Times New Roman" panose="02020603050405020304" pitchFamily="18" charset="0"/>
              </a:rPr>
              <a:t>data integration.</a:t>
            </a:r>
            <a:endParaRPr lang="en-IN" sz="2400" dirty="0">
              <a:solidFill>
                <a:srgbClr val="FF0000"/>
              </a:solidFill>
              <a:latin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6053986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1C7AA3-3D13-A7CA-6A44-B692A8048A9F}"/>
              </a:ext>
            </a:extLst>
          </p:cNvPr>
          <p:cNvSpPr>
            <a:spLocks noGrp="1"/>
          </p:cNvSpPr>
          <p:nvPr>
            <p:ph idx="1"/>
          </p:nvPr>
        </p:nvSpPr>
        <p:spPr>
          <a:xfrm>
            <a:off x="838200" y="180622"/>
            <a:ext cx="10515600" cy="5996341"/>
          </a:xfrm>
        </p:spPr>
        <p:txBody>
          <a:bodyPr/>
          <a:lstStyle/>
          <a:p>
            <a:pPr marL="0" indent="0" algn="just" fontAlgn="base">
              <a:buSzPts val="1000"/>
              <a:buNone/>
              <a:tabLst>
                <a:tab pos="457200" algn="l"/>
              </a:tabLst>
            </a:pPr>
            <a:r>
              <a:rPr lang="en-US" sz="2400" b="1" dirty="0">
                <a:solidFill>
                  <a:srgbClr val="000000"/>
                </a:solidFill>
                <a:latin typeface="Times New Roman" panose="02020603050405020304" pitchFamily="18" charset="0"/>
              </a:rPr>
              <a:t>Service Arbitrage</a:t>
            </a:r>
            <a:endParaRPr lang="en-IN" sz="2400" b="1" dirty="0">
              <a:solidFill>
                <a:srgbClr val="000000"/>
              </a:solidFill>
              <a:latin typeface="Times New Roman" panose="02020603050405020304" pitchFamily="18" charset="0"/>
            </a:endParaRPr>
          </a:p>
          <a:p>
            <a:pPr marL="34290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Service arbitrage is very similar to service aggregation but there is a little bit difference also.</a:t>
            </a:r>
            <a:endParaRPr lang="en-IN" sz="2400" dirty="0">
              <a:solidFill>
                <a:srgbClr val="000000"/>
              </a:solidFill>
              <a:latin typeface="Times New Roman" panose="02020603050405020304" pitchFamily="18" charset="0"/>
            </a:endParaRPr>
          </a:p>
          <a:p>
            <a:pPr marL="342900" indent="-342900" algn="just" fontAlgn="base">
              <a:buSzPts val="1000"/>
              <a:buFont typeface="Symbol" panose="05050102010706020507" pitchFamily="18" charset="2"/>
              <a:buChar char=""/>
              <a:tabLst>
                <a:tab pos="457200" algn="l"/>
              </a:tabLst>
            </a:pPr>
            <a:r>
              <a:rPr lang="en-US" sz="2400" dirty="0">
                <a:solidFill>
                  <a:srgbClr val="FF0000"/>
                </a:solidFill>
                <a:latin typeface="Times New Roman" panose="02020603050405020304" pitchFamily="18" charset="0"/>
              </a:rPr>
              <a:t>In service arbitrage the services to be aggregated are not fixed in advance.</a:t>
            </a:r>
            <a:endParaRPr lang="en-IN" sz="2400" dirty="0">
              <a:solidFill>
                <a:srgbClr val="FF0000"/>
              </a:solidFill>
              <a:latin typeface="Times New Roman" panose="02020603050405020304" pitchFamily="18" charset="0"/>
            </a:endParaRPr>
          </a:p>
          <a:p>
            <a:pPr marL="34290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In Service arbitrage a broker has the flexibility to select the services from multiple agencies.</a:t>
            </a:r>
            <a:endParaRPr lang="en-IN" sz="2400" dirty="0">
              <a:solidFill>
                <a:srgbClr val="000000"/>
              </a:solidFill>
              <a:latin typeface="Times New Roman" panose="02020603050405020304" pitchFamily="18" charset="0"/>
            </a:endParaRPr>
          </a:p>
          <a:p>
            <a:pPr marL="34290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The cloud broker, for example, can use a credit-scoring service to measure and select an agency with the best score.</a:t>
            </a:r>
            <a:endParaRPr lang="en-IN" sz="2400" dirty="0">
              <a:solidFill>
                <a:srgbClr val="000000"/>
              </a:solidFill>
              <a:latin typeface="Times New Roman" panose="02020603050405020304" pitchFamily="18" charset="0"/>
            </a:endParaRPr>
          </a:p>
          <a:p>
            <a:endParaRPr lang="en-IN" dirty="0"/>
          </a:p>
        </p:txBody>
      </p:sp>
    </p:spTree>
    <p:extLst>
      <p:ext uri="{BB962C8B-B14F-4D97-AF65-F5344CB8AC3E}">
        <p14:creationId xmlns:p14="http://schemas.microsoft.com/office/powerpoint/2010/main" val="41698506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D1E32-C4CD-4139-95C2-49545F4F829A}"/>
              </a:ext>
            </a:extLst>
          </p:cNvPr>
          <p:cNvSpPr>
            <a:spLocks noGrp="1"/>
          </p:cNvSpPr>
          <p:nvPr>
            <p:ph type="title"/>
          </p:nvPr>
        </p:nvSpPr>
        <p:spPr>
          <a:xfrm>
            <a:off x="838200" y="365125"/>
            <a:ext cx="10515600" cy="732155"/>
          </a:xfrm>
        </p:spPr>
        <p:txBody>
          <a:bodyPr>
            <a:normAutofit fontScale="90000"/>
          </a:bodyPr>
          <a:lstStyle/>
          <a:p>
            <a:br>
              <a:rPr lang="en-US" dirty="0"/>
            </a:br>
            <a:r>
              <a:rPr lang="en-US" sz="2700" b="1" dirty="0"/>
              <a:t>Service Aggregation Service Arbitration (or Arbitrage)</a:t>
            </a:r>
            <a:br>
              <a:rPr lang="en-US" sz="2700" b="1" dirty="0"/>
            </a:br>
            <a:br>
              <a:rPr lang="en-US" dirty="0"/>
            </a:br>
            <a:endParaRPr lang="en-US" dirty="0"/>
          </a:p>
        </p:txBody>
      </p:sp>
      <p:sp>
        <p:nvSpPr>
          <p:cNvPr id="3" name="Content Placeholder 2">
            <a:extLst>
              <a:ext uri="{FF2B5EF4-FFF2-40B4-BE49-F238E27FC236}">
                <a16:creationId xmlns:a16="http://schemas.microsoft.com/office/drawing/2014/main" id="{71D755E3-99B3-40A1-9560-50CA32CDC2CF}"/>
              </a:ext>
            </a:extLst>
          </p:cNvPr>
          <p:cNvSpPr>
            <a:spLocks noGrp="1"/>
          </p:cNvSpPr>
          <p:nvPr>
            <p:ph idx="1"/>
          </p:nvPr>
        </p:nvSpPr>
        <p:spPr>
          <a:xfrm>
            <a:off x="838200" y="717452"/>
            <a:ext cx="10515600" cy="6260123"/>
          </a:xfrm>
        </p:spPr>
        <p:txBody>
          <a:bodyPr>
            <a:normAutofit fontScale="85000" lnSpcReduction="20000"/>
          </a:bodyPr>
          <a:lstStyle/>
          <a:p>
            <a:r>
              <a:rPr lang="en-US" dirty="0"/>
              <a:t>Definition: Integrating multiple underlying services (often from different providers) to present a single, new, combined service to the end-user.</a:t>
            </a:r>
          </a:p>
          <a:p>
            <a:r>
              <a:rPr lang="en-US" dirty="0"/>
              <a:t>Mechanism: A cloud broker or aggregator finds and combines services, handling data integration and security.</a:t>
            </a:r>
          </a:p>
          <a:p>
            <a:r>
              <a:rPr lang="en-US" dirty="0"/>
              <a:t>Goal: Convenience, extended functionality, or a consolidated view (e.g., one app for flights, hotels, and cars).</a:t>
            </a:r>
          </a:p>
          <a:p>
            <a:r>
              <a:rPr lang="en-US" dirty="0">
                <a:solidFill>
                  <a:srgbClr val="FF0000"/>
                </a:solidFill>
              </a:rPr>
              <a:t>Example: A travel portal aggregating airline, hotel, and car rental APIs into one booking platform. </a:t>
            </a:r>
          </a:p>
          <a:p>
            <a:endParaRPr lang="en-US" dirty="0">
              <a:solidFill>
                <a:srgbClr val="FF0000"/>
              </a:solidFill>
            </a:endParaRPr>
          </a:p>
          <a:p>
            <a:r>
              <a:rPr lang="en-US" dirty="0"/>
              <a:t>Service Arbitration (or Arbitrage)</a:t>
            </a:r>
          </a:p>
          <a:p>
            <a:r>
              <a:rPr lang="en-US" dirty="0"/>
              <a:t>Definition: Dynamically choosing among various providers offering similar services, based on criteria like cost, performance, or location.</a:t>
            </a:r>
          </a:p>
          <a:p>
            <a:r>
              <a:rPr lang="en-US" dirty="0"/>
              <a:t>Mechanism: A broker makes "opportunistic choices," selecting the best fit at any given moment, rather than a fixed combination.</a:t>
            </a:r>
          </a:p>
          <a:p>
            <a:r>
              <a:rPr lang="en-US" dirty="0"/>
              <a:t>Goal: Flexibility, cost optimization, reduced vendor lock-in, and better Service Level Agreements (SLAs).</a:t>
            </a:r>
          </a:p>
          <a:p>
            <a:r>
              <a:rPr lang="en-US" dirty="0">
                <a:solidFill>
                  <a:srgbClr val="FF0000"/>
                </a:solidFill>
              </a:rPr>
              <a:t>Example: An application choosing between Amazon S3, Google Cloud Storage, or Azure Blob Storage for data storage based on current pricing or regional performance. </a:t>
            </a:r>
          </a:p>
          <a:p>
            <a:endParaRPr lang="en-US" dirty="0"/>
          </a:p>
        </p:txBody>
      </p:sp>
    </p:spTree>
    <p:extLst>
      <p:ext uri="{BB962C8B-B14F-4D97-AF65-F5344CB8AC3E}">
        <p14:creationId xmlns:p14="http://schemas.microsoft.com/office/powerpoint/2010/main" val="3733679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94E2D-D78E-4580-9E59-7FFDCD211D49}"/>
              </a:ext>
            </a:extLst>
          </p:cNvPr>
          <p:cNvSpPr>
            <a:spLocks noGrp="1"/>
          </p:cNvSpPr>
          <p:nvPr>
            <p:ph type="title"/>
          </p:nvPr>
        </p:nvSpPr>
        <p:spPr/>
        <p:txBody>
          <a:bodyPr/>
          <a:lstStyle/>
          <a:p>
            <a:r>
              <a:rPr lang="en-US" dirty="0"/>
              <a:t>Key Differences</a:t>
            </a:r>
            <a:br>
              <a:rPr lang="en-US" dirty="0"/>
            </a:br>
            <a:endParaRPr lang="en-US" dirty="0"/>
          </a:p>
        </p:txBody>
      </p:sp>
      <p:sp>
        <p:nvSpPr>
          <p:cNvPr id="3" name="Content Placeholder 2">
            <a:extLst>
              <a:ext uri="{FF2B5EF4-FFF2-40B4-BE49-F238E27FC236}">
                <a16:creationId xmlns:a16="http://schemas.microsoft.com/office/drawing/2014/main" id="{ECA327A9-633C-4A5F-A6FC-19D60344B36B}"/>
              </a:ext>
            </a:extLst>
          </p:cNvPr>
          <p:cNvSpPr>
            <a:spLocks noGrp="1"/>
          </p:cNvSpPr>
          <p:nvPr>
            <p:ph idx="1"/>
          </p:nvPr>
        </p:nvSpPr>
        <p:spPr>
          <a:xfrm>
            <a:off x="838200" y="1252025"/>
            <a:ext cx="10515600" cy="4924938"/>
          </a:xfrm>
        </p:spPr>
        <p:txBody>
          <a:bodyPr>
            <a:normAutofit/>
          </a:bodyPr>
          <a:lstStyle/>
          <a:p>
            <a:r>
              <a:rPr lang="en-US" dirty="0"/>
              <a:t>Aggregation is about combining: Building a bigger service from smaller ones.</a:t>
            </a:r>
          </a:p>
          <a:p>
            <a:pPr marL="0" indent="0">
              <a:buNone/>
            </a:pPr>
            <a:endParaRPr lang="en-US" dirty="0"/>
          </a:p>
          <a:p>
            <a:r>
              <a:rPr lang="en-US" dirty="0"/>
              <a:t>Arbitration is about choosing: Selecting the best option from many.</a:t>
            </a:r>
          </a:p>
          <a:p>
            <a:pPr marL="0" indent="0">
              <a:buNone/>
            </a:pPr>
            <a:endParaRPr lang="en-US" dirty="0"/>
          </a:p>
          <a:p>
            <a:r>
              <a:rPr lang="en-US" dirty="0"/>
              <a:t>Aggregation: Fixed set of backend services.</a:t>
            </a:r>
          </a:p>
          <a:p>
            <a:pPr marL="0" indent="0">
              <a:buNone/>
            </a:pPr>
            <a:endParaRPr lang="en-US" dirty="0"/>
          </a:p>
          <a:p>
            <a:r>
              <a:rPr lang="en-US" dirty="0"/>
              <a:t>Arbitration: Flexible, dynamic choice of providers. </a:t>
            </a:r>
          </a:p>
          <a:p>
            <a:pPr marL="0" indent="0">
              <a:buNone/>
            </a:pPr>
            <a:endParaRPr lang="en-US" dirty="0"/>
          </a:p>
          <a:p>
            <a:endParaRPr lang="en-US" dirty="0"/>
          </a:p>
        </p:txBody>
      </p:sp>
    </p:spTree>
    <p:extLst>
      <p:ext uri="{BB962C8B-B14F-4D97-AF65-F5344CB8AC3E}">
        <p14:creationId xmlns:p14="http://schemas.microsoft.com/office/powerpoint/2010/main" val="8232948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39E1C-77F4-53B9-444D-67B66685892A}"/>
              </a:ext>
            </a:extLst>
          </p:cNvPr>
          <p:cNvSpPr>
            <a:spLocks noGrp="1"/>
          </p:cNvSpPr>
          <p:nvPr>
            <p:ph type="title"/>
          </p:nvPr>
        </p:nvSpPr>
        <p:spPr/>
        <p:txBody>
          <a:bodyPr/>
          <a:lstStyle/>
          <a:p>
            <a:pPr algn="ctr"/>
            <a:r>
              <a:rPr lang="en-US" sz="4000" b="1" dirty="0">
                <a:solidFill>
                  <a:srgbClr val="000000"/>
                </a:solidFill>
                <a:latin typeface="Times New Roman" panose="02020603050405020304" pitchFamily="18" charset="0"/>
                <a:ea typeface="Tahoma" panose="020B0604030504040204" pitchFamily="34" charset="0"/>
              </a:rPr>
              <a:t>5. Cloud Carrier</a:t>
            </a:r>
            <a:br>
              <a:rPr lang="en-IN" sz="4400" b="1" dirty="0">
                <a:effectLst/>
                <a:latin typeface="Tahoma" panose="020B0604030504040204" pitchFamily="34" charset="0"/>
                <a:ea typeface="Tahoma" panose="020B0604030504040204" pitchFamily="34" charset="0"/>
              </a:rPr>
            </a:br>
            <a:endParaRPr lang="en-IN" dirty="0"/>
          </a:p>
        </p:txBody>
      </p:sp>
      <p:sp>
        <p:nvSpPr>
          <p:cNvPr id="3" name="Content Placeholder 2">
            <a:extLst>
              <a:ext uri="{FF2B5EF4-FFF2-40B4-BE49-F238E27FC236}">
                <a16:creationId xmlns:a16="http://schemas.microsoft.com/office/drawing/2014/main" id="{AE0FC6DE-BD20-6A0C-62BC-6D1E8F8F74E2}"/>
              </a:ext>
            </a:extLst>
          </p:cNvPr>
          <p:cNvSpPr>
            <a:spLocks noGrp="1"/>
          </p:cNvSpPr>
          <p:nvPr>
            <p:ph idx="1"/>
          </p:nvPr>
        </p:nvSpPr>
        <p:spPr/>
        <p:txBody>
          <a:bodyPr/>
          <a:lstStyle/>
          <a:p>
            <a:pPr marL="34290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Cloud Carrier is another important actor in NIST cloud computing reference architecture.</a:t>
            </a:r>
            <a:endParaRPr lang="en-IN" sz="2400" dirty="0">
              <a:solidFill>
                <a:srgbClr val="000000"/>
              </a:solidFill>
              <a:latin typeface="Times New Roman" panose="02020603050405020304" pitchFamily="18" charset="0"/>
            </a:endParaRPr>
          </a:p>
          <a:p>
            <a:pPr marL="342900" lvl="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Role of cloud carrier is to provide the connectivity and transport of cloud services between cloud consumers and cloud providers.</a:t>
            </a:r>
            <a:endParaRPr lang="en-IN" sz="2400" dirty="0">
              <a:solidFill>
                <a:srgbClr val="000000"/>
              </a:solidFill>
              <a:latin typeface="Times New Roman" panose="02020603050405020304" pitchFamily="18" charset="0"/>
            </a:endParaRPr>
          </a:p>
          <a:p>
            <a:pPr marL="342900" lvl="0" indent="-342900" algn="just" fontAlgn="base">
              <a:buSzPts val="1000"/>
              <a:buFont typeface="Symbol" panose="05050102010706020507" pitchFamily="18" charset="2"/>
              <a:buChar char=""/>
              <a:tabLst>
                <a:tab pos="457200" algn="l"/>
              </a:tabLst>
            </a:pPr>
            <a:r>
              <a:rPr lang="en-US" sz="2400" dirty="0">
                <a:solidFill>
                  <a:srgbClr val="000000"/>
                </a:solidFill>
                <a:latin typeface="Times New Roman" panose="02020603050405020304" pitchFamily="18" charset="0"/>
              </a:rPr>
              <a:t>Cloud carriers provide access to consumers through </a:t>
            </a:r>
            <a:r>
              <a:rPr lang="en-US" sz="2400" dirty="0">
                <a:solidFill>
                  <a:srgbClr val="000000"/>
                </a:solidFill>
                <a:latin typeface="Times New Roman" panose="02020603050405020304" pitchFamily="18" charset="0"/>
                <a:hlinkClick r:id="rId2">
                  <a:extLst>
                    <a:ext uri="{A12FA001-AC4F-418D-AE19-62706E023703}">
                      <ahyp:hlinkClr xmlns:ahyp="http://schemas.microsoft.com/office/drawing/2018/hyperlinkcolor" val="tx"/>
                    </a:ext>
                  </a:extLst>
                </a:hlinkClick>
              </a:rPr>
              <a:t>network</a:t>
            </a:r>
            <a:r>
              <a:rPr lang="en-US" sz="2400" dirty="0">
                <a:solidFill>
                  <a:srgbClr val="000000"/>
                </a:solidFill>
                <a:latin typeface="Times New Roman" panose="02020603050405020304" pitchFamily="18" charset="0"/>
              </a:rPr>
              <a:t>, telecommunication and other access devices. For example-cloud consumers can obtain cloud services through network access devices, such as computers, laptops, mobile phones, mobile Internet devices.</a:t>
            </a:r>
            <a:endParaRPr lang="en-IN" sz="2400" dirty="0">
              <a:solidFill>
                <a:srgbClr val="000000"/>
              </a:solidFill>
              <a:latin typeface="Times New Roman" panose="02020603050405020304" pitchFamily="18" charset="0"/>
            </a:endParaRPr>
          </a:p>
          <a:p>
            <a:endParaRPr lang="en-IN" dirty="0"/>
          </a:p>
        </p:txBody>
      </p:sp>
    </p:spTree>
    <p:extLst>
      <p:ext uri="{BB962C8B-B14F-4D97-AF65-F5344CB8AC3E}">
        <p14:creationId xmlns:p14="http://schemas.microsoft.com/office/powerpoint/2010/main" val="25732808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2D8EA-D5AD-4804-BB55-88B4CBA4A635}"/>
              </a:ext>
            </a:extLst>
          </p:cNvPr>
          <p:cNvSpPr>
            <a:spLocks noGrp="1"/>
          </p:cNvSpPr>
          <p:nvPr>
            <p:ph type="title"/>
          </p:nvPr>
        </p:nvSpPr>
        <p:spPr/>
        <p:txBody>
          <a:bodyPr/>
          <a:lstStyle/>
          <a:p>
            <a:r>
              <a:rPr lang="en-US" dirty="0"/>
              <a:t>Cloud service management</a:t>
            </a:r>
          </a:p>
        </p:txBody>
      </p:sp>
      <p:sp>
        <p:nvSpPr>
          <p:cNvPr id="3" name="Content Placeholder 2">
            <a:extLst>
              <a:ext uri="{FF2B5EF4-FFF2-40B4-BE49-F238E27FC236}">
                <a16:creationId xmlns:a16="http://schemas.microsoft.com/office/drawing/2014/main" id="{2FF33CA5-C051-4EE9-87EB-CDBB431302F0}"/>
              </a:ext>
            </a:extLst>
          </p:cNvPr>
          <p:cNvSpPr>
            <a:spLocks noGrp="1"/>
          </p:cNvSpPr>
          <p:nvPr>
            <p:ph idx="1"/>
          </p:nvPr>
        </p:nvSpPr>
        <p:spPr/>
        <p:txBody>
          <a:bodyPr>
            <a:normAutofit lnSpcReduction="10000"/>
          </a:bodyPr>
          <a:lstStyle/>
          <a:p>
            <a:pPr fontAlgn="ctr"/>
            <a:r>
              <a:rPr lang="en-US" dirty="0"/>
              <a:t>Cloud Service Management (CSM) is the organized process of overseeing, controlling, and optimizing an organization's cloud computing resources, services, and applications across public, private, hybrid, or multi-cloud environments, using strategies, tools, and policies to ensure security, cost-efficiency, performance, and compliance while aligning with business goals. It involves managing everything from resource provisioning and monitoring to security, data integration, and lifecycle management, often leveraging automation for better efficiency and control. </a:t>
            </a:r>
          </a:p>
          <a:p>
            <a:pPr marL="0" indent="0">
              <a:buNone/>
            </a:pPr>
            <a:br>
              <a:rPr lang="en-US" dirty="0"/>
            </a:br>
            <a:endParaRPr lang="en-US" dirty="0"/>
          </a:p>
        </p:txBody>
      </p:sp>
    </p:spTree>
    <p:extLst>
      <p:ext uri="{BB962C8B-B14F-4D97-AF65-F5344CB8AC3E}">
        <p14:creationId xmlns:p14="http://schemas.microsoft.com/office/powerpoint/2010/main" val="10171092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1AB81-2CE0-41C7-9EF5-96289B5F6C31}"/>
              </a:ext>
            </a:extLst>
          </p:cNvPr>
          <p:cNvSpPr>
            <a:spLocks noGrp="1"/>
          </p:cNvSpPr>
          <p:nvPr>
            <p:ph type="title"/>
          </p:nvPr>
        </p:nvSpPr>
        <p:spPr>
          <a:xfrm>
            <a:off x="838200" y="365126"/>
            <a:ext cx="10515600" cy="689952"/>
          </a:xfrm>
        </p:spPr>
        <p:txBody>
          <a:bodyPr>
            <a:normAutofit fontScale="90000"/>
          </a:bodyPr>
          <a:lstStyle/>
          <a:p>
            <a:br>
              <a:rPr lang="en-US" dirty="0"/>
            </a:br>
            <a:r>
              <a:rPr lang="en-US" dirty="0"/>
              <a:t>Key Aspects of Cloud Service Management:</a:t>
            </a:r>
            <a:br>
              <a:rPr lang="en-US" dirty="0"/>
            </a:br>
            <a:endParaRPr lang="en-US" dirty="0"/>
          </a:p>
        </p:txBody>
      </p:sp>
      <p:sp>
        <p:nvSpPr>
          <p:cNvPr id="3" name="Content Placeholder 2">
            <a:extLst>
              <a:ext uri="{FF2B5EF4-FFF2-40B4-BE49-F238E27FC236}">
                <a16:creationId xmlns:a16="http://schemas.microsoft.com/office/drawing/2014/main" id="{3B099D5F-DF8A-48B7-A407-362099F9CA44}"/>
              </a:ext>
            </a:extLst>
          </p:cNvPr>
          <p:cNvSpPr>
            <a:spLocks noGrp="1"/>
          </p:cNvSpPr>
          <p:nvPr>
            <p:ph idx="1"/>
          </p:nvPr>
        </p:nvSpPr>
        <p:spPr>
          <a:xfrm>
            <a:off x="838200" y="1209822"/>
            <a:ext cx="10515600" cy="4967141"/>
          </a:xfrm>
        </p:spPr>
        <p:txBody>
          <a:bodyPr>
            <a:normAutofit lnSpcReduction="10000"/>
          </a:bodyPr>
          <a:lstStyle/>
          <a:p>
            <a:r>
              <a:rPr lang="en-US" dirty="0"/>
              <a:t>Resource Orchestration: Deploying, monitoring, and managing computing power, storage, and other resources. </a:t>
            </a:r>
          </a:p>
          <a:p>
            <a:r>
              <a:rPr lang="en-US" dirty="0"/>
              <a:t>Cost Management (FinOps): Controlling spending and reducing waste through efficient resource allocation and utilization. </a:t>
            </a:r>
          </a:p>
          <a:p>
            <a:r>
              <a:rPr lang="en-US" dirty="0"/>
              <a:t>Security &amp; Compliance: Implementing policies for identity access, encryption, threat detection, and regulatory adherence. </a:t>
            </a:r>
          </a:p>
          <a:p>
            <a:r>
              <a:rPr lang="en-US" dirty="0"/>
              <a:t>Performance Optimization: Ensuring applications run smoothly and efficiently. </a:t>
            </a:r>
          </a:p>
          <a:p>
            <a:r>
              <a:rPr lang="en-US" dirty="0"/>
              <a:t>Automation: Automating tasks like provisioning, scaling, and remediation. </a:t>
            </a:r>
          </a:p>
          <a:p>
            <a:r>
              <a:rPr lang="en-US" dirty="0"/>
              <a:t>Governance: Establishing rules and policies for cloud usage. </a:t>
            </a:r>
          </a:p>
          <a:p>
            <a:r>
              <a:rPr lang="en-US" dirty="0"/>
              <a:t>Visibility: Gaining a unified view of all cloud assets and operations. </a:t>
            </a:r>
          </a:p>
          <a:p>
            <a:endParaRPr lang="en-US" dirty="0"/>
          </a:p>
        </p:txBody>
      </p:sp>
    </p:spTree>
    <p:extLst>
      <p:ext uri="{BB962C8B-B14F-4D97-AF65-F5344CB8AC3E}">
        <p14:creationId xmlns:p14="http://schemas.microsoft.com/office/powerpoint/2010/main" val="19141495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DFB8C-CC1E-4357-AB78-57E3652BA63D}"/>
              </a:ext>
            </a:extLst>
          </p:cNvPr>
          <p:cNvSpPr>
            <a:spLocks noGrp="1"/>
          </p:cNvSpPr>
          <p:nvPr>
            <p:ph type="title"/>
          </p:nvPr>
        </p:nvSpPr>
        <p:spPr>
          <a:xfrm>
            <a:off x="838200" y="365125"/>
            <a:ext cx="10515600" cy="985373"/>
          </a:xfrm>
        </p:spPr>
        <p:txBody>
          <a:bodyPr>
            <a:normAutofit fontScale="90000"/>
          </a:bodyPr>
          <a:lstStyle/>
          <a:p>
            <a:r>
              <a:rPr lang="en-US" b="1" dirty="0"/>
              <a:t>Cloud Deployment Model:-</a:t>
            </a:r>
            <a:br>
              <a:rPr lang="en-US" dirty="0"/>
            </a:br>
            <a:endParaRPr lang="en-US" dirty="0"/>
          </a:p>
        </p:txBody>
      </p:sp>
      <p:sp>
        <p:nvSpPr>
          <p:cNvPr id="3" name="Content Placeholder 2">
            <a:extLst>
              <a:ext uri="{FF2B5EF4-FFF2-40B4-BE49-F238E27FC236}">
                <a16:creationId xmlns:a16="http://schemas.microsoft.com/office/drawing/2014/main" id="{6337BA15-166A-4127-842A-59DB90E9A729}"/>
              </a:ext>
            </a:extLst>
          </p:cNvPr>
          <p:cNvSpPr>
            <a:spLocks noGrp="1"/>
          </p:cNvSpPr>
          <p:nvPr>
            <p:ph idx="1"/>
          </p:nvPr>
        </p:nvSpPr>
        <p:spPr>
          <a:xfrm>
            <a:off x="838200" y="1083212"/>
            <a:ext cx="10515600" cy="5093751"/>
          </a:xfrm>
        </p:spPr>
        <p:txBody>
          <a:bodyPr/>
          <a:lstStyle/>
          <a:p>
            <a:pPr fontAlgn="base"/>
            <a:r>
              <a:rPr lang="en-US" dirty="0"/>
              <a:t>Cloud Deployment Model functions as a virtual computing environment with a deployment architecture that varies depending on the amount of data you want to store and who has access to the infrastructure.</a:t>
            </a:r>
          </a:p>
          <a:p>
            <a:pPr fontAlgn="base"/>
            <a:r>
              <a:rPr lang="en-US" u="sng" dirty="0">
                <a:hlinkClick r:id="rId2"/>
              </a:rPr>
              <a:t>Different types of cloud</a:t>
            </a:r>
            <a:r>
              <a:rPr lang="en-US" dirty="0"/>
              <a:t> computing deployment models are described below.</a:t>
            </a:r>
          </a:p>
          <a:p>
            <a:pPr lvl="0" fontAlgn="base"/>
            <a:r>
              <a:rPr lang="en-US" u="sng" dirty="0">
                <a:hlinkClick r:id="rId3"/>
              </a:rPr>
              <a:t>Public Cloud</a:t>
            </a:r>
            <a:endParaRPr lang="en-US" u="sng" dirty="0"/>
          </a:p>
          <a:p>
            <a:pPr lvl="0" fontAlgn="base"/>
            <a:r>
              <a:rPr lang="en-US" u="sng" dirty="0"/>
              <a:t>Private Cloud</a:t>
            </a:r>
          </a:p>
          <a:p>
            <a:pPr lvl="0" fontAlgn="base"/>
            <a:r>
              <a:rPr lang="en-US" u="sng" dirty="0">
                <a:hlinkClick r:id="rId4"/>
              </a:rPr>
              <a:t>Hybrid Cloud</a:t>
            </a:r>
            <a:endParaRPr lang="en-US" u="sng" dirty="0"/>
          </a:p>
          <a:p>
            <a:pPr lvl="0" fontAlgn="base"/>
            <a:r>
              <a:rPr lang="en-US" u="sng" dirty="0"/>
              <a:t>Community Cloud</a:t>
            </a:r>
          </a:p>
          <a:p>
            <a:pPr lvl="0" fontAlgn="base"/>
            <a:r>
              <a:rPr lang="en-US" u="sng" dirty="0">
                <a:hlinkClick r:id="rId5"/>
              </a:rPr>
              <a:t>Multi-Cloud</a:t>
            </a:r>
            <a:r>
              <a:rPr lang="en-US" u="sng" dirty="0"/>
              <a:t> </a:t>
            </a:r>
          </a:p>
          <a:p>
            <a:pPr fontAlgn="base"/>
            <a:endParaRPr lang="en-US" dirty="0"/>
          </a:p>
          <a:p>
            <a:endParaRPr lang="en-US" dirty="0"/>
          </a:p>
        </p:txBody>
      </p:sp>
    </p:spTree>
    <p:extLst>
      <p:ext uri="{BB962C8B-B14F-4D97-AF65-F5344CB8AC3E}">
        <p14:creationId xmlns:p14="http://schemas.microsoft.com/office/powerpoint/2010/main" val="36988303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A3DB1-0505-40D6-8749-BA8AED19F459}"/>
              </a:ext>
            </a:extLst>
          </p:cNvPr>
          <p:cNvSpPr>
            <a:spLocks noGrp="1"/>
          </p:cNvSpPr>
          <p:nvPr>
            <p:ph type="title"/>
          </p:nvPr>
        </p:nvSpPr>
        <p:spPr>
          <a:xfrm>
            <a:off x="838200" y="365126"/>
            <a:ext cx="10515600" cy="844696"/>
          </a:xfrm>
        </p:spPr>
        <p:txBody>
          <a:bodyPr>
            <a:normAutofit fontScale="90000"/>
          </a:bodyPr>
          <a:lstStyle/>
          <a:p>
            <a:r>
              <a:rPr lang="en-US" b="1" dirty="0"/>
              <a:t>Public Cloud </a:t>
            </a:r>
            <a:br>
              <a:rPr lang="en-US" dirty="0"/>
            </a:br>
            <a:endParaRPr lang="en-US" dirty="0"/>
          </a:p>
        </p:txBody>
      </p:sp>
      <p:pic>
        <p:nvPicPr>
          <p:cNvPr id="4" name="Content Placeholder 3" descr="Public Cloud ">
            <a:extLst>
              <a:ext uri="{FF2B5EF4-FFF2-40B4-BE49-F238E27FC236}">
                <a16:creationId xmlns:a16="http://schemas.microsoft.com/office/drawing/2014/main" id="{A87EC27B-E994-4CAB-B95F-CB3FA383BEAF}"/>
              </a:ext>
            </a:extLst>
          </p:cNvPr>
          <p:cNvPicPr>
            <a:picLocks noGrp="1"/>
          </p:cNvPicPr>
          <p:nvPr>
            <p:ph idx="1"/>
          </p:nvPr>
        </p:nvPicPr>
        <p:blipFill>
          <a:blip r:embed="rId2"/>
          <a:srcRect/>
          <a:stretch>
            <a:fillRect/>
          </a:stretch>
        </p:blipFill>
        <p:spPr bwMode="auto">
          <a:xfrm>
            <a:off x="984738" y="1364566"/>
            <a:ext cx="9355016" cy="4839286"/>
          </a:xfrm>
          <a:prstGeom prst="rect">
            <a:avLst/>
          </a:prstGeom>
          <a:noFill/>
          <a:ln w="9525">
            <a:noFill/>
            <a:miter lim="800000"/>
            <a:headEnd/>
            <a:tailEnd/>
          </a:ln>
        </p:spPr>
      </p:pic>
    </p:spTree>
    <p:extLst>
      <p:ext uri="{BB962C8B-B14F-4D97-AF65-F5344CB8AC3E}">
        <p14:creationId xmlns:p14="http://schemas.microsoft.com/office/powerpoint/2010/main" val="29998404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0008-88D3-4512-A035-3187CD4781C6}"/>
              </a:ext>
            </a:extLst>
          </p:cNvPr>
          <p:cNvSpPr>
            <a:spLocks noGrp="1"/>
          </p:cNvSpPr>
          <p:nvPr>
            <p:ph type="title"/>
          </p:nvPr>
        </p:nvSpPr>
        <p:spPr/>
        <p:txBody>
          <a:bodyPr/>
          <a:lstStyle/>
          <a:p>
            <a:r>
              <a:rPr lang="en-US" dirty="0"/>
              <a:t>Public cloud</a:t>
            </a:r>
          </a:p>
        </p:txBody>
      </p:sp>
      <p:sp>
        <p:nvSpPr>
          <p:cNvPr id="3" name="Content Placeholder 2">
            <a:extLst>
              <a:ext uri="{FF2B5EF4-FFF2-40B4-BE49-F238E27FC236}">
                <a16:creationId xmlns:a16="http://schemas.microsoft.com/office/drawing/2014/main" id="{D35E6531-B0D6-45B5-BB2B-70C741D3275D}"/>
              </a:ext>
            </a:extLst>
          </p:cNvPr>
          <p:cNvSpPr>
            <a:spLocks noGrp="1"/>
          </p:cNvSpPr>
          <p:nvPr>
            <p:ph idx="1"/>
          </p:nvPr>
        </p:nvSpPr>
        <p:spPr>
          <a:xfrm>
            <a:off x="838200" y="1364566"/>
            <a:ext cx="10515600" cy="4812397"/>
          </a:xfrm>
        </p:spPr>
        <p:txBody>
          <a:bodyPr>
            <a:normAutofit fontScale="92500" lnSpcReduction="10000"/>
          </a:bodyPr>
          <a:lstStyle/>
          <a:p>
            <a:r>
              <a:rPr lang="en-US" dirty="0"/>
              <a:t>The public cloud makes it possible for </a:t>
            </a:r>
            <a:r>
              <a:rPr lang="en-US" dirty="0">
                <a:solidFill>
                  <a:srgbClr val="FF0000"/>
                </a:solidFill>
              </a:rPr>
              <a:t>anybody to access systems </a:t>
            </a:r>
            <a:r>
              <a:rPr lang="en-US" dirty="0"/>
              <a:t>and services. The public cloud may be </a:t>
            </a:r>
            <a:r>
              <a:rPr lang="en-US" dirty="0">
                <a:solidFill>
                  <a:srgbClr val="FF0000"/>
                </a:solidFill>
              </a:rPr>
              <a:t>less secure </a:t>
            </a:r>
            <a:r>
              <a:rPr lang="en-US" dirty="0"/>
              <a:t>as it is open to everyone. </a:t>
            </a:r>
          </a:p>
          <a:p>
            <a:r>
              <a:rPr lang="en-US" dirty="0"/>
              <a:t>The public cloud is one in which cloud infrastructure services are provided over the internet to the general people or major industry groups.</a:t>
            </a:r>
          </a:p>
          <a:p>
            <a:r>
              <a:rPr lang="en-US" dirty="0"/>
              <a:t> The infrastructure in this cloud model is owned by the entity that delivers the cloud services, not by the consumer. </a:t>
            </a:r>
          </a:p>
          <a:p>
            <a:r>
              <a:rPr lang="en-US" dirty="0"/>
              <a:t>It is a type of cloud hosting that allows customers and users to easily access systems and services. This form of cloud computing is an excellent example of cloud hosting, in which service providers supply services to a variety of customers.</a:t>
            </a:r>
          </a:p>
          <a:p>
            <a:r>
              <a:rPr lang="en-US" dirty="0"/>
              <a:t> </a:t>
            </a:r>
            <a:r>
              <a:rPr lang="en-US" dirty="0">
                <a:solidFill>
                  <a:srgbClr val="FF0000"/>
                </a:solidFill>
              </a:rPr>
              <a:t>In this arrangement, storage backup and retrieval services are given for free, as a subscription, or on a per-user basis. For example, Google App Engine etc.</a:t>
            </a:r>
          </a:p>
          <a:p>
            <a:endParaRPr lang="en-US" dirty="0"/>
          </a:p>
        </p:txBody>
      </p:sp>
    </p:spTree>
    <p:extLst>
      <p:ext uri="{BB962C8B-B14F-4D97-AF65-F5344CB8AC3E}">
        <p14:creationId xmlns:p14="http://schemas.microsoft.com/office/powerpoint/2010/main" val="23605932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436-5EB4-4551-91F2-4D3055A0D8E4}"/>
              </a:ext>
            </a:extLst>
          </p:cNvPr>
          <p:cNvSpPr>
            <a:spLocks noGrp="1"/>
          </p:cNvSpPr>
          <p:nvPr>
            <p:ph type="title"/>
          </p:nvPr>
        </p:nvSpPr>
        <p:spPr>
          <a:xfrm>
            <a:off x="838200" y="365126"/>
            <a:ext cx="10515600" cy="943170"/>
          </a:xfrm>
        </p:spPr>
        <p:txBody>
          <a:bodyPr>
            <a:normAutofit fontScale="90000"/>
          </a:bodyPr>
          <a:lstStyle/>
          <a:p>
            <a:r>
              <a:rPr lang="en-US" b="1" dirty="0"/>
              <a:t>Advantages of the Public Cloud Model</a:t>
            </a:r>
            <a:br>
              <a:rPr lang="en-US" dirty="0"/>
            </a:br>
            <a:endParaRPr lang="en-US" dirty="0"/>
          </a:p>
        </p:txBody>
      </p:sp>
      <p:sp>
        <p:nvSpPr>
          <p:cNvPr id="3" name="Content Placeholder 2">
            <a:extLst>
              <a:ext uri="{FF2B5EF4-FFF2-40B4-BE49-F238E27FC236}">
                <a16:creationId xmlns:a16="http://schemas.microsoft.com/office/drawing/2014/main" id="{44F4593E-99D4-4EFD-8DE3-336421264CC2}"/>
              </a:ext>
            </a:extLst>
          </p:cNvPr>
          <p:cNvSpPr>
            <a:spLocks noGrp="1"/>
          </p:cNvSpPr>
          <p:nvPr>
            <p:ph idx="1"/>
          </p:nvPr>
        </p:nvSpPr>
        <p:spPr>
          <a:xfrm>
            <a:off x="838200" y="1055077"/>
            <a:ext cx="10515600" cy="5121886"/>
          </a:xfrm>
        </p:spPr>
        <p:txBody>
          <a:bodyPr>
            <a:normAutofit/>
          </a:bodyPr>
          <a:lstStyle/>
          <a:p>
            <a:pPr lvl="0" fontAlgn="base"/>
            <a:r>
              <a:rPr lang="en-US" b="1" dirty="0"/>
              <a:t>Minimal Investment: </a:t>
            </a:r>
            <a:r>
              <a:rPr lang="en-US" dirty="0"/>
              <a:t>Because it is a pay-per-use service, there is no substantial upfront fee, making it excellent for enterprises that require immediate access to resources.</a:t>
            </a:r>
          </a:p>
          <a:p>
            <a:pPr lvl="0" fontAlgn="base"/>
            <a:r>
              <a:rPr lang="en-US" b="1" dirty="0"/>
              <a:t>No setup cost:</a:t>
            </a:r>
            <a:r>
              <a:rPr lang="en-US" dirty="0"/>
              <a:t> The entire infrastructure is fully subsidized by the cloud service providers, thus there is no need to set up any hardware.</a:t>
            </a:r>
          </a:p>
          <a:p>
            <a:pPr lvl="0" fontAlgn="base"/>
            <a:r>
              <a:rPr lang="en-US" b="1" dirty="0"/>
              <a:t>Infrastructure Management is not required: </a:t>
            </a:r>
            <a:r>
              <a:rPr lang="en-US" dirty="0"/>
              <a:t>Using the public cloud does not necessitate infrastructure management.</a:t>
            </a:r>
          </a:p>
          <a:p>
            <a:pPr lvl="0" fontAlgn="base"/>
            <a:r>
              <a:rPr lang="en-US" b="1" dirty="0"/>
              <a:t>No maintenance: </a:t>
            </a:r>
            <a:r>
              <a:rPr lang="en-US" dirty="0"/>
              <a:t>The maintenance work is done by the service provider (not users).</a:t>
            </a:r>
          </a:p>
          <a:p>
            <a:pPr lvl="0" fontAlgn="base"/>
            <a:r>
              <a:rPr lang="en-US" b="1" dirty="0"/>
              <a:t>Dynamic Scalability:</a:t>
            </a:r>
            <a:r>
              <a:rPr lang="en-US" dirty="0"/>
              <a:t> To fulfill your company’s needs, on-demand resources are accessible. </a:t>
            </a:r>
          </a:p>
          <a:p>
            <a:endParaRPr lang="en-US" dirty="0"/>
          </a:p>
        </p:txBody>
      </p:sp>
    </p:spTree>
    <p:extLst>
      <p:ext uri="{BB962C8B-B14F-4D97-AF65-F5344CB8AC3E}">
        <p14:creationId xmlns:p14="http://schemas.microsoft.com/office/powerpoint/2010/main" val="34355230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5A359-E02A-472E-A85D-AFC80D0C054B}"/>
              </a:ext>
            </a:extLst>
          </p:cNvPr>
          <p:cNvSpPr>
            <a:spLocks noGrp="1"/>
          </p:cNvSpPr>
          <p:nvPr>
            <p:ph type="title"/>
          </p:nvPr>
        </p:nvSpPr>
        <p:spPr/>
        <p:txBody>
          <a:bodyPr/>
          <a:lstStyle/>
          <a:p>
            <a:pPr fontAlgn="base"/>
            <a:r>
              <a:rPr lang="en-US" b="1" dirty="0"/>
              <a:t>Disadvantages of the Public Cloud Model</a:t>
            </a:r>
            <a:endParaRPr lang="en-US" dirty="0"/>
          </a:p>
        </p:txBody>
      </p:sp>
      <p:sp>
        <p:nvSpPr>
          <p:cNvPr id="3" name="Content Placeholder 2">
            <a:extLst>
              <a:ext uri="{FF2B5EF4-FFF2-40B4-BE49-F238E27FC236}">
                <a16:creationId xmlns:a16="http://schemas.microsoft.com/office/drawing/2014/main" id="{CD7FE937-E60F-405F-85B2-CBC061B17C65}"/>
              </a:ext>
            </a:extLst>
          </p:cNvPr>
          <p:cNvSpPr>
            <a:spLocks noGrp="1"/>
          </p:cNvSpPr>
          <p:nvPr>
            <p:ph idx="1"/>
          </p:nvPr>
        </p:nvSpPr>
        <p:spPr/>
        <p:txBody>
          <a:bodyPr/>
          <a:lstStyle/>
          <a:p>
            <a:pPr lvl="0" fontAlgn="base"/>
            <a:r>
              <a:rPr lang="en-US" b="1" dirty="0"/>
              <a:t>Less secure: </a:t>
            </a:r>
            <a:r>
              <a:rPr lang="en-US" dirty="0"/>
              <a:t>Public cloud is less secure as resources are public so there is no guarantee of high-level security.</a:t>
            </a:r>
          </a:p>
          <a:p>
            <a:pPr lvl="0" fontAlgn="base"/>
            <a:r>
              <a:rPr lang="en-US" b="1" dirty="0"/>
              <a:t>Low customization: </a:t>
            </a:r>
            <a:r>
              <a:rPr lang="en-US" dirty="0"/>
              <a:t>It is accessed by many public so it can’t be customized according to personal requirements. </a:t>
            </a:r>
          </a:p>
          <a:p>
            <a:endParaRPr lang="en-US" dirty="0"/>
          </a:p>
        </p:txBody>
      </p:sp>
    </p:spTree>
    <p:extLst>
      <p:ext uri="{BB962C8B-B14F-4D97-AF65-F5344CB8AC3E}">
        <p14:creationId xmlns:p14="http://schemas.microsoft.com/office/powerpoint/2010/main" val="18339957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6A1DE-7E59-490A-86D8-8A16489F67CE}"/>
              </a:ext>
            </a:extLst>
          </p:cNvPr>
          <p:cNvSpPr>
            <a:spLocks noGrp="1"/>
          </p:cNvSpPr>
          <p:nvPr>
            <p:ph type="title"/>
          </p:nvPr>
        </p:nvSpPr>
        <p:spPr/>
        <p:txBody>
          <a:bodyPr/>
          <a:lstStyle/>
          <a:p>
            <a:r>
              <a:rPr lang="en-US" b="1" dirty="0"/>
              <a:t>Private Cloud </a:t>
            </a:r>
            <a:br>
              <a:rPr lang="en-US" dirty="0"/>
            </a:br>
            <a:endParaRPr lang="en-US" dirty="0"/>
          </a:p>
        </p:txBody>
      </p:sp>
      <p:sp>
        <p:nvSpPr>
          <p:cNvPr id="3" name="Content Placeholder 2">
            <a:extLst>
              <a:ext uri="{FF2B5EF4-FFF2-40B4-BE49-F238E27FC236}">
                <a16:creationId xmlns:a16="http://schemas.microsoft.com/office/drawing/2014/main" id="{7805F832-BBB0-402C-956B-952DE6578F7F}"/>
              </a:ext>
            </a:extLst>
          </p:cNvPr>
          <p:cNvSpPr>
            <a:spLocks noGrp="1"/>
          </p:cNvSpPr>
          <p:nvPr>
            <p:ph idx="1"/>
          </p:nvPr>
        </p:nvSpPr>
        <p:spPr>
          <a:xfrm>
            <a:off x="838200" y="1181686"/>
            <a:ext cx="10515600" cy="4995277"/>
          </a:xfrm>
        </p:spPr>
        <p:txBody>
          <a:bodyPr/>
          <a:lstStyle/>
          <a:p>
            <a:r>
              <a:rPr lang="en-US" dirty="0"/>
              <a:t>It’s a one-on-one environment for a single user (customer). There is no need to share your hardware with anyone else.</a:t>
            </a:r>
          </a:p>
          <a:p>
            <a:r>
              <a:rPr lang="en-US" dirty="0"/>
              <a:t> The distinction between </a:t>
            </a:r>
            <a:r>
              <a:rPr lang="en-US" u="sng" dirty="0">
                <a:hlinkClick r:id="rId2"/>
              </a:rPr>
              <a:t>private and public clouds</a:t>
            </a:r>
            <a:r>
              <a:rPr lang="en-US" dirty="0"/>
              <a:t> is in how you handle all of the hardware. It is also called the “internal cloud” &amp; it refers to the ability to access systems and services within a given border or organization. </a:t>
            </a:r>
          </a:p>
          <a:p>
            <a:r>
              <a:rPr lang="en-US" dirty="0">
                <a:solidFill>
                  <a:srgbClr val="FF0000"/>
                </a:solidFill>
              </a:rPr>
              <a:t>The cloud platform is implemented in a cloud-based secure environment that is protected by powerful firewalls and under the supervision of an organization’s IT department</a:t>
            </a:r>
            <a:r>
              <a:rPr lang="en-US" dirty="0"/>
              <a:t>. The private cloud gives greater flexibility of control over cloud resources.</a:t>
            </a:r>
          </a:p>
          <a:p>
            <a:endParaRPr lang="en-US" dirty="0"/>
          </a:p>
        </p:txBody>
      </p:sp>
    </p:spTree>
    <p:extLst>
      <p:ext uri="{BB962C8B-B14F-4D97-AF65-F5344CB8AC3E}">
        <p14:creationId xmlns:p14="http://schemas.microsoft.com/office/powerpoint/2010/main" val="13541660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Private Cloud ">
            <a:extLst>
              <a:ext uri="{FF2B5EF4-FFF2-40B4-BE49-F238E27FC236}">
                <a16:creationId xmlns:a16="http://schemas.microsoft.com/office/drawing/2014/main" id="{BDA8EB6B-543F-4CEB-BBE8-CF6D6DE3B95A}"/>
              </a:ext>
            </a:extLst>
          </p:cNvPr>
          <p:cNvPicPr>
            <a:picLocks noGrp="1"/>
          </p:cNvPicPr>
          <p:nvPr>
            <p:ph idx="4294967295"/>
          </p:nvPr>
        </p:nvPicPr>
        <p:blipFill>
          <a:blip r:embed="rId2"/>
          <a:srcRect/>
          <a:stretch>
            <a:fillRect/>
          </a:stretch>
        </p:blipFill>
        <p:spPr bwMode="auto">
          <a:xfrm>
            <a:off x="253218" y="534572"/>
            <a:ext cx="10972800" cy="6091311"/>
          </a:xfrm>
          <a:prstGeom prst="rect">
            <a:avLst/>
          </a:prstGeom>
          <a:noFill/>
          <a:ln w="9525">
            <a:noFill/>
            <a:miter lim="800000"/>
            <a:headEnd/>
            <a:tailEnd/>
          </a:ln>
        </p:spPr>
      </p:pic>
    </p:spTree>
    <p:extLst>
      <p:ext uri="{BB962C8B-B14F-4D97-AF65-F5344CB8AC3E}">
        <p14:creationId xmlns:p14="http://schemas.microsoft.com/office/powerpoint/2010/main" val="6228879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B6143-B49C-4961-A6CB-15F938FCF881}"/>
              </a:ext>
            </a:extLst>
          </p:cNvPr>
          <p:cNvSpPr>
            <a:spLocks noGrp="1"/>
          </p:cNvSpPr>
          <p:nvPr>
            <p:ph type="title"/>
          </p:nvPr>
        </p:nvSpPr>
        <p:spPr>
          <a:xfrm>
            <a:off x="838200" y="365125"/>
            <a:ext cx="10515600" cy="549275"/>
          </a:xfrm>
        </p:spPr>
        <p:txBody>
          <a:bodyPr>
            <a:normAutofit fontScale="90000"/>
          </a:bodyPr>
          <a:lstStyle/>
          <a:p>
            <a:r>
              <a:rPr lang="en-US" dirty="0"/>
              <a:t>Advantages and disadvantages</a:t>
            </a:r>
          </a:p>
        </p:txBody>
      </p:sp>
      <p:sp>
        <p:nvSpPr>
          <p:cNvPr id="3" name="Content Placeholder 2">
            <a:extLst>
              <a:ext uri="{FF2B5EF4-FFF2-40B4-BE49-F238E27FC236}">
                <a16:creationId xmlns:a16="http://schemas.microsoft.com/office/drawing/2014/main" id="{0A41A3D9-8E34-49CC-A098-6B5347D9B857}"/>
              </a:ext>
            </a:extLst>
          </p:cNvPr>
          <p:cNvSpPr>
            <a:spLocks noGrp="1"/>
          </p:cNvSpPr>
          <p:nvPr>
            <p:ph idx="1"/>
          </p:nvPr>
        </p:nvSpPr>
        <p:spPr>
          <a:xfrm>
            <a:off x="838200" y="1125414"/>
            <a:ext cx="10515600" cy="5732585"/>
          </a:xfrm>
        </p:spPr>
        <p:txBody>
          <a:bodyPr>
            <a:normAutofit fontScale="92500" lnSpcReduction="20000"/>
          </a:bodyPr>
          <a:lstStyle/>
          <a:p>
            <a:pPr marL="0" indent="0">
              <a:buNone/>
            </a:pPr>
            <a:r>
              <a:rPr lang="en-US" dirty="0">
                <a:solidFill>
                  <a:srgbClr val="FF0000"/>
                </a:solidFill>
              </a:rPr>
              <a:t>Advantages of the Private Cloud Model</a:t>
            </a:r>
          </a:p>
          <a:p>
            <a:r>
              <a:rPr lang="en-US" dirty="0">
                <a:solidFill>
                  <a:srgbClr val="FF0000"/>
                </a:solidFill>
              </a:rPr>
              <a:t>Better Control: </a:t>
            </a:r>
            <a:r>
              <a:rPr lang="en-US" dirty="0"/>
              <a:t>You are the sole owner of the property. You gain complete command over service integration, IT operations, policies, and user behavior. </a:t>
            </a:r>
          </a:p>
          <a:p>
            <a:r>
              <a:rPr lang="en-US" dirty="0">
                <a:solidFill>
                  <a:srgbClr val="FF0000"/>
                </a:solidFill>
              </a:rPr>
              <a:t>Data Security and Privacy: </a:t>
            </a:r>
            <a:r>
              <a:rPr lang="en-US" dirty="0"/>
              <a:t>It’s suitable for storing corporate information to which only authorized staff has access. By segmenting resources within the same infrastructure, improved access and security can be achieved.</a:t>
            </a:r>
          </a:p>
          <a:p>
            <a:r>
              <a:rPr lang="en-US" dirty="0">
                <a:solidFill>
                  <a:srgbClr val="FF0000"/>
                </a:solidFill>
              </a:rPr>
              <a:t>Supports Legacy Systems: </a:t>
            </a:r>
            <a:r>
              <a:rPr lang="en-US" dirty="0"/>
              <a:t>This approach is designed to work with legacy systems that are unable to access the public cloud. </a:t>
            </a:r>
          </a:p>
          <a:p>
            <a:r>
              <a:rPr lang="en-US" dirty="0">
                <a:solidFill>
                  <a:srgbClr val="FF0000"/>
                </a:solidFill>
              </a:rPr>
              <a:t>Customization: </a:t>
            </a:r>
            <a:r>
              <a:rPr lang="en-US" dirty="0"/>
              <a:t>Unlike a public cloud deployment, a private cloud allows a company to tailor its solution to meet its specific needs.</a:t>
            </a:r>
          </a:p>
          <a:p>
            <a:pPr marL="0" indent="0">
              <a:buNone/>
            </a:pPr>
            <a:r>
              <a:rPr lang="en-US" dirty="0">
                <a:solidFill>
                  <a:srgbClr val="FF0000"/>
                </a:solidFill>
              </a:rPr>
              <a:t>Disadvantages of the Private Cloud Model</a:t>
            </a:r>
          </a:p>
          <a:p>
            <a:r>
              <a:rPr lang="en-US" dirty="0"/>
              <a:t>	</a:t>
            </a:r>
            <a:r>
              <a:rPr lang="en-US" dirty="0">
                <a:solidFill>
                  <a:srgbClr val="FF0000"/>
                </a:solidFill>
              </a:rPr>
              <a:t>Less scalable: </a:t>
            </a:r>
            <a:r>
              <a:rPr lang="en-US" dirty="0"/>
              <a:t>Private clouds are scaled within a certain range as there is less number of clients.</a:t>
            </a:r>
          </a:p>
          <a:p>
            <a:r>
              <a:rPr lang="en-US" dirty="0"/>
              <a:t>	</a:t>
            </a:r>
            <a:r>
              <a:rPr lang="en-US" dirty="0">
                <a:solidFill>
                  <a:srgbClr val="FF0000"/>
                </a:solidFill>
              </a:rPr>
              <a:t>Costly: </a:t>
            </a:r>
            <a:r>
              <a:rPr lang="en-US" dirty="0"/>
              <a:t>Private clouds are more costly as they provide personalized facilities.</a:t>
            </a:r>
          </a:p>
          <a:p>
            <a:endParaRPr lang="en-US" dirty="0"/>
          </a:p>
        </p:txBody>
      </p:sp>
    </p:spTree>
    <p:extLst>
      <p:ext uri="{BB962C8B-B14F-4D97-AF65-F5344CB8AC3E}">
        <p14:creationId xmlns:p14="http://schemas.microsoft.com/office/powerpoint/2010/main" val="15700829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B43762E-70B2-4414-BECD-FBD56CCABD38}"/>
              </a:ext>
            </a:extLst>
          </p:cNvPr>
          <p:cNvPicPr>
            <a:picLocks noChangeAspect="1"/>
          </p:cNvPicPr>
          <p:nvPr/>
        </p:nvPicPr>
        <p:blipFill>
          <a:blip r:embed="rId2"/>
          <a:stretch>
            <a:fillRect/>
          </a:stretch>
        </p:blipFill>
        <p:spPr>
          <a:xfrm>
            <a:off x="1702191" y="0"/>
            <a:ext cx="8328074" cy="6858000"/>
          </a:xfrm>
          <a:prstGeom prst="rect">
            <a:avLst/>
          </a:prstGeom>
        </p:spPr>
      </p:pic>
    </p:spTree>
    <p:extLst>
      <p:ext uri="{BB962C8B-B14F-4D97-AF65-F5344CB8AC3E}">
        <p14:creationId xmlns:p14="http://schemas.microsoft.com/office/powerpoint/2010/main" val="21820612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2158C-088A-47FB-BDB9-083A6EF325B6}"/>
              </a:ext>
            </a:extLst>
          </p:cNvPr>
          <p:cNvSpPr>
            <a:spLocks noGrp="1"/>
          </p:cNvSpPr>
          <p:nvPr>
            <p:ph type="title"/>
          </p:nvPr>
        </p:nvSpPr>
        <p:spPr>
          <a:xfrm>
            <a:off x="838200" y="0"/>
            <a:ext cx="10515600" cy="956604"/>
          </a:xfrm>
        </p:spPr>
        <p:txBody>
          <a:bodyPr>
            <a:normAutofit/>
          </a:bodyPr>
          <a:lstStyle/>
          <a:p>
            <a:r>
              <a:rPr lang="en-US" b="1" dirty="0"/>
              <a:t>Hybrid Cloud </a:t>
            </a:r>
            <a:endParaRPr lang="en-US" dirty="0"/>
          </a:p>
        </p:txBody>
      </p:sp>
      <p:sp>
        <p:nvSpPr>
          <p:cNvPr id="3" name="Content Placeholder 2">
            <a:extLst>
              <a:ext uri="{FF2B5EF4-FFF2-40B4-BE49-F238E27FC236}">
                <a16:creationId xmlns:a16="http://schemas.microsoft.com/office/drawing/2014/main" id="{C9092C69-99EA-43A3-9539-5A46F5448273}"/>
              </a:ext>
            </a:extLst>
          </p:cNvPr>
          <p:cNvSpPr>
            <a:spLocks noGrp="1"/>
          </p:cNvSpPr>
          <p:nvPr>
            <p:ph idx="1"/>
          </p:nvPr>
        </p:nvSpPr>
        <p:spPr>
          <a:xfrm>
            <a:off x="838200" y="731520"/>
            <a:ext cx="10515600" cy="5781822"/>
          </a:xfrm>
        </p:spPr>
        <p:txBody>
          <a:bodyPr/>
          <a:lstStyle/>
          <a:p>
            <a:endParaRPr lang="en-US" dirty="0"/>
          </a:p>
          <a:p>
            <a:r>
              <a:rPr lang="en-US" dirty="0"/>
              <a:t>By bridging the public and private worlds with a layer of proprietary software, hybrid cloud computing gives the best of both worlds. With a hybrid solution, you may host the app in a safe environment while taking advantage of the public cloud’s cost savings. Organizations can move data and applications between different clouds using a combination of two or more cloud deployment methods, depending on their needs. </a:t>
            </a:r>
          </a:p>
          <a:p>
            <a:pPr marL="0" indent="0">
              <a:buNone/>
            </a:pPr>
            <a:endParaRPr lang="en-US" dirty="0"/>
          </a:p>
          <a:p>
            <a:r>
              <a:rPr lang="en-US" dirty="0">
                <a:solidFill>
                  <a:srgbClr val="FF0000"/>
                </a:solidFill>
              </a:rPr>
              <a:t>Hybrid cloud examples include financial firms using private clouds for sensitive data and public clouds for customer apps, streaming services like Netflix scaling with public cloud for demand spikes</a:t>
            </a:r>
          </a:p>
          <a:p>
            <a:endParaRPr lang="en-US" dirty="0"/>
          </a:p>
        </p:txBody>
      </p:sp>
    </p:spTree>
    <p:extLst>
      <p:ext uri="{BB962C8B-B14F-4D97-AF65-F5344CB8AC3E}">
        <p14:creationId xmlns:p14="http://schemas.microsoft.com/office/powerpoint/2010/main" val="38106931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C908E-5B77-497F-9271-02CC807C81AF}"/>
              </a:ext>
            </a:extLst>
          </p:cNvPr>
          <p:cNvSpPr>
            <a:spLocks noGrp="1"/>
          </p:cNvSpPr>
          <p:nvPr>
            <p:ph type="title"/>
          </p:nvPr>
        </p:nvSpPr>
        <p:spPr>
          <a:xfrm>
            <a:off x="838200" y="365125"/>
            <a:ext cx="10515600" cy="549275"/>
          </a:xfrm>
        </p:spPr>
        <p:txBody>
          <a:bodyPr>
            <a:normAutofit fontScale="90000"/>
          </a:bodyPr>
          <a:lstStyle/>
          <a:p>
            <a:r>
              <a:rPr lang="en-US" dirty="0"/>
              <a:t>Hybrid cloud</a:t>
            </a:r>
          </a:p>
        </p:txBody>
      </p:sp>
      <p:pic>
        <p:nvPicPr>
          <p:cNvPr id="4" name="Content Placeholder 3" descr="Hybrid Cloud ">
            <a:extLst>
              <a:ext uri="{FF2B5EF4-FFF2-40B4-BE49-F238E27FC236}">
                <a16:creationId xmlns:a16="http://schemas.microsoft.com/office/drawing/2014/main" id="{B411EC16-567E-401F-88D3-1E86D9915A21}"/>
              </a:ext>
            </a:extLst>
          </p:cNvPr>
          <p:cNvPicPr>
            <a:picLocks noGrp="1"/>
          </p:cNvPicPr>
          <p:nvPr>
            <p:ph idx="1"/>
          </p:nvPr>
        </p:nvPicPr>
        <p:blipFill>
          <a:blip r:embed="rId2"/>
          <a:srcRect/>
          <a:stretch>
            <a:fillRect/>
          </a:stretch>
        </p:blipFill>
        <p:spPr bwMode="auto">
          <a:xfrm>
            <a:off x="1209822" y="914400"/>
            <a:ext cx="9748910" cy="5578475"/>
          </a:xfrm>
          <a:prstGeom prst="rect">
            <a:avLst/>
          </a:prstGeom>
          <a:noFill/>
          <a:ln w="9525">
            <a:noFill/>
            <a:miter lim="800000"/>
            <a:headEnd/>
            <a:tailEnd/>
          </a:ln>
        </p:spPr>
      </p:pic>
    </p:spTree>
    <p:extLst>
      <p:ext uri="{BB962C8B-B14F-4D97-AF65-F5344CB8AC3E}">
        <p14:creationId xmlns:p14="http://schemas.microsoft.com/office/powerpoint/2010/main" val="24937527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3357A-05F6-48F1-A253-82250FBBC2B7}"/>
              </a:ext>
            </a:extLst>
          </p:cNvPr>
          <p:cNvSpPr>
            <a:spLocks noGrp="1"/>
          </p:cNvSpPr>
          <p:nvPr>
            <p:ph type="title"/>
          </p:nvPr>
        </p:nvSpPr>
        <p:spPr>
          <a:xfrm>
            <a:off x="838200" y="365126"/>
            <a:ext cx="10515600" cy="422665"/>
          </a:xfrm>
        </p:spPr>
        <p:txBody>
          <a:bodyPr>
            <a:normAutofit fontScale="90000"/>
          </a:bodyPr>
          <a:lstStyle/>
          <a:p>
            <a:r>
              <a:rPr lang="en-US" dirty="0"/>
              <a:t>Advantages and disadvantages</a:t>
            </a:r>
          </a:p>
        </p:txBody>
      </p:sp>
      <p:sp>
        <p:nvSpPr>
          <p:cNvPr id="3" name="Content Placeholder 2">
            <a:extLst>
              <a:ext uri="{FF2B5EF4-FFF2-40B4-BE49-F238E27FC236}">
                <a16:creationId xmlns:a16="http://schemas.microsoft.com/office/drawing/2014/main" id="{ED90401E-95F8-45F8-88CA-250F13377EE3}"/>
              </a:ext>
            </a:extLst>
          </p:cNvPr>
          <p:cNvSpPr>
            <a:spLocks noGrp="1"/>
          </p:cNvSpPr>
          <p:nvPr>
            <p:ph idx="1"/>
          </p:nvPr>
        </p:nvSpPr>
        <p:spPr>
          <a:xfrm>
            <a:off x="838200" y="886266"/>
            <a:ext cx="10515600" cy="5866226"/>
          </a:xfrm>
        </p:spPr>
        <p:txBody>
          <a:bodyPr>
            <a:normAutofit/>
          </a:bodyPr>
          <a:lstStyle/>
          <a:p>
            <a:pPr fontAlgn="base"/>
            <a:r>
              <a:rPr lang="en-US" b="1" dirty="0"/>
              <a:t>Advantages of the Hybrid Cloud Model</a:t>
            </a:r>
            <a:endParaRPr lang="en-US" dirty="0"/>
          </a:p>
          <a:p>
            <a:pPr lvl="0" fontAlgn="base"/>
            <a:r>
              <a:rPr lang="en-US" b="1" dirty="0"/>
              <a:t>Flexibility and control: </a:t>
            </a:r>
            <a:r>
              <a:rPr lang="en-US" dirty="0"/>
              <a:t>Businesses with more flexibility can design personalized solutions that meet their particular needs.</a:t>
            </a:r>
          </a:p>
          <a:p>
            <a:pPr lvl="0" fontAlgn="base"/>
            <a:r>
              <a:rPr lang="en-US" b="1" dirty="0"/>
              <a:t>Cost:</a:t>
            </a:r>
            <a:r>
              <a:rPr lang="en-US" dirty="0"/>
              <a:t> Because public clouds provide scalability, you’ll only be responsible for paying for the extra capacity if you require it.</a:t>
            </a:r>
          </a:p>
          <a:p>
            <a:pPr lvl="0" fontAlgn="base"/>
            <a:r>
              <a:rPr lang="en-US" b="1" dirty="0"/>
              <a:t>Security: </a:t>
            </a:r>
            <a:r>
              <a:rPr lang="en-US" dirty="0"/>
              <a:t>Because data is properly separated, the chances of data theft by attackers are considerably reduced. </a:t>
            </a:r>
          </a:p>
          <a:p>
            <a:pPr fontAlgn="base"/>
            <a:r>
              <a:rPr lang="en-US" b="1" dirty="0"/>
              <a:t>Disadvantages of the Hybrid Cloud Model</a:t>
            </a:r>
            <a:endParaRPr lang="en-US" dirty="0"/>
          </a:p>
          <a:p>
            <a:pPr lvl="0" fontAlgn="base"/>
            <a:r>
              <a:rPr lang="en-US" b="1" dirty="0"/>
              <a:t>Difficult to manage: </a:t>
            </a:r>
            <a:r>
              <a:rPr lang="en-US" dirty="0"/>
              <a:t>Hybrid clouds are difficult to manage as it is a combination of both public and private cloud. So, it is complex.</a:t>
            </a:r>
          </a:p>
          <a:p>
            <a:pPr lvl="0" fontAlgn="base"/>
            <a:r>
              <a:rPr lang="en-US" b="1" dirty="0"/>
              <a:t>Slow data transmission: </a:t>
            </a:r>
            <a:r>
              <a:rPr lang="en-US" dirty="0"/>
              <a:t>Data transmission in the hybrid cloud takes place through the public cloud so latency occurs.</a:t>
            </a:r>
          </a:p>
          <a:p>
            <a:endParaRPr lang="en-US" dirty="0"/>
          </a:p>
        </p:txBody>
      </p:sp>
    </p:spTree>
    <p:extLst>
      <p:ext uri="{BB962C8B-B14F-4D97-AF65-F5344CB8AC3E}">
        <p14:creationId xmlns:p14="http://schemas.microsoft.com/office/powerpoint/2010/main" val="12684124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A6494-30C4-4AD1-B336-B9CCB87C3EBA}"/>
              </a:ext>
            </a:extLst>
          </p:cNvPr>
          <p:cNvSpPr>
            <a:spLocks noGrp="1"/>
          </p:cNvSpPr>
          <p:nvPr>
            <p:ph type="title"/>
          </p:nvPr>
        </p:nvSpPr>
        <p:spPr>
          <a:xfrm>
            <a:off x="838200" y="365125"/>
            <a:ext cx="10515600" cy="633681"/>
          </a:xfrm>
        </p:spPr>
        <p:txBody>
          <a:bodyPr>
            <a:normAutofit fontScale="90000"/>
          </a:bodyPr>
          <a:lstStyle/>
          <a:p>
            <a:r>
              <a:rPr lang="en-US" b="1" dirty="0"/>
              <a:t>Community Cloud</a:t>
            </a:r>
            <a:br>
              <a:rPr lang="en-US" dirty="0"/>
            </a:br>
            <a:endParaRPr lang="en-US" dirty="0"/>
          </a:p>
        </p:txBody>
      </p:sp>
      <p:sp>
        <p:nvSpPr>
          <p:cNvPr id="3" name="Content Placeholder 2">
            <a:extLst>
              <a:ext uri="{FF2B5EF4-FFF2-40B4-BE49-F238E27FC236}">
                <a16:creationId xmlns:a16="http://schemas.microsoft.com/office/drawing/2014/main" id="{D0182F23-2CC0-456A-81B1-20D20E8EE069}"/>
              </a:ext>
            </a:extLst>
          </p:cNvPr>
          <p:cNvSpPr>
            <a:spLocks noGrp="1"/>
          </p:cNvSpPr>
          <p:nvPr>
            <p:ph idx="1"/>
          </p:nvPr>
        </p:nvSpPr>
        <p:spPr>
          <a:xfrm>
            <a:off x="838200" y="844062"/>
            <a:ext cx="10515600" cy="5332901"/>
          </a:xfrm>
        </p:spPr>
        <p:txBody>
          <a:bodyPr/>
          <a:lstStyle/>
          <a:p>
            <a:pPr fontAlgn="base"/>
            <a:endParaRPr lang="en-US" dirty="0"/>
          </a:p>
          <a:p>
            <a:pPr fontAlgn="base"/>
            <a:r>
              <a:rPr lang="en-US" dirty="0"/>
              <a:t>It allows systems and services to be accessible by a group of organizations. It is a distributed system that is created by integrating the services of different clouds to address the specific needs of a community, industry, or business. </a:t>
            </a:r>
          </a:p>
          <a:p>
            <a:pPr fontAlgn="base"/>
            <a:endParaRPr lang="en-US" dirty="0"/>
          </a:p>
          <a:p>
            <a:pPr fontAlgn="base"/>
            <a:r>
              <a:rPr lang="en-US" dirty="0"/>
              <a:t>The infrastructure of the community could be shared between the organization which has shared concerns or tasks. It is generally managed by a third party or by the combination of one or more organizations in the community. </a:t>
            </a:r>
          </a:p>
          <a:p>
            <a:endParaRPr lang="en-US" dirty="0"/>
          </a:p>
        </p:txBody>
      </p:sp>
    </p:spTree>
    <p:extLst>
      <p:ext uri="{BB962C8B-B14F-4D97-AF65-F5344CB8AC3E}">
        <p14:creationId xmlns:p14="http://schemas.microsoft.com/office/powerpoint/2010/main" val="40365376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DFD75-519A-4AE8-A6E4-2B009BC1D1E5}"/>
              </a:ext>
            </a:extLst>
          </p:cNvPr>
          <p:cNvSpPr>
            <a:spLocks noGrp="1"/>
          </p:cNvSpPr>
          <p:nvPr>
            <p:ph type="title"/>
          </p:nvPr>
        </p:nvSpPr>
        <p:spPr>
          <a:xfrm>
            <a:off x="838200" y="365126"/>
            <a:ext cx="10515600" cy="507071"/>
          </a:xfrm>
        </p:spPr>
        <p:txBody>
          <a:bodyPr>
            <a:normAutofit fontScale="90000"/>
          </a:bodyPr>
          <a:lstStyle/>
          <a:p>
            <a:r>
              <a:rPr lang="en-US" dirty="0"/>
              <a:t>Examples of  community cloud</a:t>
            </a:r>
          </a:p>
        </p:txBody>
      </p:sp>
      <p:sp>
        <p:nvSpPr>
          <p:cNvPr id="3" name="Content Placeholder 2">
            <a:extLst>
              <a:ext uri="{FF2B5EF4-FFF2-40B4-BE49-F238E27FC236}">
                <a16:creationId xmlns:a16="http://schemas.microsoft.com/office/drawing/2014/main" id="{BA95176C-7243-4012-B825-FAD2B4113D5D}"/>
              </a:ext>
            </a:extLst>
          </p:cNvPr>
          <p:cNvSpPr>
            <a:spLocks noGrp="1"/>
          </p:cNvSpPr>
          <p:nvPr>
            <p:ph idx="1"/>
          </p:nvPr>
        </p:nvSpPr>
        <p:spPr>
          <a:xfrm>
            <a:off x="838200" y="872197"/>
            <a:ext cx="10515600" cy="5304765"/>
          </a:xfrm>
        </p:spPr>
        <p:txBody>
          <a:bodyPr>
            <a:normAutofit fontScale="92500" lnSpcReduction="20000"/>
          </a:bodyPr>
          <a:lstStyle/>
          <a:p>
            <a:endParaRPr lang="en-US" dirty="0">
              <a:solidFill>
                <a:srgbClr val="FF0000"/>
              </a:solidFill>
            </a:endParaRPr>
          </a:p>
          <a:p>
            <a:pPr algn="just"/>
            <a:r>
              <a:rPr lang="en-US" dirty="0">
                <a:solidFill>
                  <a:srgbClr val="FF0000"/>
                </a:solidFill>
              </a:rPr>
              <a:t>Government (G-Cloud): </a:t>
            </a:r>
            <a:r>
              <a:rPr lang="en-US" dirty="0"/>
              <a:t>Governments often use community clouds to securely share data across different departments. For example, AWS GovCloud is a community cloud specifically restricted to U.S. government agencies and their contractors to meet strict compliance standards.</a:t>
            </a:r>
          </a:p>
          <a:p>
            <a:pPr algn="just"/>
            <a:r>
              <a:rPr lang="en-US" dirty="0">
                <a:solidFill>
                  <a:srgbClr val="FF0000"/>
                </a:solidFill>
              </a:rPr>
              <a:t>Healthcare Industry: </a:t>
            </a:r>
            <a:r>
              <a:rPr lang="en-US" dirty="0"/>
              <a:t>Hospitals, clinics, and labs use community clouds to store and exchange sensitive patient data while complying with regulations like HIPAA.</a:t>
            </a:r>
          </a:p>
          <a:p>
            <a:pPr algn="just"/>
            <a:r>
              <a:rPr lang="en-US" dirty="0">
                <a:solidFill>
                  <a:srgbClr val="FF0000"/>
                </a:solidFill>
              </a:rPr>
              <a:t>Financial Services: </a:t>
            </a:r>
            <a:r>
              <a:rPr lang="en-US" dirty="0"/>
              <a:t>Banks and insurance companies utilize shared cloud environments to meet PCI DSS standards for data protection and fraud detection.</a:t>
            </a:r>
          </a:p>
          <a:p>
            <a:pPr algn="just"/>
            <a:r>
              <a:rPr lang="en-US" dirty="0">
                <a:solidFill>
                  <a:srgbClr val="FF0000"/>
                </a:solidFill>
              </a:rPr>
              <a:t>Scientific Research: </a:t>
            </a:r>
            <a:r>
              <a:rPr lang="en-US" dirty="0"/>
              <a:t>Organizations like NASA or various research universities may share a community cloud to exchange massive datasets for scientific computing and collaborative experiments.</a:t>
            </a:r>
          </a:p>
          <a:p>
            <a:pPr algn="just"/>
            <a:r>
              <a:rPr lang="en-US" dirty="0">
                <a:solidFill>
                  <a:srgbClr val="FF0000"/>
                </a:solidFill>
              </a:rPr>
              <a:t>Military &amp; Defense: </a:t>
            </a:r>
            <a:r>
              <a:rPr lang="en-US" dirty="0"/>
              <a:t>NATO utilizes closed community cloud platforms to ensure secure and reliable data exchange among its member states. </a:t>
            </a:r>
          </a:p>
          <a:p>
            <a:pPr algn="just"/>
            <a:endParaRPr lang="en-US" dirty="0"/>
          </a:p>
          <a:p>
            <a:pPr algn="just"/>
            <a:endParaRPr lang="en-US" dirty="0"/>
          </a:p>
          <a:p>
            <a:pPr algn="just"/>
            <a:endParaRPr lang="en-US" dirty="0"/>
          </a:p>
          <a:p>
            <a:endParaRPr lang="en-US" dirty="0"/>
          </a:p>
          <a:p>
            <a:endParaRPr lang="en-US" dirty="0"/>
          </a:p>
        </p:txBody>
      </p:sp>
    </p:spTree>
    <p:extLst>
      <p:ext uri="{BB962C8B-B14F-4D97-AF65-F5344CB8AC3E}">
        <p14:creationId xmlns:p14="http://schemas.microsoft.com/office/powerpoint/2010/main" val="37228931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206E9-F432-46A8-B8AE-5ACF62A3D890}"/>
              </a:ext>
            </a:extLst>
          </p:cNvPr>
          <p:cNvSpPr>
            <a:spLocks noGrp="1"/>
          </p:cNvSpPr>
          <p:nvPr>
            <p:ph type="title"/>
          </p:nvPr>
        </p:nvSpPr>
        <p:spPr>
          <a:xfrm>
            <a:off x="838200" y="365125"/>
            <a:ext cx="10515600" cy="647749"/>
          </a:xfrm>
        </p:spPr>
        <p:txBody>
          <a:bodyPr>
            <a:normAutofit fontScale="90000"/>
          </a:bodyPr>
          <a:lstStyle/>
          <a:p>
            <a:r>
              <a:rPr lang="en-US" dirty="0"/>
              <a:t>Community cloud</a:t>
            </a:r>
          </a:p>
        </p:txBody>
      </p:sp>
      <p:pic>
        <p:nvPicPr>
          <p:cNvPr id="4" name="Content Placeholder 3" descr="Community Cloud">
            <a:extLst>
              <a:ext uri="{FF2B5EF4-FFF2-40B4-BE49-F238E27FC236}">
                <a16:creationId xmlns:a16="http://schemas.microsoft.com/office/drawing/2014/main" id="{F97CD551-9A65-499B-9946-A90E7413CE75}"/>
              </a:ext>
            </a:extLst>
          </p:cNvPr>
          <p:cNvPicPr>
            <a:picLocks noGrp="1"/>
          </p:cNvPicPr>
          <p:nvPr>
            <p:ph idx="1"/>
          </p:nvPr>
        </p:nvPicPr>
        <p:blipFill>
          <a:blip r:embed="rId2"/>
          <a:srcRect/>
          <a:stretch>
            <a:fillRect/>
          </a:stretch>
        </p:blipFill>
        <p:spPr bwMode="auto">
          <a:xfrm>
            <a:off x="1420837" y="1167618"/>
            <a:ext cx="8975188" cy="5120639"/>
          </a:xfrm>
          <a:prstGeom prst="rect">
            <a:avLst/>
          </a:prstGeom>
          <a:noFill/>
          <a:ln w="9525">
            <a:noFill/>
            <a:miter lim="800000"/>
            <a:headEnd/>
            <a:tailEnd/>
          </a:ln>
        </p:spPr>
      </p:pic>
    </p:spTree>
    <p:extLst>
      <p:ext uri="{BB962C8B-B14F-4D97-AF65-F5344CB8AC3E}">
        <p14:creationId xmlns:p14="http://schemas.microsoft.com/office/powerpoint/2010/main" val="25931000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9D8F1A-A7DE-4337-A04B-7FD20B0936E4}"/>
              </a:ext>
            </a:extLst>
          </p:cNvPr>
          <p:cNvSpPr>
            <a:spLocks noGrp="1"/>
          </p:cNvSpPr>
          <p:nvPr>
            <p:ph idx="4294967295"/>
          </p:nvPr>
        </p:nvSpPr>
        <p:spPr>
          <a:xfrm>
            <a:off x="-1" y="464234"/>
            <a:ext cx="11380763" cy="6738423"/>
          </a:xfrm>
        </p:spPr>
        <p:txBody>
          <a:bodyPr>
            <a:normAutofit lnSpcReduction="10000"/>
          </a:bodyPr>
          <a:lstStyle/>
          <a:p>
            <a:pPr fontAlgn="base"/>
            <a:r>
              <a:rPr lang="en-US" b="1" dirty="0"/>
              <a:t>Advantages of the Community Cloud Model</a:t>
            </a:r>
            <a:endParaRPr lang="en-US" dirty="0"/>
          </a:p>
          <a:p>
            <a:pPr lvl="0" fontAlgn="base"/>
            <a:r>
              <a:rPr lang="en-US" b="1" dirty="0"/>
              <a:t>Cost Effective: </a:t>
            </a:r>
            <a:r>
              <a:rPr lang="en-US" dirty="0"/>
              <a:t>It is cost-effective</a:t>
            </a:r>
            <a:r>
              <a:rPr lang="en-US" b="1" dirty="0"/>
              <a:t> </a:t>
            </a:r>
            <a:r>
              <a:rPr lang="en-US" dirty="0"/>
              <a:t>because the cloud is shared by multiple organizations or communities.</a:t>
            </a:r>
          </a:p>
          <a:p>
            <a:pPr lvl="0" fontAlgn="base"/>
            <a:r>
              <a:rPr lang="en-US" b="1" dirty="0"/>
              <a:t>Security:</a:t>
            </a:r>
            <a:r>
              <a:rPr lang="en-US" dirty="0"/>
              <a:t> Community cloud provides better security.</a:t>
            </a:r>
          </a:p>
          <a:p>
            <a:pPr lvl="0" fontAlgn="base"/>
            <a:r>
              <a:rPr lang="en-US" b="1" dirty="0"/>
              <a:t>Shared resources: </a:t>
            </a:r>
            <a:r>
              <a:rPr lang="en-US" dirty="0"/>
              <a:t>It allows you to share resources, infrastructure, etc. with multiple organizations.</a:t>
            </a:r>
          </a:p>
          <a:p>
            <a:pPr lvl="0" fontAlgn="base"/>
            <a:r>
              <a:rPr lang="en-US" b="1" dirty="0"/>
              <a:t>Collaboration and data sharing: </a:t>
            </a:r>
            <a:r>
              <a:rPr lang="en-US" dirty="0"/>
              <a:t>It is suitable for both collaboration and data sharing.</a:t>
            </a:r>
          </a:p>
          <a:p>
            <a:pPr fontAlgn="base"/>
            <a:r>
              <a:rPr lang="en-US" b="1" dirty="0"/>
              <a:t>Disadvantages of the Community Cloud Model</a:t>
            </a:r>
            <a:endParaRPr lang="en-US" dirty="0"/>
          </a:p>
          <a:p>
            <a:pPr lvl="0" fontAlgn="base"/>
            <a:r>
              <a:rPr lang="en-US" b="1" dirty="0"/>
              <a:t>Limited Scalability: </a:t>
            </a:r>
            <a:r>
              <a:rPr lang="en-US" dirty="0"/>
              <a:t>Community cloud is relatively less scalable as many organizations share the same resources according to their collaborative interests. </a:t>
            </a:r>
          </a:p>
          <a:p>
            <a:pPr lvl="0" fontAlgn="base"/>
            <a:r>
              <a:rPr lang="en-US" b="1" dirty="0"/>
              <a:t>Rigid in customization: </a:t>
            </a:r>
            <a:r>
              <a:rPr lang="en-US" dirty="0"/>
              <a:t>As the data and resources are shared among different organizations according to their mutual interests if an organization wants some changes according to their needs they cannot do so because it will have an impact on other organizations.</a:t>
            </a:r>
          </a:p>
          <a:p>
            <a:pPr marL="0" indent="0" fontAlgn="base">
              <a:buNone/>
            </a:pPr>
            <a:endParaRPr lang="en-US" dirty="0"/>
          </a:p>
          <a:p>
            <a:endParaRPr lang="en-US" dirty="0"/>
          </a:p>
        </p:txBody>
      </p:sp>
    </p:spTree>
    <p:extLst>
      <p:ext uri="{BB962C8B-B14F-4D97-AF65-F5344CB8AC3E}">
        <p14:creationId xmlns:p14="http://schemas.microsoft.com/office/powerpoint/2010/main" val="19784729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B05E07-C502-4822-A98E-CD8942A9EEDC}"/>
              </a:ext>
            </a:extLst>
          </p:cNvPr>
          <p:cNvSpPr>
            <a:spLocks noGrp="1"/>
          </p:cNvSpPr>
          <p:nvPr>
            <p:ph type="title"/>
          </p:nvPr>
        </p:nvSpPr>
        <p:spPr>
          <a:xfrm>
            <a:off x="838200" y="365126"/>
            <a:ext cx="10515600" cy="774358"/>
          </a:xfrm>
        </p:spPr>
        <p:txBody>
          <a:bodyPr/>
          <a:lstStyle/>
          <a:p>
            <a:r>
              <a:rPr lang="en-US" dirty="0"/>
              <a:t>MULTI CLOUD </a:t>
            </a:r>
          </a:p>
        </p:txBody>
      </p:sp>
      <p:sp>
        <p:nvSpPr>
          <p:cNvPr id="4" name="Content Placeholder 3">
            <a:extLst>
              <a:ext uri="{FF2B5EF4-FFF2-40B4-BE49-F238E27FC236}">
                <a16:creationId xmlns:a16="http://schemas.microsoft.com/office/drawing/2014/main" id="{867B91D8-C562-4496-9EF2-0F9C879DFEF5}"/>
              </a:ext>
            </a:extLst>
          </p:cNvPr>
          <p:cNvSpPr>
            <a:spLocks noGrp="1"/>
          </p:cNvSpPr>
          <p:nvPr>
            <p:ph idx="1"/>
          </p:nvPr>
        </p:nvSpPr>
        <p:spPr>
          <a:xfrm>
            <a:off x="838200" y="1350497"/>
            <a:ext cx="10515600" cy="4826465"/>
          </a:xfrm>
        </p:spPr>
        <p:txBody>
          <a:bodyPr/>
          <a:lstStyle/>
          <a:p>
            <a:pPr algn="just"/>
            <a:r>
              <a:rPr lang="en-US" dirty="0"/>
              <a:t>Multi-cloud in cloud computing is a strategy where an organization uses services from multiple public cloud providers (like AWS, Azure, Google Cloud) simultaneously, </a:t>
            </a:r>
          </a:p>
          <a:p>
            <a:pPr algn="just"/>
            <a:r>
              <a:rPr lang="en-US" dirty="0"/>
              <a:t>rather than relying on just one, to optimize for best-fit services, avoid vendor lock-in, enhance resilience, and gain flexibility for different workloads. </a:t>
            </a:r>
          </a:p>
          <a:p>
            <a:pPr algn="just"/>
            <a:r>
              <a:rPr lang="en-US" dirty="0"/>
              <a:t>This approach allows companies to select specialized tools, manage costs, improve performance, and build redundancy by distributing applications across various cloud environments. </a:t>
            </a:r>
          </a:p>
        </p:txBody>
      </p:sp>
    </p:spTree>
    <p:extLst>
      <p:ext uri="{BB962C8B-B14F-4D97-AF65-F5344CB8AC3E}">
        <p14:creationId xmlns:p14="http://schemas.microsoft.com/office/powerpoint/2010/main" val="38355557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92668A-6491-43F2-BAB0-8A498D4494FC}"/>
              </a:ext>
            </a:extLst>
          </p:cNvPr>
          <p:cNvSpPr>
            <a:spLocks noGrp="1"/>
          </p:cNvSpPr>
          <p:nvPr>
            <p:ph idx="4294967295"/>
          </p:nvPr>
        </p:nvSpPr>
        <p:spPr>
          <a:xfrm>
            <a:off x="1195754" y="203982"/>
            <a:ext cx="10515600" cy="6450036"/>
          </a:xfrm>
        </p:spPr>
        <p:txBody>
          <a:bodyPr>
            <a:normAutofit/>
          </a:bodyPr>
          <a:lstStyle/>
          <a:p>
            <a:pPr marL="0" indent="0">
              <a:buNone/>
            </a:pPr>
            <a:r>
              <a:rPr lang="en-US" dirty="0">
                <a:solidFill>
                  <a:srgbClr val="FF0000"/>
                </a:solidFill>
              </a:rPr>
              <a:t>Benefits</a:t>
            </a:r>
          </a:p>
          <a:p>
            <a:pPr algn="just"/>
            <a:r>
              <a:rPr lang="en-US" dirty="0"/>
              <a:t>Best-of-Breed: Access to unique services and innovations from different vendors. </a:t>
            </a:r>
          </a:p>
          <a:p>
            <a:pPr algn="just"/>
            <a:r>
              <a:rPr lang="en-US" dirty="0"/>
              <a:t>Cost Control: Ability to choose the most economical option for each workload. </a:t>
            </a:r>
          </a:p>
          <a:p>
            <a:pPr algn="just"/>
            <a:r>
              <a:rPr lang="en-US" dirty="0"/>
              <a:t>Performance: Lower latency by placing services closer to users globally. </a:t>
            </a:r>
          </a:p>
          <a:p>
            <a:pPr marL="0" indent="0" algn="just">
              <a:buNone/>
            </a:pPr>
            <a:r>
              <a:rPr lang="en-US" dirty="0">
                <a:solidFill>
                  <a:srgbClr val="FF0000"/>
                </a:solidFill>
              </a:rPr>
              <a:t>Challenges</a:t>
            </a:r>
          </a:p>
          <a:p>
            <a:pPr algn="just"/>
            <a:r>
              <a:rPr lang="en-US" dirty="0"/>
              <a:t>Complexity: Requires more sophisticated management, security, and governance across disparate platforms.</a:t>
            </a:r>
          </a:p>
          <a:p>
            <a:pPr algn="just"/>
            <a:r>
              <a:rPr lang="en-US" dirty="0"/>
              <a:t>Integration: Ensuring smooth interoperability between different cloud environments. </a:t>
            </a:r>
          </a:p>
        </p:txBody>
      </p:sp>
    </p:spTree>
    <p:extLst>
      <p:ext uri="{BB962C8B-B14F-4D97-AF65-F5344CB8AC3E}">
        <p14:creationId xmlns:p14="http://schemas.microsoft.com/office/powerpoint/2010/main" val="11709209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4788E-B819-4A67-93E7-0F62ECEE7CB8}"/>
              </a:ext>
            </a:extLst>
          </p:cNvPr>
          <p:cNvSpPr>
            <a:spLocks noGrp="1"/>
          </p:cNvSpPr>
          <p:nvPr>
            <p:ph type="title"/>
          </p:nvPr>
        </p:nvSpPr>
        <p:spPr>
          <a:xfrm>
            <a:off x="838200" y="365125"/>
            <a:ext cx="10515600" cy="999441"/>
          </a:xfrm>
        </p:spPr>
        <p:txBody>
          <a:bodyPr>
            <a:normAutofit fontScale="90000"/>
          </a:bodyPr>
          <a:lstStyle/>
          <a:p>
            <a:r>
              <a:rPr lang="en-US" b="1" dirty="0"/>
              <a:t>ARCHITECTURAL DESIGN OF COMPUTE AND STORAGE</a:t>
            </a:r>
            <a:endParaRPr lang="en-US" dirty="0"/>
          </a:p>
        </p:txBody>
      </p:sp>
      <p:sp>
        <p:nvSpPr>
          <p:cNvPr id="3" name="Content Placeholder 2">
            <a:extLst>
              <a:ext uri="{FF2B5EF4-FFF2-40B4-BE49-F238E27FC236}">
                <a16:creationId xmlns:a16="http://schemas.microsoft.com/office/drawing/2014/main" id="{32D0A3BE-272C-4BB0-8F4B-5662B892B140}"/>
              </a:ext>
            </a:extLst>
          </p:cNvPr>
          <p:cNvSpPr>
            <a:spLocks noGrp="1"/>
          </p:cNvSpPr>
          <p:nvPr>
            <p:ph idx="1"/>
          </p:nvPr>
        </p:nvSpPr>
        <p:spPr>
          <a:xfrm>
            <a:off x="838200" y="1364566"/>
            <a:ext cx="10515600" cy="4812397"/>
          </a:xfrm>
        </p:spPr>
        <p:txBody>
          <a:bodyPr/>
          <a:lstStyle/>
          <a:p>
            <a:pPr marL="0" indent="0">
              <a:buNone/>
            </a:pPr>
            <a:endParaRPr lang="en-US" dirty="0"/>
          </a:p>
          <a:p>
            <a:pPr marL="0" indent="0">
              <a:buNone/>
            </a:pPr>
            <a:endParaRPr lang="en-US" dirty="0"/>
          </a:p>
          <a:p>
            <a:pPr marL="0" indent="0">
              <a:buNone/>
            </a:pPr>
            <a:r>
              <a:rPr lang="en-US" dirty="0"/>
              <a:t>The cloud architecture is divided into 2 parts </a:t>
            </a:r>
          </a:p>
          <a:p>
            <a:pPr marL="0" indent="0">
              <a:buNone/>
            </a:pPr>
            <a:r>
              <a:rPr lang="en-US" dirty="0"/>
              <a:t>1.	Frontend</a:t>
            </a:r>
          </a:p>
          <a:p>
            <a:pPr marL="0" indent="0">
              <a:buNone/>
            </a:pPr>
            <a:r>
              <a:rPr lang="en-US" dirty="0"/>
              <a:t>2.	Backend</a:t>
            </a:r>
          </a:p>
          <a:p>
            <a:endParaRPr lang="en-US" dirty="0"/>
          </a:p>
        </p:txBody>
      </p:sp>
    </p:spTree>
    <p:extLst>
      <p:ext uri="{BB962C8B-B14F-4D97-AF65-F5344CB8AC3E}">
        <p14:creationId xmlns:p14="http://schemas.microsoft.com/office/powerpoint/2010/main" val="26310275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AD1A689-B367-496E-916D-1ABCD7EA615F}"/>
              </a:ext>
            </a:extLst>
          </p:cNvPr>
          <p:cNvPicPr>
            <a:picLocks noGrp="1" noChangeAspect="1"/>
          </p:cNvPicPr>
          <p:nvPr>
            <p:ph idx="4294967295"/>
          </p:nvPr>
        </p:nvPicPr>
        <p:blipFill>
          <a:blip r:embed="rId2"/>
          <a:stretch>
            <a:fillRect/>
          </a:stretch>
        </p:blipFill>
        <p:spPr>
          <a:xfrm>
            <a:off x="0" y="787791"/>
            <a:ext cx="10564837" cy="5316147"/>
          </a:xfrm>
          <a:prstGeom prst="rect">
            <a:avLst/>
          </a:prstGeom>
        </p:spPr>
      </p:pic>
    </p:spTree>
    <p:extLst>
      <p:ext uri="{BB962C8B-B14F-4D97-AF65-F5344CB8AC3E}">
        <p14:creationId xmlns:p14="http://schemas.microsoft.com/office/powerpoint/2010/main" val="11607590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0FF30-C61A-4D73-BA1F-A5796B16F557}"/>
              </a:ext>
            </a:extLst>
          </p:cNvPr>
          <p:cNvSpPr>
            <a:spLocks noGrp="1"/>
          </p:cNvSpPr>
          <p:nvPr>
            <p:ph type="title"/>
          </p:nvPr>
        </p:nvSpPr>
        <p:spPr/>
        <p:txBody>
          <a:bodyPr/>
          <a:lstStyle/>
          <a:p>
            <a:r>
              <a:rPr lang="en-US" dirty="0"/>
              <a:t>Cloud computing architecture</a:t>
            </a:r>
          </a:p>
        </p:txBody>
      </p:sp>
      <p:sp>
        <p:nvSpPr>
          <p:cNvPr id="3" name="Content Placeholder 2">
            <a:extLst>
              <a:ext uri="{FF2B5EF4-FFF2-40B4-BE49-F238E27FC236}">
                <a16:creationId xmlns:a16="http://schemas.microsoft.com/office/drawing/2014/main" id="{E469546D-ECBB-4CB1-B5F3-8E3E88DBA495}"/>
              </a:ext>
            </a:extLst>
          </p:cNvPr>
          <p:cNvSpPr>
            <a:spLocks noGrp="1"/>
          </p:cNvSpPr>
          <p:nvPr>
            <p:ph idx="1"/>
          </p:nvPr>
        </p:nvSpPr>
        <p:spPr/>
        <p:txBody>
          <a:bodyPr/>
          <a:lstStyle/>
          <a:p>
            <a:r>
              <a:rPr lang="en-US" dirty="0"/>
              <a:t>Architecture of cloud computing is the combination of both </a:t>
            </a:r>
            <a:r>
              <a:rPr lang="en-US" u="sng" dirty="0">
                <a:hlinkClick r:id="rId2"/>
              </a:rPr>
              <a:t>SOA (Service Oriented Architecture)</a:t>
            </a:r>
            <a:r>
              <a:rPr lang="en-US" dirty="0"/>
              <a:t> and EDA (Event Driven Architecture). Client infrastructure, application, service, runtime cloud, storage, infrastructure, management and security all these are the components of cloud computing architecture.</a:t>
            </a:r>
          </a:p>
          <a:p>
            <a:endParaRPr lang="en-US" dirty="0"/>
          </a:p>
        </p:txBody>
      </p:sp>
    </p:spTree>
    <p:extLst>
      <p:ext uri="{BB962C8B-B14F-4D97-AF65-F5344CB8AC3E}">
        <p14:creationId xmlns:p14="http://schemas.microsoft.com/office/powerpoint/2010/main" val="20580359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6C11D-DB07-4D7D-B4C0-376AB6A0FF2C}"/>
              </a:ext>
            </a:extLst>
          </p:cNvPr>
          <p:cNvSpPr>
            <a:spLocks noGrp="1"/>
          </p:cNvSpPr>
          <p:nvPr>
            <p:ph type="title"/>
          </p:nvPr>
        </p:nvSpPr>
        <p:spPr>
          <a:xfrm>
            <a:off x="838200" y="365126"/>
            <a:ext cx="10515600" cy="315912"/>
          </a:xfrm>
        </p:spPr>
        <p:txBody>
          <a:bodyPr>
            <a:normAutofit fontScale="90000"/>
          </a:bodyPr>
          <a:lstStyle/>
          <a:p>
            <a:r>
              <a:rPr lang="en-US" b="1" dirty="0"/>
              <a:t>Frontend:</a:t>
            </a:r>
            <a:endParaRPr lang="en-US" dirty="0"/>
          </a:p>
        </p:txBody>
      </p:sp>
      <p:sp>
        <p:nvSpPr>
          <p:cNvPr id="3" name="Content Placeholder 2">
            <a:extLst>
              <a:ext uri="{FF2B5EF4-FFF2-40B4-BE49-F238E27FC236}">
                <a16:creationId xmlns:a16="http://schemas.microsoft.com/office/drawing/2014/main" id="{C269CCE7-81F8-4705-9CF4-B6320066AF05}"/>
              </a:ext>
            </a:extLst>
          </p:cNvPr>
          <p:cNvSpPr>
            <a:spLocks noGrp="1"/>
          </p:cNvSpPr>
          <p:nvPr>
            <p:ph idx="1"/>
          </p:nvPr>
        </p:nvSpPr>
        <p:spPr>
          <a:xfrm>
            <a:off x="838200" y="681038"/>
            <a:ext cx="10515600" cy="6591959"/>
          </a:xfrm>
        </p:spPr>
        <p:txBody>
          <a:bodyPr>
            <a:normAutofit lnSpcReduction="10000"/>
          </a:bodyPr>
          <a:lstStyle/>
          <a:p>
            <a:pPr marL="0" indent="0">
              <a:buNone/>
            </a:pPr>
            <a:endParaRPr lang="en-US" dirty="0"/>
          </a:p>
          <a:p>
            <a:pPr marL="0" indent="0">
              <a:buNone/>
            </a:pPr>
            <a:r>
              <a:rPr lang="en-US" dirty="0"/>
              <a:t>Frontend of the cloud architecture refers to the client side of cloud computing system. Means it contains all the user interfaces and applications which are used by the client to access the cloud computing services/resources. For example, use of a web browser to access the cloud platform.</a:t>
            </a:r>
          </a:p>
          <a:p>
            <a:pPr lvl="0" fontAlgn="base"/>
            <a:r>
              <a:rPr lang="en-US" b="1" dirty="0"/>
              <a:t>Client Infrastructure –</a:t>
            </a:r>
            <a:r>
              <a:rPr lang="en-US" dirty="0"/>
              <a:t> Client Infrastructure is a part of the frontend component. It contains the </a:t>
            </a:r>
            <a:r>
              <a:rPr lang="en-US" dirty="0">
                <a:solidFill>
                  <a:srgbClr val="FF0000"/>
                </a:solidFill>
              </a:rPr>
              <a:t>applications and user interfaces</a:t>
            </a:r>
            <a:r>
              <a:rPr lang="en-US" dirty="0"/>
              <a:t> which are required to access the cloud platform.</a:t>
            </a:r>
          </a:p>
          <a:p>
            <a:pPr lvl="0" fontAlgn="base"/>
            <a:r>
              <a:rPr lang="en-US" dirty="0">
                <a:solidFill>
                  <a:srgbClr val="FF0000"/>
                </a:solidFill>
              </a:rPr>
              <a:t>In other words, it provides a GUI (Graphical User Interface) to interact with the cloud.</a:t>
            </a:r>
          </a:p>
          <a:p>
            <a:pPr fontAlgn="base"/>
            <a:r>
              <a:rPr lang="en-US" b="1" dirty="0"/>
              <a:t> </a:t>
            </a:r>
            <a:r>
              <a:rPr lang="en-US" dirty="0"/>
              <a:t>Backend refers to the cloud itself which is used by the service provider. It contains the resources as well as manages the resources and provides security mechanisms. Along with this, it includes huge storage, virtual applications, virtual machines, traffic control mechanisms, deployment models, etc.</a:t>
            </a:r>
          </a:p>
          <a:p>
            <a:pPr lvl="0" fontAlgn="base"/>
            <a:endParaRPr lang="en-US" dirty="0">
              <a:solidFill>
                <a:srgbClr val="FF0000"/>
              </a:solidFill>
            </a:endParaRPr>
          </a:p>
          <a:p>
            <a:pPr marL="0" indent="0">
              <a:buNone/>
            </a:pPr>
            <a:endParaRPr lang="en-US" dirty="0"/>
          </a:p>
          <a:p>
            <a:endParaRPr lang="en-US" dirty="0"/>
          </a:p>
        </p:txBody>
      </p:sp>
    </p:spTree>
    <p:extLst>
      <p:ext uri="{BB962C8B-B14F-4D97-AF65-F5344CB8AC3E}">
        <p14:creationId xmlns:p14="http://schemas.microsoft.com/office/powerpoint/2010/main" val="8147085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EFFFEAC-5A4E-421D-B195-EA84A532825C}"/>
              </a:ext>
            </a:extLst>
          </p:cNvPr>
          <p:cNvPicPr>
            <a:picLocks noChangeAspect="1"/>
          </p:cNvPicPr>
          <p:nvPr/>
        </p:nvPicPr>
        <p:blipFill>
          <a:blip r:embed="rId2"/>
          <a:stretch>
            <a:fillRect/>
          </a:stretch>
        </p:blipFill>
        <p:spPr>
          <a:xfrm>
            <a:off x="0" y="-1"/>
            <a:ext cx="12056012" cy="7272997"/>
          </a:xfrm>
          <a:prstGeom prst="rect">
            <a:avLst/>
          </a:prstGeom>
        </p:spPr>
      </p:pic>
    </p:spTree>
    <p:extLst>
      <p:ext uri="{BB962C8B-B14F-4D97-AF65-F5344CB8AC3E}">
        <p14:creationId xmlns:p14="http://schemas.microsoft.com/office/powerpoint/2010/main" val="18131582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039B0-3F1F-4F81-BFB6-7D0854DDCCF5}"/>
              </a:ext>
            </a:extLst>
          </p:cNvPr>
          <p:cNvSpPr>
            <a:spLocks noGrp="1"/>
          </p:cNvSpPr>
          <p:nvPr>
            <p:ph type="title"/>
          </p:nvPr>
        </p:nvSpPr>
        <p:spPr>
          <a:xfrm>
            <a:off x="838200" y="365126"/>
            <a:ext cx="10515600" cy="450800"/>
          </a:xfrm>
        </p:spPr>
        <p:txBody>
          <a:bodyPr>
            <a:normAutofit fontScale="90000"/>
          </a:bodyPr>
          <a:lstStyle/>
          <a:p>
            <a:br>
              <a:rPr lang="en-US" b="1" dirty="0"/>
            </a:br>
            <a:r>
              <a:rPr lang="en-US" b="1" dirty="0"/>
              <a:t>Compute Cloud Architecture</a:t>
            </a:r>
            <a:br>
              <a:rPr lang="en-US" b="1" dirty="0"/>
            </a:br>
            <a:endParaRPr lang="en-US" dirty="0"/>
          </a:p>
        </p:txBody>
      </p:sp>
      <p:sp>
        <p:nvSpPr>
          <p:cNvPr id="3" name="Content Placeholder 2">
            <a:extLst>
              <a:ext uri="{FF2B5EF4-FFF2-40B4-BE49-F238E27FC236}">
                <a16:creationId xmlns:a16="http://schemas.microsoft.com/office/drawing/2014/main" id="{F68D417E-86C8-45E1-9876-9C6E5BAD664F}"/>
              </a:ext>
            </a:extLst>
          </p:cNvPr>
          <p:cNvSpPr>
            <a:spLocks noGrp="1"/>
          </p:cNvSpPr>
          <p:nvPr>
            <p:ph idx="1"/>
          </p:nvPr>
        </p:nvSpPr>
        <p:spPr>
          <a:xfrm>
            <a:off x="838200" y="1083212"/>
            <a:ext cx="10515600" cy="5528603"/>
          </a:xfrm>
        </p:spPr>
        <p:txBody>
          <a:bodyPr>
            <a:normAutofit fontScale="92500" lnSpcReduction="10000"/>
          </a:bodyPr>
          <a:lstStyle/>
          <a:p>
            <a:r>
              <a:rPr lang="en-US" dirty="0"/>
              <a:t>Compute clouds focus on delivering </a:t>
            </a:r>
            <a:r>
              <a:rPr lang="en-US" b="1" dirty="0"/>
              <a:t>elastic processing power</a:t>
            </a:r>
            <a:r>
              <a:rPr lang="en-US" dirty="0"/>
              <a:t> through virtualized resources.</a:t>
            </a:r>
          </a:p>
          <a:p>
            <a:r>
              <a:rPr lang="en-US" b="1" dirty="0"/>
              <a:t>a) Virtualized Compute Layer</a:t>
            </a:r>
          </a:p>
          <a:p>
            <a:r>
              <a:rPr lang="en-US" dirty="0"/>
              <a:t>This layer is the core of compute clouds. It consists of:</a:t>
            </a:r>
          </a:p>
          <a:p>
            <a:r>
              <a:rPr lang="en-US" dirty="0"/>
              <a:t>Physical servers with multi-core CPUs and GPUs</a:t>
            </a:r>
          </a:p>
          <a:p>
            <a:r>
              <a:rPr lang="en-US" dirty="0"/>
              <a:t>Hypervisors (Xen, KVM, VMware ESX)</a:t>
            </a:r>
          </a:p>
          <a:p>
            <a:r>
              <a:rPr lang="en-US" dirty="0"/>
              <a:t>Virtual Machines / Containers</a:t>
            </a:r>
          </a:p>
          <a:p>
            <a:r>
              <a:rPr lang="en-US" b="1" dirty="0"/>
              <a:t>Functions:</a:t>
            </a:r>
            <a:endParaRPr lang="en-US" dirty="0"/>
          </a:p>
          <a:p>
            <a:r>
              <a:rPr lang="en-US" dirty="0"/>
              <a:t>Isolation between tenants</a:t>
            </a:r>
          </a:p>
          <a:p>
            <a:r>
              <a:rPr lang="en-US" dirty="0"/>
              <a:t>Dynamic provisioning and scaling</a:t>
            </a:r>
          </a:p>
          <a:p>
            <a:r>
              <a:rPr lang="en-US" dirty="0"/>
              <a:t>Live migration and fault-tolerant execution</a:t>
            </a:r>
          </a:p>
          <a:p>
            <a:r>
              <a:rPr lang="en-US" dirty="0"/>
              <a:t>It is emphasized  as the </a:t>
            </a:r>
            <a:r>
              <a:rPr lang="en-US" b="1" dirty="0"/>
              <a:t>“virtual execution environment”</a:t>
            </a:r>
            <a:r>
              <a:rPr lang="en-US" dirty="0"/>
              <a:t> that abstracts hardware.</a:t>
            </a:r>
          </a:p>
          <a:p>
            <a:endParaRPr lang="en-US" dirty="0"/>
          </a:p>
        </p:txBody>
      </p:sp>
    </p:spTree>
    <p:extLst>
      <p:ext uri="{BB962C8B-B14F-4D97-AF65-F5344CB8AC3E}">
        <p14:creationId xmlns:p14="http://schemas.microsoft.com/office/powerpoint/2010/main" val="11876378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A5A40-E350-452C-B923-98B63C88500B}"/>
              </a:ext>
            </a:extLst>
          </p:cNvPr>
          <p:cNvSpPr>
            <a:spLocks noGrp="1"/>
          </p:cNvSpPr>
          <p:nvPr>
            <p:ph type="title"/>
          </p:nvPr>
        </p:nvSpPr>
        <p:spPr>
          <a:xfrm>
            <a:off x="838200" y="365125"/>
            <a:ext cx="10515600" cy="929103"/>
          </a:xfrm>
        </p:spPr>
        <p:txBody>
          <a:bodyPr>
            <a:normAutofit fontScale="90000"/>
          </a:bodyPr>
          <a:lstStyle/>
          <a:p>
            <a:r>
              <a:rPr lang="en-US" b="1" dirty="0"/>
              <a:t>Elastic Resource Provisioning</a:t>
            </a:r>
            <a:br>
              <a:rPr lang="en-US" b="1" dirty="0"/>
            </a:br>
            <a:endParaRPr lang="en-US" dirty="0"/>
          </a:p>
        </p:txBody>
      </p:sp>
      <p:sp>
        <p:nvSpPr>
          <p:cNvPr id="3" name="Content Placeholder 2">
            <a:extLst>
              <a:ext uri="{FF2B5EF4-FFF2-40B4-BE49-F238E27FC236}">
                <a16:creationId xmlns:a16="http://schemas.microsoft.com/office/drawing/2014/main" id="{549DB52B-ABDB-49BB-B689-9DEAC837AA31}"/>
              </a:ext>
            </a:extLst>
          </p:cNvPr>
          <p:cNvSpPr>
            <a:spLocks noGrp="1"/>
          </p:cNvSpPr>
          <p:nvPr>
            <p:ph idx="1"/>
          </p:nvPr>
        </p:nvSpPr>
        <p:spPr>
          <a:xfrm>
            <a:off x="838200" y="1026942"/>
            <a:ext cx="10515600" cy="5669280"/>
          </a:xfrm>
        </p:spPr>
        <p:txBody>
          <a:bodyPr>
            <a:normAutofit/>
          </a:bodyPr>
          <a:lstStyle/>
          <a:p>
            <a:pPr marL="0" indent="0">
              <a:buNone/>
            </a:pPr>
            <a:r>
              <a:rPr lang="en-US" dirty="0"/>
              <a:t>Compute architecture supports:</a:t>
            </a:r>
          </a:p>
          <a:p>
            <a:r>
              <a:rPr lang="en-US" b="1" dirty="0"/>
              <a:t>On-demand VM creation</a:t>
            </a:r>
            <a:endParaRPr lang="en-US" dirty="0"/>
          </a:p>
          <a:p>
            <a:r>
              <a:rPr lang="en-US" b="1" dirty="0"/>
              <a:t>Auto-scaling</a:t>
            </a:r>
            <a:r>
              <a:rPr lang="en-US" dirty="0"/>
              <a:t> based on workload</a:t>
            </a:r>
          </a:p>
          <a:p>
            <a:r>
              <a:rPr lang="en-US" b="1" dirty="0"/>
              <a:t>Load balancing</a:t>
            </a:r>
            <a:r>
              <a:rPr lang="en-US" dirty="0"/>
              <a:t> among VM clusters</a:t>
            </a:r>
          </a:p>
          <a:p>
            <a:pPr marL="0" indent="0">
              <a:buNone/>
            </a:pPr>
            <a:r>
              <a:rPr lang="en-US" dirty="0"/>
              <a:t>Resource management is performed using:</a:t>
            </a:r>
          </a:p>
          <a:p>
            <a:r>
              <a:rPr lang="en-US" dirty="0"/>
              <a:t>Resource brokers</a:t>
            </a:r>
          </a:p>
          <a:p>
            <a:r>
              <a:rPr lang="en-US" dirty="0"/>
              <a:t>Job schedulers</a:t>
            </a:r>
          </a:p>
          <a:p>
            <a:r>
              <a:rPr lang="en-US" dirty="0"/>
              <a:t>Cloud controllers (OpenStack, Eucalyptus)</a:t>
            </a:r>
          </a:p>
          <a:p>
            <a:r>
              <a:rPr lang="en-US" dirty="0"/>
              <a:t>This ensures efficient use of distributed datacenter resources.</a:t>
            </a:r>
          </a:p>
          <a:p>
            <a:endParaRPr lang="en-US" dirty="0"/>
          </a:p>
        </p:txBody>
      </p:sp>
    </p:spTree>
    <p:extLst>
      <p:ext uri="{BB962C8B-B14F-4D97-AF65-F5344CB8AC3E}">
        <p14:creationId xmlns:p14="http://schemas.microsoft.com/office/powerpoint/2010/main" val="31203538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789A3-DFD5-4901-8AFA-60CB3DB59DD1}"/>
              </a:ext>
            </a:extLst>
          </p:cNvPr>
          <p:cNvSpPr>
            <a:spLocks noGrp="1"/>
          </p:cNvSpPr>
          <p:nvPr>
            <p:ph type="title"/>
          </p:nvPr>
        </p:nvSpPr>
        <p:spPr>
          <a:xfrm>
            <a:off x="838200" y="1"/>
            <a:ext cx="10515600" cy="1083212"/>
          </a:xfrm>
        </p:spPr>
        <p:txBody>
          <a:bodyPr>
            <a:normAutofit/>
          </a:bodyPr>
          <a:lstStyle/>
          <a:p>
            <a:r>
              <a:rPr lang="en-US" sz="3200" dirty="0">
                <a:solidFill>
                  <a:srgbClr val="FF0000"/>
                </a:solidFill>
              </a:rPr>
              <a:t>Compute Clusters and Data Center Organization</a:t>
            </a:r>
          </a:p>
        </p:txBody>
      </p:sp>
      <p:sp>
        <p:nvSpPr>
          <p:cNvPr id="3" name="Content Placeholder 2">
            <a:extLst>
              <a:ext uri="{FF2B5EF4-FFF2-40B4-BE49-F238E27FC236}">
                <a16:creationId xmlns:a16="http://schemas.microsoft.com/office/drawing/2014/main" id="{7DD355D2-898F-4889-9C51-DFDF3F747422}"/>
              </a:ext>
            </a:extLst>
          </p:cNvPr>
          <p:cNvSpPr>
            <a:spLocks noGrp="1"/>
          </p:cNvSpPr>
          <p:nvPr>
            <p:ph idx="1"/>
          </p:nvPr>
        </p:nvSpPr>
        <p:spPr>
          <a:xfrm>
            <a:off x="838200" y="829993"/>
            <a:ext cx="10515600" cy="6028005"/>
          </a:xfrm>
        </p:spPr>
        <p:txBody>
          <a:bodyPr>
            <a:normAutofit fontScale="92500" lnSpcReduction="10000"/>
          </a:bodyPr>
          <a:lstStyle/>
          <a:p>
            <a:pPr marL="0" indent="0">
              <a:buNone/>
            </a:pPr>
            <a:r>
              <a:rPr lang="en-US" dirty="0"/>
              <a:t>Clouds are built using large-scale:</a:t>
            </a:r>
          </a:p>
          <a:p>
            <a:r>
              <a:rPr lang="en-US" dirty="0"/>
              <a:t>Server clusters</a:t>
            </a:r>
          </a:p>
          <a:p>
            <a:r>
              <a:rPr lang="en-US" dirty="0"/>
              <a:t>Blade servers</a:t>
            </a:r>
          </a:p>
          <a:p>
            <a:r>
              <a:rPr lang="en-US" dirty="0"/>
              <a:t>Rack-mounted computing nodes</a:t>
            </a:r>
          </a:p>
          <a:p>
            <a:r>
              <a:rPr lang="en-US" dirty="0"/>
              <a:t>Server clusters, blade clusters, and rack-mounted nodes represent </a:t>
            </a:r>
            <a:r>
              <a:rPr lang="en-US" dirty="0">
                <a:solidFill>
                  <a:srgbClr val="FF0000"/>
                </a:solidFill>
              </a:rPr>
              <a:t>different approaches to organizing computer hardware </a:t>
            </a:r>
            <a:r>
              <a:rPr lang="en-US" dirty="0"/>
              <a:t>for increased performance, reliability, and space efficiency in data centers. </a:t>
            </a:r>
          </a:p>
          <a:p>
            <a:r>
              <a:rPr lang="en-US" dirty="0">
                <a:solidFill>
                  <a:srgbClr val="FF0000"/>
                </a:solidFill>
              </a:rPr>
              <a:t>Server Clusters: </a:t>
            </a:r>
            <a:r>
              <a:rPr lang="en-US" dirty="0"/>
              <a:t>A logical grouping of multiple independent servers (nodes) that work together as a single system to provide high availability and load balancing.</a:t>
            </a:r>
          </a:p>
          <a:p>
            <a:r>
              <a:rPr lang="en-US" dirty="0">
                <a:solidFill>
                  <a:srgbClr val="FF0000"/>
                </a:solidFill>
              </a:rPr>
              <a:t>Rack-Mounted Nodes: </a:t>
            </a:r>
            <a:r>
              <a:rPr lang="en-US" dirty="0"/>
              <a:t>Individual, standalone servers (1U, 2U, etc.) designed to be bolted into a standard 19-inch metal frame (rack).</a:t>
            </a:r>
          </a:p>
          <a:p>
            <a:r>
              <a:rPr lang="en-US" dirty="0">
                <a:solidFill>
                  <a:srgbClr val="FF0000"/>
                </a:solidFill>
              </a:rPr>
              <a:t>Blade Clusters: </a:t>
            </a:r>
            <a:r>
              <a:rPr lang="en-US" dirty="0"/>
              <a:t>A high-density system where multiple ultra-thin "blade" servers are inserted into a single chassis, sharing power, cooling, and networking components. </a:t>
            </a:r>
          </a:p>
        </p:txBody>
      </p:sp>
    </p:spTree>
    <p:extLst>
      <p:ext uri="{BB962C8B-B14F-4D97-AF65-F5344CB8AC3E}">
        <p14:creationId xmlns:p14="http://schemas.microsoft.com/office/powerpoint/2010/main" val="40663874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7DD48-2F45-4098-ABB2-42A21B6269EA}"/>
              </a:ext>
            </a:extLst>
          </p:cNvPr>
          <p:cNvSpPr>
            <a:spLocks noGrp="1"/>
          </p:cNvSpPr>
          <p:nvPr>
            <p:ph type="title"/>
          </p:nvPr>
        </p:nvSpPr>
        <p:spPr>
          <a:xfrm>
            <a:off x="838200" y="365126"/>
            <a:ext cx="10515600" cy="774358"/>
          </a:xfrm>
        </p:spPr>
        <p:txBody>
          <a:bodyPr/>
          <a:lstStyle/>
          <a:p>
            <a:r>
              <a:rPr lang="en-US" dirty="0"/>
              <a:t>The datacenter architecture integrates</a:t>
            </a:r>
          </a:p>
        </p:txBody>
      </p:sp>
      <p:sp>
        <p:nvSpPr>
          <p:cNvPr id="3" name="Content Placeholder 2">
            <a:extLst>
              <a:ext uri="{FF2B5EF4-FFF2-40B4-BE49-F238E27FC236}">
                <a16:creationId xmlns:a16="http://schemas.microsoft.com/office/drawing/2014/main" id="{FD547617-15C8-4BAB-94AD-7877C65011F1}"/>
              </a:ext>
            </a:extLst>
          </p:cNvPr>
          <p:cNvSpPr>
            <a:spLocks noGrp="1"/>
          </p:cNvSpPr>
          <p:nvPr>
            <p:ph idx="1"/>
          </p:nvPr>
        </p:nvSpPr>
        <p:spPr>
          <a:xfrm>
            <a:off x="838200" y="1336431"/>
            <a:ext cx="10515600" cy="4840532"/>
          </a:xfrm>
        </p:spPr>
        <p:txBody>
          <a:bodyPr>
            <a:normAutofit/>
          </a:bodyPr>
          <a:lstStyle/>
          <a:p>
            <a:r>
              <a:rPr lang="en-US" dirty="0"/>
              <a:t>High-speed interconnects (GigE, InfiniBand)</a:t>
            </a:r>
          </a:p>
          <a:p>
            <a:r>
              <a:rPr lang="en-US" dirty="0"/>
              <a:t>Distributed monitoring and control systems</a:t>
            </a:r>
          </a:p>
          <a:p>
            <a:r>
              <a:rPr lang="en-US" dirty="0"/>
              <a:t>According to the book, compute clouds follow a multi-tier architecture, involving:</a:t>
            </a:r>
          </a:p>
          <a:p>
            <a:r>
              <a:rPr lang="en-US" dirty="0"/>
              <a:t>Fabric Layer(physical level)</a:t>
            </a:r>
          </a:p>
          <a:p>
            <a:r>
              <a:rPr lang="en-US" dirty="0"/>
              <a:t>Unified Resource Layer(virtualization level)</a:t>
            </a:r>
          </a:p>
          <a:p>
            <a:r>
              <a:rPr lang="en-US" dirty="0"/>
              <a:t>Platform Layer(development level )</a:t>
            </a:r>
          </a:p>
          <a:p>
            <a:r>
              <a:rPr lang="en-US" dirty="0"/>
              <a:t>Application Layer(user and application level)</a:t>
            </a:r>
          </a:p>
          <a:p>
            <a:endParaRPr lang="en-US" dirty="0"/>
          </a:p>
        </p:txBody>
      </p:sp>
    </p:spTree>
    <p:extLst>
      <p:ext uri="{BB962C8B-B14F-4D97-AF65-F5344CB8AC3E}">
        <p14:creationId xmlns:p14="http://schemas.microsoft.com/office/powerpoint/2010/main" val="2523871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CBC6B-165B-4E08-B2FB-6B92CC989CCB}"/>
              </a:ext>
            </a:extLst>
          </p:cNvPr>
          <p:cNvSpPr>
            <a:spLocks noGrp="1"/>
          </p:cNvSpPr>
          <p:nvPr>
            <p:ph type="title"/>
          </p:nvPr>
        </p:nvSpPr>
        <p:spPr>
          <a:xfrm>
            <a:off x="838200" y="365126"/>
            <a:ext cx="10515600" cy="788426"/>
          </a:xfrm>
        </p:spPr>
        <p:txBody>
          <a:bodyPr/>
          <a:lstStyle/>
          <a:p>
            <a:r>
              <a:rPr lang="en-US" dirty="0"/>
              <a:t>Storage Cloud Architecture Storage</a:t>
            </a:r>
          </a:p>
        </p:txBody>
      </p:sp>
      <p:sp>
        <p:nvSpPr>
          <p:cNvPr id="3" name="Content Placeholder 2">
            <a:extLst>
              <a:ext uri="{FF2B5EF4-FFF2-40B4-BE49-F238E27FC236}">
                <a16:creationId xmlns:a16="http://schemas.microsoft.com/office/drawing/2014/main" id="{798862FF-2196-4A63-961A-EA85CD74DEF9}"/>
              </a:ext>
            </a:extLst>
          </p:cNvPr>
          <p:cNvSpPr>
            <a:spLocks noGrp="1"/>
          </p:cNvSpPr>
          <p:nvPr>
            <p:ph idx="1"/>
          </p:nvPr>
        </p:nvSpPr>
        <p:spPr>
          <a:xfrm>
            <a:off x="838200" y="1153552"/>
            <a:ext cx="10515600" cy="5023411"/>
          </a:xfrm>
        </p:spPr>
        <p:txBody>
          <a:bodyPr/>
          <a:lstStyle/>
          <a:p>
            <a:pPr marL="0" indent="0">
              <a:buNone/>
            </a:pPr>
            <a:endParaRPr lang="en-US" dirty="0"/>
          </a:p>
          <a:p>
            <a:pPr marL="0" indent="0">
              <a:buNone/>
            </a:pPr>
            <a:r>
              <a:rPr lang="en-US" dirty="0"/>
              <a:t>Clouds provide persistent, scalable, and reliable data storage. classified storage into:</a:t>
            </a:r>
          </a:p>
          <a:p>
            <a:r>
              <a:rPr lang="en-US" dirty="0"/>
              <a:t>Block Storage (for VMs)</a:t>
            </a:r>
          </a:p>
          <a:p>
            <a:r>
              <a:rPr lang="en-US" dirty="0"/>
              <a:t>File Storage (NFS, DFS)</a:t>
            </a:r>
          </a:p>
          <a:p>
            <a:r>
              <a:rPr lang="en-US" dirty="0"/>
              <a:t>Object Storage (GFS, HDFS, Amazon S3)</a:t>
            </a:r>
          </a:p>
        </p:txBody>
      </p:sp>
    </p:spTree>
    <p:extLst>
      <p:ext uri="{BB962C8B-B14F-4D97-AF65-F5344CB8AC3E}">
        <p14:creationId xmlns:p14="http://schemas.microsoft.com/office/powerpoint/2010/main" val="18705210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1A9FE-1252-4D70-90B4-DCACFBBCEF8C}"/>
              </a:ext>
            </a:extLst>
          </p:cNvPr>
          <p:cNvSpPr>
            <a:spLocks noGrp="1"/>
          </p:cNvSpPr>
          <p:nvPr>
            <p:ph type="title"/>
          </p:nvPr>
        </p:nvSpPr>
        <p:spPr>
          <a:xfrm>
            <a:off x="838200" y="196949"/>
            <a:ext cx="10515600" cy="484088"/>
          </a:xfrm>
        </p:spPr>
        <p:txBody>
          <a:bodyPr>
            <a:normAutofit fontScale="90000"/>
          </a:bodyPr>
          <a:lstStyle/>
          <a:p>
            <a:br>
              <a:rPr lang="en-US" dirty="0"/>
            </a:br>
            <a:r>
              <a:rPr lang="en-US" dirty="0"/>
              <a:t>Distributed File Systems</a:t>
            </a:r>
            <a:br>
              <a:rPr lang="en-US" dirty="0"/>
            </a:br>
            <a:endParaRPr lang="en-US" dirty="0"/>
          </a:p>
        </p:txBody>
      </p:sp>
      <p:sp>
        <p:nvSpPr>
          <p:cNvPr id="3" name="Content Placeholder 2">
            <a:extLst>
              <a:ext uri="{FF2B5EF4-FFF2-40B4-BE49-F238E27FC236}">
                <a16:creationId xmlns:a16="http://schemas.microsoft.com/office/drawing/2014/main" id="{8AFEC02B-AB49-4A87-A4E9-DDFDE11CA087}"/>
              </a:ext>
            </a:extLst>
          </p:cNvPr>
          <p:cNvSpPr>
            <a:spLocks noGrp="1"/>
          </p:cNvSpPr>
          <p:nvPr>
            <p:ph idx="1"/>
          </p:nvPr>
        </p:nvSpPr>
        <p:spPr>
          <a:xfrm>
            <a:off x="838200" y="801858"/>
            <a:ext cx="10515600" cy="5375105"/>
          </a:xfrm>
        </p:spPr>
        <p:txBody>
          <a:bodyPr/>
          <a:lstStyle/>
          <a:p>
            <a:endParaRPr lang="en-US" dirty="0"/>
          </a:p>
          <a:p>
            <a:r>
              <a:rPr lang="en-US" dirty="0"/>
              <a:t>Distributed file systems such as Google File System (GFS) and Hadoop Distributed File System (HDFS) are key components.</a:t>
            </a:r>
          </a:p>
          <a:p>
            <a:r>
              <a:rPr lang="en-US" dirty="0"/>
              <a:t>Key characteristics:</a:t>
            </a:r>
          </a:p>
          <a:p>
            <a:r>
              <a:rPr lang="en-US" dirty="0"/>
              <a:t>Large file support</a:t>
            </a:r>
          </a:p>
          <a:p>
            <a:r>
              <a:rPr lang="en-US" dirty="0"/>
              <a:t>Data replication for reliability</a:t>
            </a:r>
          </a:p>
          <a:p>
            <a:r>
              <a:rPr lang="en-US" dirty="0"/>
              <a:t>Fault-tolerant </a:t>
            </a:r>
          </a:p>
          <a:p>
            <a:r>
              <a:rPr lang="en-US" dirty="0"/>
              <a:t>metadata management</a:t>
            </a:r>
          </a:p>
          <a:p>
            <a:r>
              <a:rPr lang="en-US" dirty="0"/>
              <a:t>High-throughput data access</a:t>
            </a:r>
          </a:p>
          <a:p>
            <a:r>
              <a:rPr lang="en-US" dirty="0"/>
              <a:t>These systems use a master/slave architecture, where a master node handles metadata.</a:t>
            </a:r>
          </a:p>
        </p:txBody>
      </p:sp>
    </p:spTree>
    <p:extLst>
      <p:ext uri="{BB962C8B-B14F-4D97-AF65-F5344CB8AC3E}">
        <p14:creationId xmlns:p14="http://schemas.microsoft.com/office/powerpoint/2010/main" val="15526727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DBD7-7DF2-4440-8AD2-9AA04A4C7F43}"/>
              </a:ext>
            </a:extLst>
          </p:cNvPr>
          <p:cNvSpPr>
            <a:spLocks noGrp="1"/>
          </p:cNvSpPr>
          <p:nvPr>
            <p:ph type="title"/>
          </p:nvPr>
        </p:nvSpPr>
        <p:spPr>
          <a:xfrm>
            <a:off x="838200" y="365126"/>
            <a:ext cx="10515600" cy="689952"/>
          </a:xfrm>
        </p:spPr>
        <p:txBody>
          <a:bodyPr>
            <a:normAutofit fontScale="90000"/>
          </a:bodyPr>
          <a:lstStyle/>
          <a:p>
            <a:br>
              <a:rPr lang="en-US" b="1" dirty="0"/>
            </a:br>
            <a:r>
              <a:rPr lang="en-US" b="1" dirty="0"/>
              <a:t>Object-Based Storage</a:t>
            </a:r>
            <a:br>
              <a:rPr lang="en-US" b="1" dirty="0"/>
            </a:br>
            <a:endParaRPr lang="en-US" dirty="0"/>
          </a:p>
        </p:txBody>
      </p:sp>
      <p:sp>
        <p:nvSpPr>
          <p:cNvPr id="3" name="Content Placeholder 2">
            <a:extLst>
              <a:ext uri="{FF2B5EF4-FFF2-40B4-BE49-F238E27FC236}">
                <a16:creationId xmlns:a16="http://schemas.microsoft.com/office/drawing/2014/main" id="{943E5921-E26D-4A09-8B55-4E89D2156BA9}"/>
              </a:ext>
            </a:extLst>
          </p:cNvPr>
          <p:cNvSpPr>
            <a:spLocks noGrp="1"/>
          </p:cNvSpPr>
          <p:nvPr>
            <p:ph idx="1"/>
          </p:nvPr>
        </p:nvSpPr>
        <p:spPr>
          <a:xfrm>
            <a:off x="838200" y="928468"/>
            <a:ext cx="10515600" cy="5929532"/>
          </a:xfrm>
        </p:spPr>
        <p:txBody>
          <a:bodyPr>
            <a:normAutofit/>
          </a:bodyPr>
          <a:lstStyle/>
          <a:p>
            <a:pPr marL="0" indent="0">
              <a:buNone/>
            </a:pPr>
            <a:r>
              <a:rPr lang="en-US" dirty="0"/>
              <a:t>Object stores (like S3-style systems) provide:</a:t>
            </a:r>
          </a:p>
          <a:p>
            <a:r>
              <a:rPr lang="en-US" dirty="0"/>
              <a:t>Flat namespace</a:t>
            </a:r>
          </a:p>
          <a:p>
            <a:r>
              <a:rPr lang="en-US" dirty="0"/>
              <a:t>REST API access</a:t>
            </a:r>
          </a:p>
          <a:p>
            <a:r>
              <a:rPr lang="en-US" dirty="0"/>
              <a:t>Extremely scalable architecture</a:t>
            </a:r>
          </a:p>
          <a:p>
            <a:pPr marL="0" indent="0">
              <a:buNone/>
            </a:pPr>
            <a:r>
              <a:rPr lang="en-US" dirty="0"/>
              <a:t>Objects are stored with:</a:t>
            </a:r>
          </a:p>
          <a:p>
            <a:r>
              <a:rPr lang="en-US" dirty="0"/>
              <a:t>Data</a:t>
            </a:r>
          </a:p>
          <a:p>
            <a:r>
              <a:rPr lang="en-US" dirty="0"/>
              <a:t>Metadata</a:t>
            </a:r>
          </a:p>
          <a:p>
            <a:r>
              <a:rPr lang="en-US" dirty="0"/>
              <a:t>Unique identifiers</a:t>
            </a:r>
          </a:p>
          <a:p>
            <a:r>
              <a:rPr lang="en-US" dirty="0"/>
              <a:t>object storage is the foundation for cloud big-data applications.</a:t>
            </a:r>
          </a:p>
          <a:p>
            <a:endParaRPr lang="en-US" dirty="0"/>
          </a:p>
        </p:txBody>
      </p:sp>
    </p:spTree>
    <p:extLst>
      <p:ext uri="{BB962C8B-B14F-4D97-AF65-F5344CB8AC3E}">
        <p14:creationId xmlns:p14="http://schemas.microsoft.com/office/powerpoint/2010/main" val="9143942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6167E-70F0-4EDA-B9DB-F536FF9AB7A7}"/>
              </a:ext>
            </a:extLst>
          </p:cNvPr>
          <p:cNvSpPr>
            <a:spLocks noGrp="1"/>
          </p:cNvSpPr>
          <p:nvPr>
            <p:ph type="title"/>
          </p:nvPr>
        </p:nvSpPr>
        <p:spPr>
          <a:xfrm>
            <a:off x="838200" y="365125"/>
            <a:ext cx="10515600" cy="315911"/>
          </a:xfrm>
        </p:spPr>
        <p:txBody>
          <a:bodyPr>
            <a:normAutofit fontScale="90000"/>
          </a:bodyPr>
          <a:lstStyle/>
          <a:p>
            <a:br>
              <a:rPr lang="en-US" b="1" dirty="0"/>
            </a:br>
            <a:r>
              <a:rPr lang="en-US" b="1" dirty="0"/>
              <a:t>Storage Virtualization</a:t>
            </a:r>
            <a:br>
              <a:rPr lang="en-US" b="1" dirty="0"/>
            </a:br>
            <a:endParaRPr lang="en-US" dirty="0"/>
          </a:p>
        </p:txBody>
      </p:sp>
      <p:sp>
        <p:nvSpPr>
          <p:cNvPr id="3" name="Content Placeholder 2">
            <a:extLst>
              <a:ext uri="{FF2B5EF4-FFF2-40B4-BE49-F238E27FC236}">
                <a16:creationId xmlns:a16="http://schemas.microsoft.com/office/drawing/2014/main" id="{FC10165E-4785-4BB4-A927-A6186D211A79}"/>
              </a:ext>
            </a:extLst>
          </p:cNvPr>
          <p:cNvSpPr>
            <a:spLocks noGrp="1"/>
          </p:cNvSpPr>
          <p:nvPr>
            <p:ph idx="1"/>
          </p:nvPr>
        </p:nvSpPr>
        <p:spPr>
          <a:xfrm>
            <a:off x="838200" y="928468"/>
            <a:ext cx="10515600" cy="5248495"/>
          </a:xfrm>
        </p:spPr>
        <p:txBody>
          <a:bodyPr>
            <a:normAutofit/>
          </a:bodyPr>
          <a:lstStyle/>
          <a:p>
            <a:endParaRPr lang="en-US" dirty="0"/>
          </a:p>
          <a:p>
            <a:pPr marL="0" indent="0">
              <a:buNone/>
            </a:pPr>
            <a:r>
              <a:rPr lang="en-US" dirty="0"/>
              <a:t>Storage clouds use virtualization techniques such as:</a:t>
            </a:r>
          </a:p>
          <a:p>
            <a:r>
              <a:rPr lang="en-US" dirty="0"/>
              <a:t>Logical volume management</a:t>
            </a:r>
          </a:p>
          <a:p>
            <a:r>
              <a:rPr lang="en-US" dirty="0"/>
              <a:t>Virtual block devices</a:t>
            </a:r>
          </a:p>
          <a:p>
            <a:r>
              <a:rPr lang="en-US" dirty="0"/>
              <a:t>Virtualized storage pools</a:t>
            </a:r>
          </a:p>
          <a:p>
            <a:pPr marL="0" indent="0">
              <a:buNone/>
            </a:pPr>
            <a:r>
              <a:rPr lang="en-US" dirty="0"/>
              <a:t>This supports:</a:t>
            </a:r>
          </a:p>
          <a:p>
            <a:r>
              <a:rPr lang="en-US" dirty="0"/>
              <a:t>Multi-tenancy</a:t>
            </a:r>
          </a:p>
          <a:p>
            <a:r>
              <a:rPr lang="en-US" dirty="0"/>
              <a:t>On-demand provisioning</a:t>
            </a:r>
          </a:p>
          <a:p>
            <a:r>
              <a:rPr lang="en-US" dirty="0"/>
              <a:t>Rapid data access</a:t>
            </a:r>
          </a:p>
          <a:p>
            <a:endParaRPr lang="en-US" dirty="0"/>
          </a:p>
        </p:txBody>
      </p:sp>
    </p:spTree>
    <p:extLst>
      <p:ext uri="{BB962C8B-B14F-4D97-AF65-F5344CB8AC3E}">
        <p14:creationId xmlns:p14="http://schemas.microsoft.com/office/powerpoint/2010/main" val="14777343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CED72-DAC4-4038-A05F-CC5C2BD4E1CA}"/>
              </a:ext>
            </a:extLst>
          </p:cNvPr>
          <p:cNvSpPr>
            <a:spLocks noGrp="1"/>
          </p:cNvSpPr>
          <p:nvPr>
            <p:ph type="title"/>
          </p:nvPr>
        </p:nvSpPr>
        <p:spPr>
          <a:xfrm>
            <a:off x="838200" y="365125"/>
            <a:ext cx="10515600" cy="535207"/>
          </a:xfrm>
        </p:spPr>
        <p:txBody>
          <a:bodyPr>
            <a:normAutofit fontScale="90000"/>
          </a:bodyPr>
          <a:lstStyle/>
          <a:p>
            <a:br>
              <a:rPr lang="en-US" b="1" dirty="0"/>
            </a:br>
            <a:r>
              <a:rPr lang="en-US" b="1" dirty="0"/>
              <a:t>Integrated Compute–Storage Architecture</a:t>
            </a:r>
            <a:br>
              <a:rPr lang="en-US" b="1" dirty="0"/>
            </a:br>
            <a:endParaRPr lang="en-US" dirty="0"/>
          </a:p>
        </p:txBody>
      </p:sp>
      <p:sp>
        <p:nvSpPr>
          <p:cNvPr id="3" name="Content Placeholder 2">
            <a:extLst>
              <a:ext uri="{FF2B5EF4-FFF2-40B4-BE49-F238E27FC236}">
                <a16:creationId xmlns:a16="http://schemas.microsoft.com/office/drawing/2014/main" id="{659DD140-7091-4893-B2CD-5D64E7A7F6FC}"/>
              </a:ext>
            </a:extLst>
          </p:cNvPr>
          <p:cNvSpPr>
            <a:spLocks noGrp="1"/>
          </p:cNvSpPr>
          <p:nvPr>
            <p:ph idx="1"/>
          </p:nvPr>
        </p:nvSpPr>
        <p:spPr>
          <a:xfrm>
            <a:off x="323557" y="1111348"/>
            <a:ext cx="11408898" cy="5065615"/>
          </a:xfrm>
        </p:spPr>
        <p:txBody>
          <a:bodyPr>
            <a:normAutofit/>
          </a:bodyPr>
          <a:lstStyle/>
          <a:p>
            <a:r>
              <a:rPr lang="en-US" dirty="0"/>
              <a:t>cloud architecture as a </a:t>
            </a:r>
            <a:r>
              <a:rPr lang="en-US" b="1" dirty="0"/>
              <a:t>“loose coupling of compute and storage layers”</a:t>
            </a:r>
            <a:r>
              <a:rPr lang="en-US" dirty="0"/>
              <a:t> connected by high-speed networks and controlled by cloud middleware.</a:t>
            </a:r>
          </a:p>
          <a:p>
            <a:r>
              <a:rPr lang="en-US" b="1" dirty="0"/>
              <a:t>Key Components:</a:t>
            </a:r>
          </a:p>
          <a:p>
            <a:r>
              <a:rPr lang="en-US" b="1" dirty="0"/>
              <a:t>Compute Layer</a:t>
            </a:r>
            <a:r>
              <a:rPr lang="en-US" dirty="0"/>
              <a:t> – VM clusters, hypervisors</a:t>
            </a:r>
          </a:p>
          <a:p>
            <a:r>
              <a:rPr lang="en-US" b="1" dirty="0"/>
              <a:t>Storage Layer</a:t>
            </a:r>
            <a:r>
              <a:rPr lang="en-US" dirty="0"/>
              <a:t> – distributed storage systems</a:t>
            </a:r>
          </a:p>
          <a:p>
            <a:r>
              <a:rPr lang="en-US" b="1" dirty="0"/>
              <a:t>Network Layer</a:t>
            </a:r>
            <a:r>
              <a:rPr lang="en-US" dirty="0"/>
              <a:t> – backbone connecting compute and data</a:t>
            </a:r>
          </a:p>
          <a:p>
            <a:r>
              <a:rPr lang="en-US" b="1" dirty="0"/>
              <a:t>Cloud Management Layer</a:t>
            </a:r>
            <a:r>
              <a:rPr lang="en-US" dirty="0"/>
              <a:t> – provisioning, billing, monitoring</a:t>
            </a:r>
          </a:p>
          <a:p>
            <a:r>
              <a:rPr lang="en-US" b="1" dirty="0"/>
              <a:t>Application Layer</a:t>
            </a:r>
            <a:r>
              <a:rPr lang="en-US" dirty="0"/>
              <a:t> – SaaS, PaaS, IaaS workloads</a:t>
            </a:r>
          </a:p>
          <a:p>
            <a:endParaRPr lang="en-US" dirty="0"/>
          </a:p>
        </p:txBody>
      </p:sp>
    </p:spTree>
    <p:extLst>
      <p:ext uri="{BB962C8B-B14F-4D97-AF65-F5344CB8AC3E}">
        <p14:creationId xmlns:p14="http://schemas.microsoft.com/office/powerpoint/2010/main" val="22748591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F1823-DB01-471B-AAE7-933E9AA6539C}"/>
              </a:ext>
            </a:extLst>
          </p:cNvPr>
          <p:cNvSpPr>
            <a:spLocks noGrp="1"/>
          </p:cNvSpPr>
          <p:nvPr>
            <p:ph type="title"/>
          </p:nvPr>
        </p:nvSpPr>
        <p:spPr>
          <a:xfrm>
            <a:off x="838200" y="365125"/>
            <a:ext cx="10515600" cy="830629"/>
          </a:xfrm>
        </p:spPr>
        <p:txBody>
          <a:bodyPr>
            <a:normAutofit fontScale="90000"/>
          </a:bodyPr>
          <a:lstStyle/>
          <a:p>
            <a:r>
              <a:rPr lang="en-US" b="1" dirty="0"/>
              <a:t>Design challenges</a:t>
            </a:r>
            <a:br>
              <a:rPr lang="en-US" dirty="0"/>
            </a:br>
            <a:endParaRPr lang="en-US" dirty="0"/>
          </a:p>
        </p:txBody>
      </p:sp>
      <p:sp>
        <p:nvSpPr>
          <p:cNvPr id="3" name="Content Placeholder 2">
            <a:extLst>
              <a:ext uri="{FF2B5EF4-FFF2-40B4-BE49-F238E27FC236}">
                <a16:creationId xmlns:a16="http://schemas.microsoft.com/office/drawing/2014/main" id="{105B397E-5161-47D5-A929-8C825E113D4E}"/>
              </a:ext>
            </a:extLst>
          </p:cNvPr>
          <p:cNvSpPr>
            <a:spLocks noGrp="1"/>
          </p:cNvSpPr>
          <p:nvPr>
            <p:ph idx="1"/>
          </p:nvPr>
        </p:nvSpPr>
        <p:spPr>
          <a:xfrm>
            <a:off x="838200" y="844062"/>
            <a:ext cx="10515600" cy="5332901"/>
          </a:xfrm>
        </p:spPr>
        <p:txBody>
          <a:bodyPr>
            <a:normAutofit fontScale="92500"/>
          </a:bodyPr>
          <a:lstStyle/>
          <a:p>
            <a:pPr marL="0" indent="0">
              <a:buNone/>
            </a:pPr>
            <a:r>
              <a:rPr lang="en-US" b="1" dirty="0"/>
              <a:t>Compute Scalability</a:t>
            </a:r>
          </a:p>
          <a:p>
            <a:r>
              <a:rPr lang="en-US" dirty="0"/>
              <a:t>Cloud systems must handle </a:t>
            </a:r>
            <a:r>
              <a:rPr lang="en-US" b="1" dirty="0"/>
              <a:t>on-demand provisioning</a:t>
            </a:r>
            <a:r>
              <a:rPr lang="en-US" dirty="0"/>
              <a:t> of VMs/containers.</a:t>
            </a:r>
          </a:p>
          <a:p>
            <a:r>
              <a:rPr lang="en-US" dirty="0"/>
              <a:t>Maintaining seamless scaling across heterogeneous hardware is difficult.</a:t>
            </a:r>
          </a:p>
          <a:p>
            <a:r>
              <a:rPr lang="en-US" dirty="0"/>
              <a:t>Auto-scaling requires accurate </a:t>
            </a:r>
            <a:r>
              <a:rPr lang="en-US" b="1" dirty="0"/>
              <a:t>workload prediction algorithms</a:t>
            </a:r>
            <a:r>
              <a:rPr lang="en-US" dirty="0"/>
              <a:t>.</a:t>
            </a:r>
          </a:p>
          <a:p>
            <a:r>
              <a:rPr lang="en-US" dirty="0"/>
              <a:t>Poor scaling can lead to </a:t>
            </a:r>
            <a:r>
              <a:rPr lang="en-US" b="1" dirty="0"/>
              <a:t>resource contention</a:t>
            </a:r>
            <a:r>
              <a:rPr lang="en-US" dirty="0"/>
              <a:t> or </a:t>
            </a:r>
            <a:r>
              <a:rPr lang="en-US" b="1" dirty="0"/>
              <a:t>over-provisioning</a:t>
            </a:r>
            <a:r>
              <a:rPr lang="en-US" dirty="0"/>
              <a:t>.</a:t>
            </a:r>
          </a:p>
          <a:p>
            <a:pPr marL="0" indent="0">
              <a:buNone/>
            </a:pPr>
            <a:r>
              <a:rPr lang="en-US" b="1" dirty="0"/>
              <a:t> Storage Scalability</a:t>
            </a:r>
          </a:p>
          <a:p>
            <a:r>
              <a:rPr lang="en-US" dirty="0"/>
              <a:t>Storage must support </a:t>
            </a:r>
            <a:r>
              <a:rPr lang="en-US" b="1" dirty="0"/>
              <a:t>exponential data growth</a:t>
            </a:r>
            <a:r>
              <a:rPr lang="en-US" dirty="0"/>
              <a:t>.</a:t>
            </a:r>
          </a:p>
          <a:p>
            <a:r>
              <a:rPr lang="en-US" dirty="0"/>
              <a:t>Distributed storage systems like HDFS, </a:t>
            </a:r>
            <a:r>
              <a:rPr lang="en-US" dirty="0" err="1"/>
              <a:t>Ceph</a:t>
            </a:r>
            <a:r>
              <a:rPr lang="en-US" dirty="0"/>
              <a:t>, or AWS S3 need:</a:t>
            </a:r>
          </a:p>
          <a:p>
            <a:pPr lvl="1"/>
            <a:r>
              <a:rPr lang="en-US" dirty="0"/>
              <a:t>Efficient metadata management</a:t>
            </a:r>
          </a:p>
          <a:p>
            <a:pPr lvl="1"/>
            <a:r>
              <a:rPr lang="en-US" dirty="0"/>
              <a:t>Fast replication</a:t>
            </a:r>
          </a:p>
          <a:p>
            <a:pPr lvl="1"/>
            <a:r>
              <a:rPr lang="en-US" dirty="0"/>
              <a:t>Consistent access across data centers</a:t>
            </a:r>
          </a:p>
        </p:txBody>
      </p:sp>
    </p:spTree>
    <p:extLst>
      <p:ext uri="{BB962C8B-B14F-4D97-AF65-F5344CB8AC3E}">
        <p14:creationId xmlns:p14="http://schemas.microsoft.com/office/powerpoint/2010/main" val="30542506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E9D94-3135-4D1C-B768-61F337B35669}"/>
              </a:ext>
            </a:extLst>
          </p:cNvPr>
          <p:cNvSpPr>
            <a:spLocks noGrp="1"/>
          </p:cNvSpPr>
          <p:nvPr>
            <p:ph type="title"/>
          </p:nvPr>
        </p:nvSpPr>
        <p:spPr>
          <a:xfrm>
            <a:off x="838200" y="365125"/>
            <a:ext cx="10515600" cy="619613"/>
          </a:xfrm>
        </p:spPr>
        <p:txBody>
          <a:bodyPr>
            <a:normAutofit fontScale="90000"/>
          </a:bodyPr>
          <a:lstStyle/>
          <a:p>
            <a:br>
              <a:rPr lang="en-US" b="1" dirty="0"/>
            </a:br>
            <a:r>
              <a:rPr lang="en-US" b="1" dirty="0"/>
              <a:t>DESIGN CHALLENGES</a:t>
            </a:r>
            <a:br>
              <a:rPr lang="en-US" dirty="0"/>
            </a:br>
            <a:endParaRPr lang="en-US" dirty="0"/>
          </a:p>
        </p:txBody>
      </p:sp>
      <p:sp>
        <p:nvSpPr>
          <p:cNvPr id="3" name="Content Placeholder 2">
            <a:extLst>
              <a:ext uri="{FF2B5EF4-FFF2-40B4-BE49-F238E27FC236}">
                <a16:creationId xmlns:a16="http://schemas.microsoft.com/office/drawing/2014/main" id="{035CB279-E970-4582-9DEA-67EB8AA0760F}"/>
              </a:ext>
            </a:extLst>
          </p:cNvPr>
          <p:cNvSpPr>
            <a:spLocks noGrp="1"/>
          </p:cNvSpPr>
          <p:nvPr>
            <p:ph idx="1"/>
          </p:nvPr>
        </p:nvSpPr>
        <p:spPr>
          <a:xfrm>
            <a:off x="838200" y="1111348"/>
            <a:ext cx="10515600" cy="5746652"/>
          </a:xfrm>
        </p:spPr>
        <p:txBody>
          <a:bodyPr/>
          <a:lstStyle/>
          <a:p>
            <a:r>
              <a:rPr lang="en-US" b="1" dirty="0"/>
              <a:t>Fault Tolerance and Reliability</a:t>
            </a:r>
          </a:p>
          <a:p>
            <a:r>
              <a:rPr lang="en-US" dirty="0"/>
              <a:t>Compute and storage clouds must remain operational even if hardware fails.</a:t>
            </a:r>
          </a:p>
          <a:p>
            <a:r>
              <a:rPr lang="en-US" b="1" dirty="0"/>
              <a:t>Challenges</a:t>
            </a:r>
          </a:p>
          <a:p>
            <a:r>
              <a:rPr lang="en-US" dirty="0"/>
              <a:t>Designing redundancy without increasing cost excessively.</a:t>
            </a:r>
          </a:p>
          <a:p>
            <a:r>
              <a:rPr lang="en-US" dirty="0"/>
              <a:t>Ensuring </a:t>
            </a:r>
            <a:r>
              <a:rPr lang="en-US" b="1" dirty="0"/>
              <a:t>zero-downtime failover</a:t>
            </a:r>
            <a:r>
              <a:rPr lang="en-US" dirty="0"/>
              <a:t> for VMs and applications.</a:t>
            </a:r>
          </a:p>
          <a:p>
            <a:r>
              <a:rPr lang="en-US" dirty="0"/>
              <a:t>Maintaining </a:t>
            </a:r>
            <a:r>
              <a:rPr lang="en-US" b="1" dirty="0"/>
              <a:t>data durability</a:t>
            </a:r>
            <a:r>
              <a:rPr lang="en-US" dirty="0"/>
              <a:t> in storage (e.g., 11 nines in AWS S3).</a:t>
            </a:r>
          </a:p>
          <a:p>
            <a:r>
              <a:rPr lang="en-US" dirty="0"/>
              <a:t>Handling </a:t>
            </a:r>
            <a:r>
              <a:rPr lang="en-US" b="1" dirty="0"/>
              <a:t>network partitions</a:t>
            </a:r>
            <a:r>
              <a:rPr lang="en-US" dirty="0"/>
              <a:t> and avoiding split-brain scenarios.</a:t>
            </a:r>
          </a:p>
          <a:p>
            <a:endParaRPr lang="en-US" dirty="0"/>
          </a:p>
        </p:txBody>
      </p:sp>
    </p:spTree>
    <p:extLst>
      <p:ext uri="{BB962C8B-B14F-4D97-AF65-F5344CB8AC3E}">
        <p14:creationId xmlns:p14="http://schemas.microsoft.com/office/powerpoint/2010/main" val="12388202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292CB-C8F9-4671-A68D-E28FF3FEF7E3}"/>
              </a:ext>
            </a:extLst>
          </p:cNvPr>
          <p:cNvSpPr>
            <a:spLocks noGrp="1"/>
          </p:cNvSpPr>
          <p:nvPr>
            <p:ph type="title"/>
          </p:nvPr>
        </p:nvSpPr>
        <p:spPr>
          <a:xfrm>
            <a:off x="838200" y="365126"/>
            <a:ext cx="10515600" cy="886900"/>
          </a:xfrm>
        </p:spPr>
        <p:txBody>
          <a:bodyPr/>
          <a:lstStyle/>
          <a:p>
            <a:r>
              <a:rPr lang="en-US" dirty="0"/>
              <a:t>Design challenges</a:t>
            </a:r>
          </a:p>
        </p:txBody>
      </p:sp>
      <p:sp>
        <p:nvSpPr>
          <p:cNvPr id="3" name="Content Placeholder 2">
            <a:extLst>
              <a:ext uri="{FF2B5EF4-FFF2-40B4-BE49-F238E27FC236}">
                <a16:creationId xmlns:a16="http://schemas.microsoft.com/office/drawing/2014/main" id="{7D8E63D8-165D-4CE1-9C57-915831688ABA}"/>
              </a:ext>
            </a:extLst>
          </p:cNvPr>
          <p:cNvSpPr>
            <a:spLocks noGrp="1"/>
          </p:cNvSpPr>
          <p:nvPr>
            <p:ph idx="1"/>
          </p:nvPr>
        </p:nvSpPr>
        <p:spPr>
          <a:xfrm>
            <a:off x="838200" y="1252026"/>
            <a:ext cx="10515600" cy="4924937"/>
          </a:xfrm>
        </p:spPr>
        <p:txBody>
          <a:bodyPr/>
          <a:lstStyle/>
          <a:p>
            <a:pPr marL="0" indent="0">
              <a:buNone/>
            </a:pPr>
            <a:r>
              <a:rPr lang="en-US" b="1" dirty="0"/>
              <a:t>Virtualization and Resource Management</a:t>
            </a:r>
          </a:p>
          <a:p>
            <a:r>
              <a:rPr lang="en-US" dirty="0"/>
              <a:t>Virtualization is the backbone of compute clouds.</a:t>
            </a:r>
          </a:p>
          <a:p>
            <a:endParaRPr lang="en-US" dirty="0"/>
          </a:p>
          <a:p>
            <a:pPr marL="0" indent="0">
              <a:buNone/>
            </a:pPr>
            <a:r>
              <a:rPr lang="en-US" b="1" dirty="0"/>
              <a:t>Challenges</a:t>
            </a:r>
          </a:p>
          <a:p>
            <a:r>
              <a:rPr lang="en-US" dirty="0"/>
              <a:t>Providing </a:t>
            </a:r>
            <a:r>
              <a:rPr lang="en-US" b="1" dirty="0"/>
              <a:t>strong isolation</a:t>
            </a:r>
            <a:r>
              <a:rPr lang="en-US" dirty="0"/>
              <a:t> between tenants.</a:t>
            </a:r>
          </a:p>
          <a:p>
            <a:r>
              <a:rPr lang="en-US" dirty="0"/>
              <a:t>Reducing overhead from hypervisors.</a:t>
            </a:r>
          </a:p>
          <a:p>
            <a:r>
              <a:rPr lang="en-US" dirty="0"/>
              <a:t>Handling live migration of VMs without service disruption.</a:t>
            </a:r>
          </a:p>
          <a:p>
            <a:r>
              <a:rPr lang="en-US" dirty="0"/>
              <a:t>Ensuring fair resource scheduling (CPU, memory, I/O).</a:t>
            </a:r>
          </a:p>
          <a:p>
            <a:endParaRPr lang="en-US" dirty="0"/>
          </a:p>
        </p:txBody>
      </p:sp>
    </p:spTree>
    <p:extLst>
      <p:ext uri="{BB962C8B-B14F-4D97-AF65-F5344CB8AC3E}">
        <p14:creationId xmlns:p14="http://schemas.microsoft.com/office/powerpoint/2010/main" val="35501515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C7C95-6990-4D01-BB4A-116B6248838E}"/>
              </a:ext>
            </a:extLst>
          </p:cNvPr>
          <p:cNvSpPr>
            <a:spLocks noGrp="1"/>
          </p:cNvSpPr>
          <p:nvPr>
            <p:ph type="title"/>
          </p:nvPr>
        </p:nvSpPr>
        <p:spPr>
          <a:xfrm>
            <a:off x="838200" y="365126"/>
            <a:ext cx="10515600" cy="760290"/>
          </a:xfrm>
        </p:spPr>
        <p:txBody>
          <a:bodyPr>
            <a:normAutofit fontScale="90000"/>
          </a:bodyPr>
          <a:lstStyle/>
          <a:p>
            <a:br>
              <a:rPr lang="en-US" b="1" dirty="0"/>
            </a:br>
            <a:r>
              <a:rPr lang="en-US" b="1" dirty="0"/>
              <a:t>Data Consistency and Data Management</a:t>
            </a:r>
            <a:br>
              <a:rPr lang="en-US" b="1" dirty="0"/>
            </a:br>
            <a:endParaRPr lang="en-US" dirty="0"/>
          </a:p>
        </p:txBody>
      </p:sp>
      <p:sp>
        <p:nvSpPr>
          <p:cNvPr id="3" name="Content Placeholder 2">
            <a:extLst>
              <a:ext uri="{FF2B5EF4-FFF2-40B4-BE49-F238E27FC236}">
                <a16:creationId xmlns:a16="http://schemas.microsoft.com/office/drawing/2014/main" id="{6AB478C6-A0BD-4904-B105-09585AA36B17}"/>
              </a:ext>
            </a:extLst>
          </p:cNvPr>
          <p:cNvSpPr>
            <a:spLocks noGrp="1"/>
          </p:cNvSpPr>
          <p:nvPr>
            <p:ph idx="1"/>
          </p:nvPr>
        </p:nvSpPr>
        <p:spPr>
          <a:xfrm>
            <a:off x="838200" y="1125416"/>
            <a:ext cx="10515600" cy="5051547"/>
          </a:xfrm>
        </p:spPr>
        <p:txBody>
          <a:bodyPr>
            <a:normAutofit/>
          </a:bodyPr>
          <a:lstStyle/>
          <a:p>
            <a:r>
              <a:rPr lang="en-US" dirty="0"/>
              <a:t>Storage clouds often follow </a:t>
            </a:r>
            <a:r>
              <a:rPr lang="en-US" b="1" dirty="0"/>
              <a:t>eventual consistency</a:t>
            </a:r>
            <a:r>
              <a:rPr lang="en-US" dirty="0"/>
              <a:t>, which introduces challenges.</a:t>
            </a:r>
          </a:p>
          <a:p>
            <a:pPr marL="0" indent="0">
              <a:buNone/>
            </a:pPr>
            <a:r>
              <a:rPr lang="en-US" b="1" dirty="0"/>
              <a:t>Challenges</a:t>
            </a:r>
          </a:p>
          <a:p>
            <a:r>
              <a:rPr lang="en-US" dirty="0"/>
              <a:t>Achieving </a:t>
            </a:r>
            <a:r>
              <a:rPr lang="en-US" b="1" dirty="0"/>
              <a:t>trade-off between consistency, availability, latency</a:t>
            </a:r>
            <a:r>
              <a:rPr lang="en-US" dirty="0"/>
              <a:t> (CAP theorem).</a:t>
            </a:r>
          </a:p>
          <a:p>
            <a:r>
              <a:rPr lang="en-US" dirty="0"/>
              <a:t>Maintaining consistency during:</a:t>
            </a:r>
          </a:p>
          <a:p>
            <a:pPr lvl="1"/>
            <a:r>
              <a:rPr lang="en-US" dirty="0"/>
              <a:t>Replication</a:t>
            </a:r>
          </a:p>
          <a:p>
            <a:pPr lvl="1"/>
            <a:r>
              <a:rPr lang="en-US" dirty="0" err="1"/>
              <a:t>Sharding</a:t>
            </a:r>
            <a:r>
              <a:rPr lang="en-US" dirty="0"/>
              <a:t> and rebalancing</a:t>
            </a:r>
          </a:p>
          <a:p>
            <a:pPr lvl="1"/>
            <a:r>
              <a:rPr lang="en-US" dirty="0"/>
              <a:t>Node failures</a:t>
            </a:r>
          </a:p>
          <a:p>
            <a:r>
              <a:rPr lang="en-US" dirty="0"/>
              <a:t>Supporting ACID transactions in distributed storage.</a:t>
            </a:r>
          </a:p>
          <a:p>
            <a:endParaRPr lang="en-US" dirty="0"/>
          </a:p>
        </p:txBody>
      </p:sp>
    </p:spTree>
    <p:extLst>
      <p:ext uri="{BB962C8B-B14F-4D97-AF65-F5344CB8AC3E}">
        <p14:creationId xmlns:p14="http://schemas.microsoft.com/office/powerpoint/2010/main" val="10666860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A5C51-365B-4ACB-A7AA-FADACFECD334}"/>
              </a:ext>
            </a:extLst>
          </p:cNvPr>
          <p:cNvSpPr>
            <a:spLocks noGrp="1"/>
          </p:cNvSpPr>
          <p:nvPr>
            <p:ph type="title"/>
          </p:nvPr>
        </p:nvSpPr>
        <p:spPr>
          <a:xfrm>
            <a:off x="838200" y="365126"/>
            <a:ext cx="10515600" cy="788426"/>
          </a:xfrm>
        </p:spPr>
        <p:txBody>
          <a:bodyPr>
            <a:normAutofit fontScale="90000"/>
          </a:bodyPr>
          <a:lstStyle/>
          <a:p>
            <a:br>
              <a:rPr lang="en-US" b="1" dirty="0"/>
            </a:br>
            <a:r>
              <a:rPr lang="en-US" b="1" dirty="0"/>
              <a:t>Network Challenges</a:t>
            </a:r>
            <a:br>
              <a:rPr lang="en-US" b="1" dirty="0"/>
            </a:br>
            <a:endParaRPr lang="en-US" dirty="0"/>
          </a:p>
        </p:txBody>
      </p:sp>
      <p:sp>
        <p:nvSpPr>
          <p:cNvPr id="3" name="Content Placeholder 2">
            <a:extLst>
              <a:ext uri="{FF2B5EF4-FFF2-40B4-BE49-F238E27FC236}">
                <a16:creationId xmlns:a16="http://schemas.microsoft.com/office/drawing/2014/main" id="{63BDBE06-A5FE-45E0-A91F-3DEE8D6C05A5}"/>
              </a:ext>
            </a:extLst>
          </p:cNvPr>
          <p:cNvSpPr>
            <a:spLocks noGrp="1"/>
          </p:cNvSpPr>
          <p:nvPr>
            <p:ph idx="1"/>
          </p:nvPr>
        </p:nvSpPr>
        <p:spPr>
          <a:xfrm>
            <a:off x="838200" y="1153552"/>
            <a:ext cx="10515600" cy="5023411"/>
          </a:xfrm>
        </p:spPr>
        <p:txBody>
          <a:bodyPr>
            <a:normAutofit/>
          </a:bodyPr>
          <a:lstStyle/>
          <a:p>
            <a:r>
              <a:rPr lang="en-US" dirty="0"/>
              <a:t>Clouds are heavily dependent on high-performance data-center networks.</a:t>
            </a:r>
          </a:p>
          <a:p>
            <a:pPr marL="0" indent="0">
              <a:buNone/>
            </a:pPr>
            <a:r>
              <a:rPr lang="en-US" b="1" dirty="0"/>
              <a:t>Challenges</a:t>
            </a:r>
          </a:p>
          <a:p>
            <a:r>
              <a:rPr lang="en-US" dirty="0"/>
              <a:t>High bandwidth requirements for:</a:t>
            </a:r>
          </a:p>
          <a:p>
            <a:pPr lvl="1"/>
            <a:r>
              <a:rPr lang="en-US" dirty="0"/>
              <a:t>VM migration</a:t>
            </a:r>
          </a:p>
          <a:p>
            <a:pPr lvl="1"/>
            <a:r>
              <a:rPr lang="en-US" dirty="0"/>
              <a:t>Data replication</a:t>
            </a:r>
          </a:p>
          <a:p>
            <a:pPr lvl="1"/>
            <a:r>
              <a:rPr lang="en-US" dirty="0"/>
              <a:t>Large-scale analytics jobs</a:t>
            </a:r>
          </a:p>
          <a:p>
            <a:r>
              <a:rPr lang="en-US" dirty="0"/>
              <a:t>Minimizing </a:t>
            </a:r>
            <a:r>
              <a:rPr lang="en-US" b="1" dirty="0"/>
              <a:t>latency</a:t>
            </a:r>
            <a:r>
              <a:rPr lang="en-US" dirty="0"/>
              <a:t>, </a:t>
            </a:r>
            <a:r>
              <a:rPr lang="en-US" b="1" dirty="0"/>
              <a:t>packet loss</a:t>
            </a:r>
            <a:r>
              <a:rPr lang="en-US" dirty="0"/>
              <a:t>, and </a:t>
            </a:r>
            <a:r>
              <a:rPr lang="en-US" b="1" dirty="0"/>
              <a:t>network congestion</a:t>
            </a:r>
            <a:r>
              <a:rPr lang="en-US" dirty="0"/>
              <a:t>.</a:t>
            </a:r>
          </a:p>
          <a:p>
            <a:r>
              <a:rPr lang="en-US" dirty="0"/>
              <a:t>Providing network isolation for multi-tenant environments (VLAN, SDN).</a:t>
            </a:r>
          </a:p>
          <a:p>
            <a:endParaRPr lang="en-US" dirty="0"/>
          </a:p>
        </p:txBody>
      </p:sp>
    </p:spTree>
    <p:extLst>
      <p:ext uri="{BB962C8B-B14F-4D97-AF65-F5344CB8AC3E}">
        <p14:creationId xmlns:p14="http://schemas.microsoft.com/office/powerpoint/2010/main" val="35188725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8AC83-064A-469B-AE93-D1BC4BD94937}"/>
              </a:ext>
            </a:extLst>
          </p:cNvPr>
          <p:cNvSpPr>
            <a:spLocks noGrp="1"/>
          </p:cNvSpPr>
          <p:nvPr>
            <p:ph type="title"/>
          </p:nvPr>
        </p:nvSpPr>
        <p:spPr>
          <a:xfrm>
            <a:off x="838200" y="365126"/>
            <a:ext cx="10515600" cy="577410"/>
          </a:xfrm>
        </p:spPr>
        <p:txBody>
          <a:bodyPr>
            <a:normAutofit fontScale="90000"/>
          </a:bodyPr>
          <a:lstStyle/>
          <a:p>
            <a:r>
              <a:rPr lang="en-US" b="1" dirty="0"/>
              <a:t>Security and Privacy</a:t>
            </a:r>
            <a:br>
              <a:rPr lang="en-US" b="1" dirty="0"/>
            </a:br>
            <a:endParaRPr lang="en-US" dirty="0"/>
          </a:p>
        </p:txBody>
      </p:sp>
      <p:sp>
        <p:nvSpPr>
          <p:cNvPr id="3" name="Content Placeholder 2">
            <a:extLst>
              <a:ext uri="{FF2B5EF4-FFF2-40B4-BE49-F238E27FC236}">
                <a16:creationId xmlns:a16="http://schemas.microsoft.com/office/drawing/2014/main" id="{4790AB2D-A42B-4021-AA21-55F4BA746413}"/>
              </a:ext>
            </a:extLst>
          </p:cNvPr>
          <p:cNvSpPr>
            <a:spLocks noGrp="1"/>
          </p:cNvSpPr>
          <p:nvPr>
            <p:ph idx="1"/>
          </p:nvPr>
        </p:nvSpPr>
        <p:spPr>
          <a:xfrm>
            <a:off x="838200" y="942536"/>
            <a:ext cx="10515600" cy="5234427"/>
          </a:xfrm>
        </p:spPr>
        <p:txBody>
          <a:bodyPr/>
          <a:lstStyle/>
          <a:p>
            <a:pPr marL="0" indent="0">
              <a:buNone/>
            </a:pPr>
            <a:r>
              <a:rPr lang="en-US" dirty="0"/>
              <a:t>Security is a crucial architectural challenge.</a:t>
            </a:r>
          </a:p>
          <a:p>
            <a:pPr marL="0" indent="0">
              <a:buNone/>
            </a:pPr>
            <a:endParaRPr lang="en-US" dirty="0"/>
          </a:p>
          <a:p>
            <a:pPr marL="0" indent="0">
              <a:buNone/>
            </a:pPr>
            <a:r>
              <a:rPr lang="en-US" b="1" dirty="0"/>
              <a:t>Challenges</a:t>
            </a:r>
          </a:p>
          <a:p>
            <a:r>
              <a:rPr lang="en-US" dirty="0"/>
              <a:t>Protecting data in transit and at rest.</a:t>
            </a:r>
          </a:p>
          <a:p>
            <a:r>
              <a:rPr lang="en-US" dirty="0"/>
              <a:t>Designing </a:t>
            </a:r>
            <a:r>
              <a:rPr lang="en-US" b="1" dirty="0"/>
              <a:t>multi-tenant isolation</a:t>
            </a:r>
            <a:r>
              <a:rPr lang="en-US" dirty="0"/>
              <a:t> to avoid attacks.</a:t>
            </a:r>
          </a:p>
          <a:p>
            <a:r>
              <a:rPr lang="en-US" dirty="0"/>
              <a:t>Key management and </a:t>
            </a:r>
            <a:r>
              <a:rPr lang="en-US" b="1" dirty="0"/>
              <a:t>access control policies</a:t>
            </a:r>
            <a:r>
              <a:rPr lang="en-US" dirty="0"/>
              <a:t> in distributed storage.</a:t>
            </a:r>
          </a:p>
          <a:p>
            <a:r>
              <a:rPr lang="en-US" dirty="0"/>
              <a:t>Preventing data leakage, unauthorized access, and hypervisor attacks.</a:t>
            </a:r>
          </a:p>
          <a:p>
            <a:endParaRPr lang="en-US" dirty="0"/>
          </a:p>
        </p:txBody>
      </p:sp>
    </p:spTree>
    <p:extLst>
      <p:ext uri="{BB962C8B-B14F-4D97-AF65-F5344CB8AC3E}">
        <p14:creationId xmlns:p14="http://schemas.microsoft.com/office/powerpoint/2010/main" val="28058580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533F2-A213-40B5-B07E-70E9F9F64E59}"/>
              </a:ext>
            </a:extLst>
          </p:cNvPr>
          <p:cNvSpPr>
            <a:spLocks noGrp="1"/>
          </p:cNvSpPr>
          <p:nvPr>
            <p:ph type="title"/>
          </p:nvPr>
        </p:nvSpPr>
        <p:spPr>
          <a:xfrm>
            <a:off x="838200" y="365125"/>
            <a:ext cx="10515600" cy="732155"/>
          </a:xfrm>
        </p:spPr>
        <p:txBody>
          <a:bodyPr>
            <a:normAutofit fontScale="90000"/>
          </a:bodyPr>
          <a:lstStyle/>
          <a:p>
            <a:br>
              <a:rPr lang="en-US" b="1" dirty="0"/>
            </a:br>
            <a:r>
              <a:rPr lang="en-US" b="1" dirty="0"/>
              <a:t>Energy Efficiency and Cost Optimization</a:t>
            </a:r>
            <a:br>
              <a:rPr lang="en-US" b="1" dirty="0"/>
            </a:br>
            <a:endParaRPr lang="en-US" dirty="0"/>
          </a:p>
        </p:txBody>
      </p:sp>
      <p:sp>
        <p:nvSpPr>
          <p:cNvPr id="3" name="Content Placeholder 2">
            <a:extLst>
              <a:ext uri="{FF2B5EF4-FFF2-40B4-BE49-F238E27FC236}">
                <a16:creationId xmlns:a16="http://schemas.microsoft.com/office/drawing/2014/main" id="{1B169618-9BC2-40ED-B5DF-F488A6C1637C}"/>
              </a:ext>
            </a:extLst>
          </p:cNvPr>
          <p:cNvSpPr>
            <a:spLocks noGrp="1"/>
          </p:cNvSpPr>
          <p:nvPr>
            <p:ph idx="1"/>
          </p:nvPr>
        </p:nvSpPr>
        <p:spPr>
          <a:xfrm>
            <a:off x="838200" y="1378634"/>
            <a:ext cx="10515600" cy="4798329"/>
          </a:xfrm>
        </p:spPr>
        <p:txBody>
          <a:bodyPr/>
          <a:lstStyle/>
          <a:p>
            <a:pPr marL="0" indent="0">
              <a:buNone/>
            </a:pPr>
            <a:r>
              <a:rPr lang="en-US" dirty="0"/>
              <a:t>Cloud data centers consume large amounts of energy.</a:t>
            </a:r>
          </a:p>
          <a:p>
            <a:pPr marL="0" indent="0">
              <a:buNone/>
            </a:pPr>
            <a:r>
              <a:rPr lang="en-US" b="1" dirty="0"/>
              <a:t>Challenges</a:t>
            </a:r>
          </a:p>
          <a:p>
            <a:r>
              <a:rPr lang="en-US" dirty="0"/>
              <a:t>Managing cooling, power distribution, and energy-efficient servers.</a:t>
            </a:r>
          </a:p>
          <a:p>
            <a:r>
              <a:rPr lang="en-US" dirty="0"/>
              <a:t>Designing algorithms for </a:t>
            </a:r>
            <a:r>
              <a:rPr lang="en-US" b="1" dirty="0"/>
              <a:t>energy-aware scheduling</a:t>
            </a:r>
            <a:r>
              <a:rPr lang="en-US" dirty="0"/>
              <a:t>.</a:t>
            </a:r>
          </a:p>
          <a:p>
            <a:r>
              <a:rPr lang="en-US" dirty="0"/>
              <a:t>Reducing cost while maintaining performance.</a:t>
            </a:r>
          </a:p>
          <a:p>
            <a:endParaRPr lang="en-US" dirty="0"/>
          </a:p>
        </p:txBody>
      </p:sp>
    </p:spTree>
    <p:extLst>
      <p:ext uri="{BB962C8B-B14F-4D97-AF65-F5344CB8AC3E}">
        <p14:creationId xmlns:p14="http://schemas.microsoft.com/office/powerpoint/2010/main" val="10315009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B621A-15D3-4F47-BE19-682A463F5B85}"/>
              </a:ext>
            </a:extLst>
          </p:cNvPr>
          <p:cNvSpPr>
            <a:spLocks noGrp="1"/>
          </p:cNvSpPr>
          <p:nvPr>
            <p:ph type="title"/>
          </p:nvPr>
        </p:nvSpPr>
        <p:spPr/>
        <p:txBody>
          <a:bodyPr/>
          <a:lstStyle/>
          <a:p>
            <a:r>
              <a:rPr lang="en-US" b="1" dirty="0"/>
              <a:t>Performance Optimization</a:t>
            </a:r>
            <a:br>
              <a:rPr lang="en-US" b="1" dirty="0"/>
            </a:br>
            <a:endParaRPr lang="en-US" dirty="0"/>
          </a:p>
        </p:txBody>
      </p:sp>
      <p:sp>
        <p:nvSpPr>
          <p:cNvPr id="3" name="Content Placeholder 2">
            <a:extLst>
              <a:ext uri="{FF2B5EF4-FFF2-40B4-BE49-F238E27FC236}">
                <a16:creationId xmlns:a16="http://schemas.microsoft.com/office/drawing/2014/main" id="{776259ED-04DF-44E8-B395-04E758B388D3}"/>
              </a:ext>
            </a:extLst>
          </p:cNvPr>
          <p:cNvSpPr>
            <a:spLocks noGrp="1"/>
          </p:cNvSpPr>
          <p:nvPr>
            <p:ph idx="1"/>
          </p:nvPr>
        </p:nvSpPr>
        <p:spPr>
          <a:xfrm>
            <a:off x="838200" y="1266092"/>
            <a:ext cx="10515600" cy="4910871"/>
          </a:xfrm>
        </p:spPr>
        <p:txBody>
          <a:bodyPr/>
          <a:lstStyle/>
          <a:p>
            <a:pPr marL="0" indent="0">
              <a:buNone/>
            </a:pPr>
            <a:r>
              <a:rPr lang="en-US" dirty="0"/>
              <a:t>Ensuring high throughput and low latency.</a:t>
            </a:r>
          </a:p>
          <a:p>
            <a:pPr marL="0" indent="0">
              <a:buNone/>
            </a:pPr>
            <a:endParaRPr lang="en-US" dirty="0"/>
          </a:p>
          <a:p>
            <a:r>
              <a:rPr lang="en-US" b="1" dirty="0"/>
              <a:t>Challenges</a:t>
            </a:r>
          </a:p>
          <a:p>
            <a:r>
              <a:rPr lang="en-US" dirty="0"/>
              <a:t>Avoiding performance interference between tenants.</a:t>
            </a:r>
          </a:p>
          <a:p>
            <a:r>
              <a:rPr lang="en-US" dirty="0"/>
              <a:t>Reducing I/O bottlenecks in distributed storage.</a:t>
            </a:r>
          </a:p>
          <a:p>
            <a:r>
              <a:rPr lang="en-US" dirty="0"/>
              <a:t>Balancing compute and storage placement to minimize data movement.</a:t>
            </a:r>
          </a:p>
          <a:p>
            <a:endParaRPr lang="en-US" dirty="0"/>
          </a:p>
        </p:txBody>
      </p:sp>
    </p:spTree>
    <p:extLst>
      <p:ext uri="{BB962C8B-B14F-4D97-AF65-F5344CB8AC3E}">
        <p14:creationId xmlns:p14="http://schemas.microsoft.com/office/powerpoint/2010/main" val="20862774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DE1F8-0B5D-4C1D-AF90-4734B9BAD81F}"/>
              </a:ext>
            </a:extLst>
          </p:cNvPr>
          <p:cNvSpPr>
            <a:spLocks noGrp="1"/>
          </p:cNvSpPr>
          <p:nvPr>
            <p:ph type="title"/>
          </p:nvPr>
        </p:nvSpPr>
        <p:spPr>
          <a:xfrm>
            <a:off x="838200" y="365125"/>
            <a:ext cx="10515600" cy="746223"/>
          </a:xfrm>
        </p:spPr>
        <p:txBody>
          <a:bodyPr>
            <a:normAutofit fontScale="90000"/>
          </a:bodyPr>
          <a:lstStyle/>
          <a:p>
            <a:br>
              <a:rPr lang="en-US" b="1" dirty="0"/>
            </a:br>
            <a:r>
              <a:rPr lang="en-US" b="1" dirty="0"/>
              <a:t>Interoperability and Vendor Lock-in</a:t>
            </a:r>
            <a:br>
              <a:rPr lang="en-US" b="1" dirty="0"/>
            </a:br>
            <a:endParaRPr lang="en-US" dirty="0"/>
          </a:p>
        </p:txBody>
      </p:sp>
      <p:sp>
        <p:nvSpPr>
          <p:cNvPr id="3" name="Content Placeholder 2">
            <a:extLst>
              <a:ext uri="{FF2B5EF4-FFF2-40B4-BE49-F238E27FC236}">
                <a16:creationId xmlns:a16="http://schemas.microsoft.com/office/drawing/2014/main" id="{41CB08A8-D3C2-4AD4-9509-6C674118E6FD}"/>
              </a:ext>
            </a:extLst>
          </p:cNvPr>
          <p:cNvSpPr>
            <a:spLocks noGrp="1"/>
          </p:cNvSpPr>
          <p:nvPr>
            <p:ph idx="1"/>
          </p:nvPr>
        </p:nvSpPr>
        <p:spPr/>
        <p:txBody>
          <a:bodyPr/>
          <a:lstStyle/>
          <a:p>
            <a:r>
              <a:rPr lang="en-US" dirty="0"/>
              <a:t>Clouds use proprietary technologies.</a:t>
            </a:r>
          </a:p>
          <a:p>
            <a:r>
              <a:rPr lang="en-US" b="1" dirty="0"/>
              <a:t>Challenges</a:t>
            </a:r>
          </a:p>
          <a:p>
            <a:r>
              <a:rPr lang="en-US" dirty="0"/>
              <a:t>Ensuring compatibility between:</a:t>
            </a:r>
          </a:p>
          <a:p>
            <a:pPr lvl="1"/>
            <a:r>
              <a:rPr lang="en-US" dirty="0"/>
              <a:t>Private cloud ↔ Public cloud</a:t>
            </a:r>
          </a:p>
          <a:p>
            <a:pPr lvl="1"/>
            <a:r>
              <a:rPr lang="en-US" dirty="0"/>
              <a:t>Different cloud vendors</a:t>
            </a:r>
          </a:p>
          <a:p>
            <a:r>
              <a:rPr lang="en-US" dirty="0"/>
              <a:t>Designing portable APIs, container standards (Docker, Kubernetes), and open interfaces.</a:t>
            </a:r>
          </a:p>
          <a:p>
            <a:endParaRPr lang="en-US" dirty="0"/>
          </a:p>
        </p:txBody>
      </p:sp>
    </p:spTree>
    <p:extLst>
      <p:ext uri="{BB962C8B-B14F-4D97-AF65-F5344CB8AC3E}">
        <p14:creationId xmlns:p14="http://schemas.microsoft.com/office/powerpoint/2010/main" val="33343880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A73B8-38E7-4A3C-9254-B31E565D3EBA}"/>
              </a:ext>
            </a:extLst>
          </p:cNvPr>
          <p:cNvSpPr>
            <a:spLocks noGrp="1"/>
          </p:cNvSpPr>
          <p:nvPr>
            <p:ph type="title"/>
          </p:nvPr>
        </p:nvSpPr>
        <p:spPr/>
        <p:txBody>
          <a:bodyPr/>
          <a:lstStyle/>
          <a:p>
            <a:r>
              <a:rPr lang="en-US" dirty="0"/>
              <a:t>Monitoring, Management &amp; Automation</a:t>
            </a:r>
            <a:br>
              <a:rPr lang="en-US" dirty="0"/>
            </a:br>
            <a:endParaRPr lang="en-US" dirty="0"/>
          </a:p>
        </p:txBody>
      </p:sp>
      <p:sp>
        <p:nvSpPr>
          <p:cNvPr id="3" name="Content Placeholder 2">
            <a:extLst>
              <a:ext uri="{FF2B5EF4-FFF2-40B4-BE49-F238E27FC236}">
                <a16:creationId xmlns:a16="http://schemas.microsoft.com/office/drawing/2014/main" id="{42CE0861-7FEC-47A7-AE9C-827588C699E6}"/>
              </a:ext>
            </a:extLst>
          </p:cNvPr>
          <p:cNvSpPr>
            <a:spLocks noGrp="1"/>
          </p:cNvSpPr>
          <p:nvPr>
            <p:ph idx="1"/>
          </p:nvPr>
        </p:nvSpPr>
        <p:spPr/>
        <p:txBody>
          <a:bodyPr/>
          <a:lstStyle/>
          <a:p>
            <a:pPr marL="0" indent="0">
              <a:buNone/>
            </a:pPr>
            <a:r>
              <a:rPr lang="en-US" dirty="0"/>
              <a:t>Clouds require continuous monitoring and orchestration.</a:t>
            </a:r>
          </a:p>
          <a:p>
            <a:r>
              <a:rPr lang="en-US" b="1" dirty="0"/>
              <a:t>Challenges</a:t>
            </a:r>
          </a:p>
          <a:p>
            <a:r>
              <a:rPr lang="en-US" dirty="0"/>
              <a:t>Handling massive volumes of logs and metrics.</a:t>
            </a:r>
          </a:p>
          <a:p>
            <a:r>
              <a:rPr lang="en-US" dirty="0"/>
              <a:t>Automating fault detection and self-healing.</a:t>
            </a:r>
          </a:p>
          <a:p>
            <a:r>
              <a:rPr lang="en-US" dirty="0"/>
              <a:t>Implementing policy-driven resource orchestration.</a:t>
            </a:r>
          </a:p>
          <a:p>
            <a:endParaRPr lang="en-US" dirty="0"/>
          </a:p>
        </p:txBody>
      </p:sp>
    </p:spTree>
    <p:extLst>
      <p:ext uri="{BB962C8B-B14F-4D97-AF65-F5344CB8AC3E}">
        <p14:creationId xmlns:p14="http://schemas.microsoft.com/office/powerpoint/2010/main" val="77887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C2CF0-97F5-497A-98A0-2DB867B228EC}"/>
              </a:ext>
            </a:extLst>
          </p:cNvPr>
          <p:cNvSpPr>
            <a:spLocks noGrp="1"/>
          </p:cNvSpPr>
          <p:nvPr>
            <p:ph type="title"/>
          </p:nvPr>
        </p:nvSpPr>
        <p:spPr/>
        <p:txBody>
          <a:bodyPr/>
          <a:lstStyle/>
          <a:p>
            <a:r>
              <a:rPr lang="en-US" dirty="0"/>
              <a:t>Geographic Distribution</a:t>
            </a:r>
            <a:br>
              <a:rPr lang="en-US" dirty="0"/>
            </a:br>
            <a:endParaRPr lang="en-US" dirty="0"/>
          </a:p>
        </p:txBody>
      </p:sp>
      <p:sp>
        <p:nvSpPr>
          <p:cNvPr id="3" name="Content Placeholder 2">
            <a:extLst>
              <a:ext uri="{FF2B5EF4-FFF2-40B4-BE49-F238E27FC236}">
                <a16:creationId xmlns:a16="http://schemas.microsoft.com/office/drawing/2014/main" id="{1CC3D6FC-5805-4B7F-ABA2-11BF734D9588}"/>
              </a:ext>
            </a:extLst>
          </p:cNvPr>
          <p:cNvSpPr>
            <a:spLocks noGrp="1"/>
          </p:cNvSpPr>
          <p:nvPr>
            <p:ph idx="1"/>
          </p:nvPr>
        </p:nvSpPr>
        <p:spPr>
          <a:xfrm>
            <a:off x="838200" y="1223889"/>
            <a:ext cx="10515600" cy="4953074"/>
          </a:xfrm>
        </p:spPr>
        <p:txBody>
          <a:bodyPr/>
          <a:lstStyle/>
          <a:p>
            <a:pPr marL="0" indent="0">
              <a:buNone/>
            </a:pPr>
            <a:endParaRPr lang="en-US" dirty="0"/>
          </a:p>
          <a:p>
            <a:pPr marL="0" indent="0">
              <a:buNone/>
            </a:pPr>
            <a:endParaRPr lang="en-US" dirty="0"/>
          </a:p>
          <a:p>
            <a:pPr marL="0" indent="0">
              <a:buNone/>
            </a:pPr>
            <a:r>
              <a:rPr lang="en-US" dirty="0"/>
              <a:t>Storage clouds often span multiple regions.</a:t>
            </a:r>
          </a:p>
          <a:p>
            <a:r>
              <a:rPr lang="en-US" b="1" dirty="0"/>
              <a:t>Challenges</a:t>
            </a:r>
          </a:p>
          <a:p>
            <a:r>
              <a:rPr lang="en-US" dirty="0"/>
              <a:t>Data locality vs. latency.</a:t>
            </a:r>
          </a:p>
          <a:p>
            <a:r>
              <a:rPr lang="en-US" dirty="0"/>
              <a:t>Multi-region replication and failover design.</a:t>
            </a:r>
          </a:p>
          <a:p>
            <a:r>
              <a:rPr lang="en-US" dirty="0"/>
              <a:t>Meeting legal requirements (data residency, compliance).</a:t>
            </a:r>
          </a:p>
          <a:p>
            <a:endParaRPr lang="en-US" dirty="0"/>
          </a:p>
        </p:txBody>
      </p:sp>
    </p:spTree>
    <p:extLst>
      <p:ext uri="{BB962C8B-B14F-4D97-AF65-F5344CB8AC3E}">
        <p14:creationId xmlns:p14="http://schemas.microsoft.com/office/powerpoint/2010/main" val="5412233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2527</TotalTime>
  <Words>4849</Words>
  <Application>Microsoft Office PowerPoint</Application>
  <PresentationFormat>Widescreen</PresentationFormat>
  <Paragraphs>473</Paragraphs>
  <Slides>74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74</vt:i4>
      </vt:variant>
    </vt:vector>
  </HeadingPairs>
  <TitlesOfParts>
    <vt:vector size="81" baseType="lpstr">
      <vt:lpstr>Arial</vt:lpstr>
      <vt:lpstr>Calibri</vt:lpstr>
      <vt:lpstr>Calibri Light</vt:lpstr>
      <vt:lpstr>Symbol</vt:lpstr>
      <vt:lpstr>Tahoma</vt:lpstr>
      <vt:lpstr>Times New Roman</vt:lpstr>
      <vt:lpstr>Office Theme</vt:lpstr>
      <vt:lpstr>UNIT 1</vt:lpstr>
      <vt:lpstr>PowerPoint Presentation</vt:lpstr>
      <vt:lpstr>System Models for Distributed and Cloud Computing </vt:lpstr>
      <vt:lpstr>System Model Classification </vt:lpstr>
      <vt:lpstr>Parallel Computing Model </vt:lpstr>
      <vt:lpstr>Distributed Computing Model </vt:lpstr>
      <vt:lpstr>  Cluster Computing Model </vt:lpstr>
      <vt:lpstr>  Grid Computing Model </vt:lpstr>
      <vt:lpstr>  Architectural (Physical) Models Defines the physical organization of hardware and servers. </vt:lpstr>
      <vt:lpstr> Client–Server Architecture model </vt:lpstr>
      <vt:lpstr>Multi-tier Architecture </vt:lpstr>
      <vt:lpstr>  Communication Models-Defines how distributed nodes communicate.  </vt:lpstr>
      <vt:lpstr>INTERNET CLOUDS</vt:lpstr>
      <vt:lpstr>CLOUD SERVICE MODELS</vt:lpstr>
      <vt:lpstr>Cloud Service Models</vt:lpstr>
      <vt:lpstr>   NIST Cloud Computing Architecture  There are five major actors in NIST cloud computing reference architecture, These actors are listed below </vt:lpstr>
      <vt:lpstr>NIST CLOUD COMPUTING REFERENCE ARCHITECTURE</vt:lpstr>
      <vt:lpstr>PowerPoint Presentation</vt:lpstr>
      <vt:lpstr>Cloud consumer</vt:lpstr>
      <vt:lpstr>Service Level Agreements</vt:lpstr>
      <vt:lpstr>Cloud consumer</vt:lpstr>
      <vt:lpstr>Cloud Provider </vt:lpstr>
      <vt:lpstr>3. Cloud Auditor </vt:lpstr>
      <vt:lpstr>4. Cloud Broker </vt:lpstr>
      <vt:lpstr>PowerPoint Presentation</vt:lpstr>
      <vt:lpstr>PowerPoint Presentation</vt:lpstr>
      <vt:lpstr> Service Aggregation Service Arbitration (or Arbitrage)  </vt:lpstr>
      <vt:lpstr>Key Differences </vt:lpstr>
      <vt:lpstr>5. Cloud Carrier </vt:lpstr>
      <vt:lpstr>Cloud service management</vt:lpstr>
      <vt:lpstr> Key Aspects of Cloud Service Management: </vt:lpstr>
      <vt:lpstr>Cloud Deployment Model:- </vt:lpstr>
      <vt:lpstr>Public Cloud  </vt:lpstr>
      <vt:lpstr>Public cloud</vt:lpstr>
      <vt:lpstr>Advantages of the Public Cloud Model </vt:lpstr>
      <vt:lpstr>Disadvantages of the Public Cloud Model</vt:lpstr>
      <vt:lpstr>Private Cloud  </vt:lpstr>
      <vt:lpstr>PowerPoint Presentation</vt:lpstr>
      <vt:lpstr>Advantages and disadvantages</vt:lpstr>
      <vt:lpstr>PowerPoint Presentation</vt:lpstr>
      <vt:lpstr>Hybrid Cloud </vt:lpstr>
      <vt:lpstr>Hybrid cloud</vt:lpstr>
      <vt:lpstr>Advantages and disadvantages</vt:lpstr>
      <vt:lpstr>Community Cloud </vt:lpstr>
      <vt:lpstr>Examples of  community cloud</vt:lpstr>
      <vt:lpstr>Community cloud</vt:lpstr>
      <vt:lpstr>PowerPoint Presentation</vt:lpstr>
      <vt:lpstr>MULTI CLOUD </vt:lpstr>
      <vt:lpstr>PowerPoint Presentation</vt:lpstr>
      <vt:lpstr>ARCHITECTURAL DESIGN OF COMPUTE AND STORAGE</vt:lpstr>
      <vt:lpstr>PowerPoint Presentation</vt:lpstr>
      <vt:lpstr>Cloud computing architecture</vt:lpstr>
      <vt:lpstr>Frontend:</vt:lpstr>
      <vt:lpstr>PowerPoint Presentation</vt:lpstr>
      <vt:lpstr> Compute Cloud Architecture </vt:lpstr>
      <vt:lpstr>Elastic Resource Provisioning </vt:lpstr>
      <vt:lpstr>Compute Clusters and Data Center Organization</vt:lpstr>
      <vt:lpstr>The datacenter architecture integrates</vt:lpstr>
      <vt:lpstr>Storage Cloud Architecture Storage</vt:lpstr>
      <vt:lpstr> Distributed File Systems </vt:lpstr>
      <vt:lpstr> Object-Based Storage </vt:lpstr>
      <vt:lpstr> Storage Virtualization </vt:lpstr>
      <vt:lpstr> Integrated Compute–Storage Architecture </vt:lpstr>
      <vt:lpstr>Design challenges </vt:lpstr>
      <vt:lpstr> DESIGN CHALLENGES </vt:lpstr>
      <vt:lpstr>Design challenges</vt:lpstr>
      <vt:lpstr> Data Consistency and Data Management </vt:lpstr>
      <vt:lpstr> Network Challenges </vt:lpstr>
      <vt:lpstr>Security and Privacy </vt:lpstr>
      <vt:lpstr> Energy Efficiency and Cost Optimization </vt:lpstr>
      <vt:lpstr>Performance Optimization </vt:lpstr>
      <vt:lpstr> Interoperability and Vendor Lock-in </vt:lpstr>
      <vt:lpstr>Monitoring, Management &amp; Automation </vt:lpstr>
      <vt:lpstr>Geographic Distribution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aarumugamjee@gmail.com</dc:creator>
  <cp:lastModifiedBy>Admin</cp:lastModifiedBy>
  <cp:revision>38</cp:revision>
  <dcterms:created xsi:type="dcterms:W3CDTF">2025-02-20T01:20:10Z</dcterms:created>
  <dcterms:modified xsi:type="dcterms:W3CDTF">2026-01-24T06:00:56Z</dcterms:modified>
</cp:coreProperties>
</file>